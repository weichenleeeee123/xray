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9392a7f3fe41ed" /><Relationship Type="http://schemas.openxmlformats.org/officeDocument/2006/relationships/extended-properties" Target="/docProps/app.xml" Id="Raa81a665d5df4a12" /><Relationship Type="http://schemas.openxmlformats.org/officeDocument/2006/relationships/officeDocument" Target="/ppt/presentation.xml" Id="R2f296fa62dfe41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5e9e168b5349c1"/>
  </p:sldMasterIdLst>
  <p:notesMasterIdLst>
    <p:notesMasterId xmlns:r="http://schemas.openxmlformats.org/officeDocument/2006/relationships" r:id="R09ac2e0cb79e402f"/>
  </p:notesMasterIdLst>
  <p:sldIdLst>
    <p:sldId xmlns:r="http://schemas.openxmlformats.org/officeDocument/2006/relationships" id="256" r:id="R8352d635802f4372"/>
    <p:sldId xmlns:r="http://schemas.openxmlformats.org/officeDocument/2006/relationships" id="257" r:id="R418d6062e84e4d53"/>
    <p:sldId xmlns:r="http://schemas.openxmlformats.org/officeDocument/2006/relationships" id="258" r:id="R0c512099455642a0"/>
    <p:sldId xmlns:r="http://schemas.openxmlformats.org/officeDocument/2006/relationships" id="259" r:id="R3230891f3027475e"/>
    <p:sldId xmlns:r="http://schemas.openxmlformats.org/officeDocument/2006/relationships" id="260" r:id="R2f2136f7e3ec4ab7"/>
    <p:sldId xmlns:r="http://schemas.openxmlformats.org/officeDocument/2006/relationships" id="261" r:id="R2338bba2393a42d9"/>
    <p:sldId xmlns:r="http://schemas.openxmlformats.org/officeDocument/2006/relationships" id="262" r:id="Rad212d81f1f44b2d"/>
    <p:sldId xmlns:r="http://schemas.openxmlformats.org/officeDocument/2006/relationships" id="263" r:id="R7022756b3c704ccb"/>
    <p:sldId xmlns:r="http://schemas.openxmlformats.org/officeDocument/2006/relationships" id="264" r:id="Rb1f89442c9654214"/>
    <p:sldId xmlns:r="http://schemas.openxmlformats.org/officeDocument/2006/relationships" id="265" r:id="R1aa044958871496b"/>
    <p:sldId xmlns:r="http://schemas.openxmlformats.org/officeDocument/2006/relationships" id="266" r:id="Rdd6b505c94d142b1"/>
    <p:sldId xmlns:r="http://schemas.openxmlformats.org/officeDocument/2006/relationships" id="267" r:id="R7804f6158cd447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94f3b0ec224c34" /><Relationship Type="http://schemas.openxmlformats.org/officeDocument/2006/relationships/slideMaster" Target="/ppt/slideMasters/slideMaster1.xml" Id="R165e9e168b5349c1" /><Relationship Type="http://schemas.openxmlformats.org/officeDocument/2006/relationships/notesMaster" Target="/ppt/notesMasters/notesMaster1.xml" Id="R09ac2e0cb79e402f" /><Relationship Type="http://schemas.openxmlformats.org/officeDocument/2006/relationships/presProps" Target="/ppt/presProps.xml" Id="R6f157eef13e04547" /><Relationship Type="http://schemas.openxmlformats.org/officeDocument/2006/relationships/tableStyles" Target="/ppt/tableStyles.xml" Id="R451d3763d88441b6" /><Relationship Type="http://schemas.openxmlformats.org/officeDocument/2006/relationships/slide" Target="/ppt/slides/slide1.xml" Id="R8352d635802f4372" /><Relationship Type="http://schemas.openxmlformats.org/officeDocument/2006/relationships/slide" Target="/ppt/slides/slide2.xml" Id="R418d6062e84e4d53" /><Relationship Type="http://schemas.openxmlformats.org/officeDocument/2006/relationships/slide" Target="/ppt/slides/slide3.xml" Id="R0c512099455642a0" /><Relationship Type="http://schemas.openxmlformats.org/officeDocument/2006/relationships/slide" Target="/ppt/slides/slide4.xml" Id="R3230891f3027475e" /><Relationship Type="http://schemas.openxmlformats.org/officeDocument/2006/relationships/slide" Target="/ppt/slides/slide5.xml" Id="R2f2136f7e3ec4ab7" /><Relationship Type="http://schemas.openxmlformats.org/officeDocument/2006/relationships/slide" Target="/ppt/slides/slide6.xml" Id="R2338bba2393a42d9" /><Relationship Type="http://schemas.openxmlformats.org/officeDocument/2006/relationships/slide" Target="/ppt/slides/slide7.xml" Id="Rad212d81f1f44b2d" /><Relationship Type="http://schemas.openxmlformats.org/officeDocument/2006/relationships/slide" Target="/ppt/slides/slide8.xml" Id="R7022756b3c704ccb" /><Relationship Type="http://schemas.openxmlformats.org/officeDocument/2006/relationships/slide" Target="/ppt/slides/slide9.xml" Id="Rb1f89442c9654214" /><Relationship Type="http://schemas.openxmlformats.org/officeDocument/2006/relationships/slide" Target="/ppt/slides/slide10.xml" Id="R1aa044958871496b" /><Relationship Type="http://schemas.openxmlformats.org/officeDocument/2006/relationships/slide" Target="/ppt/slides/slide11.xml" Id="Rdd6b505c94d142b1" /><Relationship Type="http://schemas.openxmlformats.org/officeDocument/2006/relationships/slide" Target="/ppt/slides/slide12.xml" Id="R7804f6158cd447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20b317e85946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企er 黄铜蓝柜">
      <a:dk1>
        <a:srgbClr val="29333A"/>
      </a:dk1>
      <a:lt1>
        <a:srgbClr val="F7F0E0"/>
      </a:lt1>
      <a:dk2>
        <a:srgbClr val="222E39"/>
      </a:dk2>
      <a:lt2>
        <a:srgbClr val="EDE2CD"/>
      </a:lt2>
      <a:accent1>
        <a:srgbClr val="B88B4C"/>
      </a:accent1>
      <a:accent2>
        <a:srgbClr val="E2BC78"/>
      </a:accent2>
      <a:accent3>
        <a:srgbClr val="527A80"/>
      </a:accent3>
      <a:accent4>
        <a:srgbClr val="A44738"/>
      </a:accent4>
      <a:accent5>
        <a:srgbClr val="506348"/>
      </a:accent5>
      <a:accent6>
        <a:srgbClr val="795037"/>
      </a:accent6>
      <a:hlink>
        <a:srgbClr val="527A80"/>
      </a:hlink>
      <a:folHlink>
        <a:srgbClr val="79503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企er 黄铜蓝柜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a9eb2bb5584b74" /><Relationship Type="http://schemas.openxmlformats.org/officeDocument/2006/relationships/notesMaster" Target="/ppt/notesMasters/notesMaster1.xml" Id="R5cd88cdc4d6648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409928e89243fc" /><Relationship Type="http://schemas.openxmlformats.org/officeDocument/2006/relationships/notesMaster" Target="/ppt/notesMasters/notesMaster1.xml" Id="R91e84bf324704e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6cad07bb5b4b67" /><Relationship Type="http://schemas.openxmlformats.org/officeDocument/2006/relationships/notesMaster" Target="/ppt/notesMasters/notesMaster1.xml" Id="R34689a98091645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c08542f9a54962" /><Relationship Type="http://schemas.openxmlformats.org/officeDocument/2006/relationships/notesMaster" Target="/ppt/notesMasters/notesMaster1.xml" Id="Rb8513e7c079342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36cdd3b9d14f0a" /><Relationship Type="http://schemas.openxmlformats.org/officeDocument/2006/relationships/notesMaster" Target="/ppt/notesMasters/notesMaster1.xml" Id="R6c3a1c4844ae40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3ffcd9505442bf" /><Relationship Type="http://schemas.openxmlformats.org/officeDocument/2006/relationships/notesMaster" Target="/ppt/notesMasters/notesMaster1.xml" Id="R57a81a23735c41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246341c42949a8" /><Relationship Type="http://schemas.openxmlformats.org/officeDocument/2006/relationships/notesMaster" Target="/ppt/notesMasters/notesMaster1.xml" Id="R57aea8c6277c44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3fa87ae38c44f3" /><Relationship Type="http://schemas.openxmlformats.org/officeDocument/2006/relationships/notesMaster" Target="/ppt/notesMasters/notesMaster1.xml" Id="R8cb7167efa204a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a7583952c34d2f" /><Relationship Type="http://schemas.openxmlformats.org/officeDocument/2006/relationships/notesMaster" Target="/ppt/notesMasters/notesMaster1.xml" Id="Rd5f71a346a4648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2bb76a73994b28" /><Relationship Type="http://schemas.openxmlformats.org/officeDocument/2006/relationships/notesMaster" Target="/ppt/notesMasters/notesMaster1.xml" Id="R26ee783e02f94a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c4bc3d43e844cb" /><Relationship Type="http://schemas.openxmlformats.org/officeDocument/2006/relationships/notesMaster" Target="/ppt/notesMasters/notesMaster1.xml" Id="R1a4f3dab9d4e4f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bd76a2d5a44c37" /><Relationship Type="http://schemas.openxmlformats.org/officeDocument/2006/relationships/notesMaster" Target="/ppt/notesMasters/notesMaster1.xml" Id="R61525cc0aeff43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15 秒】</a:t>
            </a:r>
          </a:p>
          <a:p xmlns:a="http://schemas.openxmlformats.org/drawingml/2006/main">
            <a:r>
              <a:t>大家好，我们做的是企 er，一个有出处的企业研究助手。把钱或信任交给一家公司之前，用户最需要的，是弄清这次决定有哪些依据，还有什么没确认。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开场停留，读完产品名再进入判断问题。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开头与底线；docs/2026-10-03-qier-color-palette.md。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30 秒】</a:t>
            </a:r>
          </a:p>
          <a:p xmlns:a="http://schemas.openxmlformats.org/drawingml/2006/main">
            <a:r>
              <a:t>一个人准备买理财、接受 offer，或者找一家公司合作，通常已经看过不少介绍。但宣传、登记、年报和新闻分散在不同地方。查到一个数字，未必知道是不是同一家主体、是不是同一个时间点，更不知道它对这次决定意味着什么。企 er 要解决的，就是从一堆资料到一个具体判断之间的这段距离。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让主问题停留两秒，再解释下面两类困难。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docs/2026-10-02-xray-hackathon-prd.md 第 0–3 节。场景为产品定位，未声称用户调研结果。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30 秒】</a:t>
            </a:r>
          </a:p>
          <a:p xmlns:a="http://schemas.openxmlformats.org/drawingml/2006/main">
            <a:r>
              <a:t>入口是公司名称，加一句这次要做什么，例如替家人了解理财，或核实刚收到的 offer。有宣传材料、合同，也可以一起提交。企 er 把查源、核验、出处和版本更新接成固定流程：查过什么、判断依据是什么、补材料后哪里变了，都留在同一个案卷里，按这次需求组织。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指向公司输入与研究需求，预留约四秒。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快速开始；research-room/app；backend/app/models.py。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报告先回答这次最关心的问题。理财时先看收款主体和相关资格，求职时关注签约主体、劳动记录和是否要求先交钱。用户先读摘要，看到需要核实、查到记录、仍待确认和下一步，再看财务、信用、风险、口碑四个信号。要核对时，继续进入问询复核和详细信息。这样既能先看懂重点，也能深入找到每条判断的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依次指向四层阅读路径，预留约五秒。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web/report-workspace.js 与 report-workspace.css 当前阅读摘要；backend/app/scenarios；backend/app/analysis/report.py。截图为主代理于 2026-10-03 提供的 report-brief-v2.jpg，模型 off，虚构案例第 2 版。需求影响核验范围、排序和措辞，不声称覆盖所有资料。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这里用一段虚构材料说明产品怎么工作。系统保留对方的原话，把能核对的说法逐条列出，再展示相关记录和规则判断。用户可以看到哪里相符、哪里有差异，也能看到哪些说法还无法核验。对照时，要同时核对主体、日期和指标口径。比如宣传的门店与登记的分支机构，就需要把口径讲清楚。材料里写了什么，也不等于事实已经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只指原话、记录和无法核验的位置，预留约六秒，不讲公司历史。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backend/app/models.py Verdict；backend/app/analysis/verify.py。截图为主代理于 2026-10-03 提供的 report-claims-compact.jpg，模型 off、公司为虚构，选取一张材料核对图的完整区域。此页只证明对照功能，不提供对真实公司的判断。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一份可信的报告，还必须把空白讲明白。查到了，表示这个来源有记录。查了没有，表示在本次范围内没有匹配记录。没查，表示数据源没有覆盖，或者这次没有执行。查询失败，则表示请求没有成功。这四种情况不能混在一起。企 er 会保留来源和时间，让用户知道结论能说到哪里。尤其是未覆盖，不能被读成正常。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逐行指向四类状态，预留约四秒。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backend/app/models.py Coverage；backend/app/analysis/gaps.py；README.md 底线。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如果用户看不懂某一条，可以选中它，再问小企。助手基于当前案卷和所选版本解释，关键事实带出处，点击引用能回到依据。图中是基础答复打开的第一版出处，当前没有连接模型。在线模型的回答同样要经过引用和引文校验。规则负责判定，AI 帮人理解材料和结果。聊天出现新情况，也需要加入案卷后重新分析。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指向回答的出处入口与规则边界，预留约六秒。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backend/app/assistant.py；backend/tests/test_assistant_grounding_rewrite.py。截图为主代理于 2026-10-03 提供的 report-assistant-citations.jpg，模型 off、虚构案例，选取出处弹窗的前两条来源。校验是具体边界措施，不代表零幻觉保证。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实际判断很少一次结束。对方补了一份协议，用户收到新的回复，或者自己的需求变了，都可以继续补充。系统保留原来的版本，再生成新报告，并逐项说明哪里变了、为什么变，哪些保持不变。证据仍不足，也会继续写明。旧回答的引用会回到原来的版本，所以用户能复盘当时基于什么材料得出那条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在 v1、补充、v2 三处各停顿，预留约五秒。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backend/app/analysis/diff.py；backend/app/analysis/judgments.py；backend/app/models.py Version；docs/demo-runbook.md 旧版引用验收。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对个人，企 er 把查到的依据、还缺的资料和该问的问题放进一页报告，方便和家人一起讨论。对银行网点，现有的提示单可以作为沟通材料，帮助柜员把需要确认的事项讲具体。我们希望先验证这样一段沟通，能否帮助用户读懂来源、识别缺口，再决定补什么材料。它提供研究依据，最终决策仍由人作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强调网点用途是拟验证场景，预留约三秒。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backend/app/analysis/report.py onepager family/teller；docs/2026-10-02-xray-hackathon-prd.md 第 12 节。网点使用是拟验证方向，未声称客户采用或银行接入。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15 秒】</a:t>
            </a:r>
          </a:p>
          <a:p xmlns:a="http://schemas.openxmlformats.org/drawingml/2006/main">
            <a:r>
              <a:t>企 er 把一次查询接成一份可以追问、补充和回看的案卷。把钱或信任交出去前，先把依据看清楚。谢谢大家。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【动作与停留】</a:t>
            </a:r>
          </a:p>
          <a:p xmlns:a="http://schemas.openxmlformats.org/drawingml/2006/main">
            <a:r>
              <a:t>收尾停留，不继续播放附录。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产品主线。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【答辩备用，不计入主讲】</a:t>
            </a:r>
          </a:p>
          <a:p xmlns:a="http://schemas.openxmlformats.org/drawingml/2006/main">
            <a:r>
              <a:t>答辩备用页，不计入五分钟主讲。说明数据、规则和 AI 各自承担的工作。联网来源受接口配置、查询时间和覆盖范围限制。产品不打安全分，也不对企业作安全担保。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数据与底线；backend/app/models.py；backend/app/assistant.py。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【答辩备用，不计入主讲】</a:t>
            </a:r>
          </a:p>
          <a:p xmlns:a="http://schemas.openxmlformats.org/drawingml/2006/main">
            <a:r>
              <a:t>答辩备用页，不计入五分钟主讲。问到商业化时，先讲拟验证的网点沟通场景，不声称已有客户、收费、合作或效果数字。问到数据完整性时，区分未覆盖和未匹配，明确公开记录的能力边界。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README.md；docs/2026-10-02-xray-hackathon-prd.md 第 12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afaed501a42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c5439206c04e1a" /><Relationship Type="http://schemas.openxmlformats.org/officeDocument/2006/relationships/slideLayout" Target="/ppt/slideLayouts/slideLayout1.xml" Id="R1892a0795b4940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92a0795b4940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企er 黄铜蓝柜">
      <a:dk1>
        <a:srgbClr val="29333A"/>
      </a:dk1>
      <a:lt1>
        <a:srgbClr val="F7F0E0"/>
      </a:lt1>
      <a:dk2>
        <a:srgbClr val="222E39"/>
      </a:dk2>
      <a:lt2>
        <a:srgbClr val="EDE2CD"/>
      </a:lt2>
      <a:accent1>
        <a:srgbClr val="B88B4C"/>
      </a:accent1>
      <a:accent2>
        <a:srgbClr val="E2BC78"/>
      </a:accent2>
      <a:accent3>
        <a:srgbClr val="527A80"/>
      </a:accent3>
      <a:accent4>
        <a:srgbClr val="A44738"/>
      </a:accent4>
      <a:accent5>
        <a:srgbClr val="506348"/>
      </a:accent5>
      <a:accent6>
        <a:srgbClr val="795037"/>
      </a:accent6>
      <a:hlink>
        <a:srgbClr val="527A80"/>
      </a:hlink>
      <a:folHlink>
        <a:srgbClr val="79503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企er 黄铜蓝柜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e6793fefe448e" /><Relationship Type="http://schemas.openxmlformats.org/officeDocument/2006/relationships/image" Target="/ppt/media/image.png" Id="R86796e40502b4236" /><Relationship Type="http://schemas.openxmlformats.org/officeDocument/2006/relationships/notesSlide" Target="/ppt/notesSlides/notesSlide1.xml" Id="R50db695f56f446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c6b7bdabd425e" /><Relationship Type="http://schemas.openxmlformats.org/officeDocument/2006/relationships/notesSlide" Target="/ppt/notesSlides/notesSlide2.xml" Id="R195f4f39265a4e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91b6d07f14fef" /><Relationship Type="http://schemas.openxmlformats.org/officeDocument/2006/relationships/image" Target="/ppt/media/image.jpeg" Id="Rc473db9f19f540d5" /><Relationship Type="http://schemas.openxmlformats.org/officeDocument/2006/relationships/notesSlide" Target="/ppt/notesSlides/notesSlide3.xml" Id="Rb5a27b6a593b44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a09211d81417e" /><Relationship Type="http://schemas.openxmlformats.org/officeDocument/2006/relationships/image" Target="/ppt/media/image2.jpeg" Id="Rb7ebe6a4741845a4" /><Relationship Type="http://schemas.openxmlformats.org/officeDocument/2006/relationships/notesSlide" Target="/ppt/notesSlides/notesSlide4.xml" Id="Re3613904132347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4560cb82348d6" /><Relationship Type="http://schemas.openxmlformats.org/officeDocument/2006/relationships/image" Target="/ppt/media/image3.jpeg" Id="R0c3a7b6e4c4a4e37" /><Relationship Type="http://schemas.openxmlformats.org/officeDocument/2006/relationships/notesSlide" Target="/ppt/notesSlides/notesSlide5.xml" Id="R44c73687d75847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3853b71c34221" /><Relationship Type="http://schemas.openxmlformats.org/officeDocument/2006/relationships/notesSlide" Target="/ppt/notesSlides/notesSlide6.xml" Id="R11a7fbffd52643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618bc2dde488b" /><Relationship Type="http://schemas.openxmlformats.org/officeDocument/2006/relationships/image" Target="/ppt/media/image4.jpeg" Id="R7da5bb5515504598" /><Relationship Type="http://schemas.openxmlformats.org/officeDocument/2006/relationships/notesSlide" Target="/ppt/notesSlides/notesSlide7.xml" Id="Rae02621668f847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bd3eeeda2406d" /><Relationship Type="http://schemas.openxmlformats.org/officeDocument/2006/relationships/notesSlide" Target="/ppt/notesSlides/notesSlide8.xml" Id="R317f9aaccb634c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10bc3545d4e59" /><Relationship Type="http://schemas.openxmlformats.org/officeDocument/2006/relationships/notesSlide" Target="/ppt/notesSlides/notesSlide9.xml" Id="Ra6a0b57be6e64a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0829a78934a42" /><Relationship Type="http://schemas.openxmlformats.org/officeDocument/2006/relationships/image" Target="/ppt/media/image2.png" Id="R27440f6be61d499e" /><Relationship Type="http://schemas.openxmlformats.org/officeDocument/2006/relationships/notesSlide" Target="/ppt/notesSlides/notesSlide10.xml" Id="R1a64ccdc415046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5479509d84785" /><Relationship Type="http://schemas.openxmlformats.org/officeDocument/2006/relationships/notesSlide" Target="/ppt/notesSlides/notesSlide11.xml" Id="Rec72683121014c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f35c0be0f441f" /><Relationship Type="http://schemas.openxmlformats.org/officeDocument/2006/relationships/notesSlide" Target="/ppt/notesSlides/notesSlide12.xml" Id="Rbf69f0ebae4443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96e40502b4236"/>
          <a:stretch xmlns:a="http://schemas.openxmlformats.org/drawingml/2006/main"/>
        </p:blipFill>
        <p:spPr>
          <a:xfrm xmlns:a="http://schemas.openxmlformats.org/drawingml/2006/main">
            <a:off x="5982166" y="0"/>
            <a:ext cx="620936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0A45D1D9-60CC-4847-94B4-B3F340A6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5095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有出处的 企业研究助手">
            <a:extLst xmlns:a="http://schemas.openxmlformats.org/drawingml/2006/main">
              <a:ext uri="{FF2B5EF4-FFF2-40B4-BE49-F238E27FC236}">
                <a16:creationId xmlns:a16="http://schemas.microsoft.com/office/drawing/2014/main" id="{08B9CAA5-B158-4413-A2C8-45AADB75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5095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有出处的</a:t>
            </a:r>
          </a:p>
          <a:p xmlns:a="http://schemas.openxmlformats.org/drawingml/2006/main">
            <a:pPr>
              <a:defRPr sz="40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企业研究助手</a:t>
            </a:r>
          </a:p>
        </p:txBody>
      </p:sp>
      <p:sp>
        <p:nvSpPr>
          <p:cNvPr id="4" name="把钱或信任交出去前， 先把依据看清楚">
            <a:extLst xmlns:a="http://schemas.openxmlformats.org/drawingml/2006/main">
              <a:ext uri="{FF2B5EF4-FFF2-40B4-BE49-F238E27FC236}">
                <a16:creationId xmlns:a16="http://schemas.microsoft.com/office/drawing/2014/main" id="{1DB3DCA0-2C7E-4B38-BCA1-3C0437C4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0062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把钱或信任交出去前，</a:t>
            </a:r>
          </a:p>
          <a:p xmlns:a="http://schemas.openxmlformats.org/drawingml/2006/main">
            <a:pPr>
              <a:defRPr sz="225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先把依据看清楚</a:t>
            </a:r>
          </a:p>
        </p:txBody>
      </p:sp>
      <p:sp>
        <p:nvSpPr>
          <p:cNvPr id="5" name="回响48H 黑客松  杭州银行「X-Ray 透视·真相」">
            <a:extLst xmlns:a="http://schemas.openxmlformats.org/drawingml/2006/main">
              <a:ext uri="{FF2B5EF4-FFF2-40B4-BE49-F238E27FC236}">
                <a16:creationId xmlns:a16="http://schemas.microsoft.com/office/drawing/2014/main" id="{3C0D6C78-93A4-47F0-B9A9-AEECC68E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62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回响48H 黑客松  杭州银行「X-Ray 透视·真相」</a:t>
            </a:r>
          </a:p>
        </p:txBody>
      </p:sp>
    </p:spTree>
    <p:extLst>
      <p:ext uri="{BB962C8B-B14F-4D97-AF65-F5344CB8AC3E}">
        <p14:creationId xmlns:p14="http://schemas.microsoft.com/office/powerpoint/2010/main" val="1638498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托付之前的判断难题">
            <a:extLst xmlns:a="http://schemas.openxmlformats.org/drawingml/2006/main">
              <a:ext uri="{FF2B5EF4-FFF2-40B4-BE49-F238E27FC236}">
                <a16:creationId xmlns:a16="http://schemas.microsoft.com/office/drawing/2014/main" id="{4E9B0854-6332-4B2D-9278-ABA07C61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托付之前的判断难题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A4F7AC1A-CDF9-4EE3-AEB4-2F853C57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2">
            <a:extLst xmlns:a="http://schemas.openxmlformats.org/drawingml/2006/main">
              <a:ext uri="{FF2B5EF4-FFF2-40B4-BE49-F238E27FC236}">
                <a16:creationId xmlns:a16="http://schemas.microsoft.com/office/drawing/2014/main" id="{27A73926-EF07-4148-A5FC-26AE464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" name="资料已经很多， 哪些与这次决定有关？">
            <a:extLst xmlns:a="http://schemas.openxmlformats.org/drawingml/2006/main">
              <a:ext uri="{FF2B5EF4-FFF2-40B4-BE49-F238E27FC236}">
                <a16:creationId xmlns:a16="http://schemas.microsoft.com/office/drawing/2014/main" id="{B3DE6D37-B7F0-47DD-82BC-125F855A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资料已经很多，</a:t>
            </a:r>
          </a:p>
          <a:p xmlns:a="http://schemas.openxmlformats.org/drawingml/2006/main">
            <a:pPr>
              <a:defRPr sz="43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哪些与这次决定有关？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1482C-E023-45AE-8094-5FB537A8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CCB4"/>
            </a:solidFill>
          </a:ln>
        </p:spPr>
      </p:sp>
      <p:sp>
        <p:nvSpPr>
          <p:cNvPr id="6" name="信息散在各处">
            <a:extLst xmlns:a="http://schemas.openxmlformats.org/drawingml/2006/main">
              <a:ext uri="{FF2B5EF4-FFF2-40B4-BE49-F238E27FC236}">
                <a16:creationId xmlns:a16="http://schemas.microsoft.com/office/drawing/2014/main" id="{7E7C28B6-9D60-48F4-B08C-B97794C6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信息散在各处</a:t>
            </a:r>
          </a:p>
        </p:txBody>
      </p:sp>
      <p:sp>
        <p:nvSpPr>
          <p:cNvPr id="7" name="公司介绍、登记、年报和新闻 需要放在一起核对">
            <a:extLst xmlns:a="http://schemas.openxmlformats.org/drawingml/2006/main">
              <a:ext uri="{FF2B5EF4-FFF2-40B4-BE49-F238E27FC236}">
                <a16:creationId xmlns:a16="http://schemas.microsoft.com/office/drawing/2014/main" id="{B70A5C6F-A08F-4712-A785-60BE9F9A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公司介绍、登记、年报和新闻</a:t>
            </a:r>
          </a:p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需要放在一起核对</a:t>
            </a:r>
          </a:p>
        </p:txBody>
      </p:sp>
      <p:sp>
        <p:nvSpPr>
          <p:cNvPr id="8" name="记录还需要读懂">
            <a:extLst xmlns:a="http://schemas.openxmlformats.org/drawingml/2006/main">
              <a:ext uri="{FF2B5EF4-FFF2-40B4-BE49-F238E27FC236}">
                <a16:creationId xmlns:a16="http://schemas.microsoft.com/office/drawing/2014/main" id="{4D675B30-87EC-4390-A677-337B1056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记录还需要读懂</a:t>
            </a:r>
          </a:p>
        </p:txBody>
      </p:sp>
      <p:sp>
        <p:nvSpPr>
          <p:cNvPr id="9" name="主体、时间和指标口径 会影响它能支持什么判断">
            <a:extLst xmlns:a="http://schemas.openxmlformats.org/drawingml/2006/main">
              <a:ext uri="{FF2B5EF4-FFF2-40B4-BE49-F238E27FC236}">
                <a16:creationId xmlns:a16="http://schemas.microsoft.com/office/drawing/2014/main" id="{42D13E90-CEAB-46A2-9305-9573A2ED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主体、时间和指标口径</a:t>
            </a:r>
          </a:p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会影响它能支持什么判断</a:t>
            </a:r>
          </a:p>
        </p:txBody>
      </p:sp>
    </p:spTree>
    <p:extLst>
      <p:ext uri="{BB962C8B-B14F-4D97-AF65-F5344CB8AC3E}">
        <p14:creationId xmlns:p14="http://schemas.microsoft.com/office/powerpoint/2010/main" val="7129321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公司全称，加一句需求">
            <a:extLst xmlns:a="http://schemas.openxmlformats.org/drawingml/2006/main">
              <a:ext uri="{FF2B5EF4-FFF2-40B4-BE49-F238E27FC236}">
                <a16:creationId xmlns:a16="http://schemas.microsoft.com/office/drawing/2014/main" id="{4482B276-1286-4CCA-8668-698248BC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公司全称，加一句需求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6C16686B-A40D-4284-955B-3F762B6A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3">
            <a:extLst xmlns:a="http://schemas.openxmlformats.org/drawingml/2006/main">
              <a:ext uri="{FF2B5EF4-FFF2-40B4-BE49-F238E27FC236}">
                <a16:creationId xmlns:a16="http://schemas.microsoft.com/office/drawing/2014/main" id="{144398F0-8401-4021-AA77-2264D0B2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3db9f19f540d5"/>
          <a:stretch xmlns:a="http://schemas.openxmlformats.org/drawingml/2006/main"/>
        </p:blipFill>
        <p:spPr>
          <a:xfrm xmlns:a="http://schemas.openxmlformats.org/drawingml/2006/main">
            <a:off x="647700" y="1636250"/>
            <a:ext cx="7810500" cy="4309401"/>
          </a:xfrm>
          <a:prstGeom xmlns:a="http://schemas.openxmlformats.org/drawingml/2006/main" prst="rect">
            <a:avLst/>
          </a:prstGeom>
        </p:spPr>
      </p:pic>
      <p:sp>
        <p:nvSpPr>
          <p:cNvPr id="5" name="公司全称">
            <a:extLst xmlns:a="http://schemas.openxmlformats.org/drawingml/2006/main">
              <a:ext uri="{FF2B5EF4-FFF2-40B4-BE49-F238E27FC236}">
                <a16:creationId xmlns:a16="http://schemas.microsoft.com/office/drawing/2014/main" id="{4565BA4D-B241-4782-A438-4AA2AA95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7640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公司全称</a:t>
            </a:r>
          </a:p>
        </p:txBody>
      </p:sp>
      <p:sp>
        <p:nvSpPr>
          <p:cNvPr id="6" name="明确这次查谁">
            <a:extLst xmlns:a="http://schemas.openxmlformats.org/drawingml/2006/main">
              <a:ext uri="{FF2B5EF4-FFF2-40B4-BE49-F238E27FC236}">
                <a16:creationId xmlns:a16="http://schemas.microsoft.com/office/drawing/2014/main" id="{862390B8-B6FB-49A3-94C1-D5F35A85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明确这次查谁</a:t>
            </a:r>
          </a:p>
        </p:txBody>
      </p:sp>
      <p:sp>
        <p:nvSpPr>
          <p:cNvPr id="7" name="这次想做什么">
            <a:extLst xmlns:a="http://schemas.openxmlformats.org/drawingml/2006/main">
              <a:ext uri="{FF2B5EF4-FFF2-40B4-BE49-F238E27FC236}">
                <a16:creationId xmlns:a16="http://schemas.microsoft.com/office/drawing/2014/main" id="{720D4F8C-F866-448D-839C-E5D404CA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这次想做什么</a:t>
            </a:r>
          </a:p>
        </p:txBody>
      </p:sp>
      <p:sp>
        <p:nvSpPr>
          <p:cNvPr id="8" name="理财、求职或合作 重点随需求改变">
            <a:extLst xmlns:a="http://schemas.openxmlformats.org/drawingml/2006/main">
              <a:ext uri="{FF2B5EF4-FFF2-40B4-BE49-F238E27FC236}">
                <a16:creationId xmlns:a16="http://schemas.microsoft.com/office/drawing/2014/main" id="{A05803A2-1D9A-4258-A73B-C34044C1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705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理财、求职或合作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重点随需求改变</a:t>
            </a:r>
          </a:p>
        </p:txBody>
      </p:sp>
      <p:sp>
        <p:nvSpPr>
          <p:cNvPr id="9" name="材料可选">
            <a:extLst xmlns:a="http://schemas.openxmlformats.org/drawingml/2006/main">
              <a:ext uri="{FF2B5EF4-FFF2-40B4-BE49-F238E27FC236}">
                <a16:creationId xmlns:a16="http://schemas.microsoft.com/office/drawing/2014/main" id="{9CC40910-4D8A-43C4-A611-6142682F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101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材料可选</a:t>
            </a:r>
          </a:p>
        </p:txBody>
      </p:sp>
      <p:sp>
        <p:nvSpPr>
          <p:cNvPr id="10" name="宣传单、合同、回复">
            <a:extLst xmlns:a="http://schemas.openxmlformats.org/drawingml/2006/main">
              <a:ext uri="{FF2B5EF4-FFF2-40B4-BE49-F238E27FC236}">
                <a16:creationId xmlns:a16="http://schemas.microsoft.com/office/drawing/2014/main" id="{EEAECD5E-B06C-4EAC-AAB8-A69E4F48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673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宣传单、合同、回复</a:t>
            </a:r>
          </a:p>
        </p:txBody>
      </p:sp>
    </p:spTree>
    <p:extLst>
      <p:ext uri="{BB962C8B-B14F-4D97-AF65-F5344CB8AC3E}">
        <p14:creationId xmlns:p14="http://schemas.microsoft.com/office/powerpoint/2010/main" val="1298315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报告跟着这次需求组织">
            <a:extLst xmlns:a="http://schemas.openxmlformats.org/drawingml/2006/main">
              <a:ext uri="{FF2B5EF4-FFF2-40B4-BE49-F238E27FC236}">
                <a16:creationId xmlns:a16="http://schemas.microsoft.com/office/drawing/2014/main" id="{7C6BBB14-6A9F-45F0-B091-4A5E9071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报告跟着这次需求组织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5C6112D0-4D4E-41F2-B4FE-84BCD2CF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4">
            <a:extLst xmlns:a="http://schemas.openxmlformats.org/drawingml/2006/main">
              <a:ext uri="{FF2B5EF4-FFF2-40B4-BE49-F238E27FC236}">
                <a16:creationId xmlns:a16="http://schemas.microsoft.com/office/drawing/2014/main" id="{57FA6FA8-C46E-450A-B1DA-27A9A07C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" name="阅读摘要">
            <a:extLst xmlns:a="http://schemas.openxmlformats.org/drawingml/2006/main">
              <a:ext uri="{FF2B5EF4-FFF2-40B4-BE49-F238E27FC236}">
                <a16:creationId xmlns:a16="http://schemas.microsoft.com/office/drawing/2014/main" id="{F5BA12EA-AF85-44D6-944F-51FB2C63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阅读摘要</a:t>
            </a:r>
          </a:p>
        </p:txBody>
      </p:sp>
      <p:sp>
        <p:nvSpPr>
          <p:cNvPr id="5" name="四个信号">
            <a:extLst xmlns:a="http://schemas.openxmlformats.org/drawingml/2006/main">
              <a:ext uri="{FF2B5EF4-FFF2-40B4-BE49-F238E27FC236}">
                <a16:creationId xmlns:a16="http://schemas.microsoft.com/office/drawing/2014/main" id="{0535B4C3-B2B8-4B9C-8BD4-7E2CA995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3827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四个信号</a:t>
            </a:r>
          </a:p>
        </p:txBody>
      </p:sp>
      <p:sp>
        <p:nvSpPr>
          <p:cNvPr id="6" name="问询复核">
            <a:extLst xmlns:a="http://schemas.openxmlformats.org/drawingml/2006/main">
              <a:ext uri="{FF2B5EF4-FFF2-40B4-BE49-F238E27FC236}">
                <a16:creationId xmlns:a16="http://schemas.microsoft.com/office/drawing/2014/main" id="{94D0AADD-D0BD-4CBF-B71F-4F29E5CE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3827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问询复核</a:t>
            </a:r>
          </a:p>
        </p:txBody>
      </p:sp>
      <p:sp>
        <p:nvSpPr>
          <p:cNvPr id="7" name="详细信息与来源">
            <a:extLst xmlns:a="http://schemas.openxmlformats.org/drawingml/2006/main">
              <a:ext uri="{FF2B5EF4-FFF2-40B4-BE49-F238E27FC236}">
                <a16:creationId xmlns:a16="http://schemas.microsoft.com/office/drawing/2014/main" id="{55259DE0-CD58-4210-A0DF-C8C13F8F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38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详细信息与来源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be6a4741845a4"/>
          <a:srcRect xmlns:a="http://schemas.openxmlformats.org/drawingml/2006/main" l="12700" t="48300" r="270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038350"/>
            <a:ext cx="10896600" cy="3533775"/>
          </a:xfrm>
          <a:prstGeom xmlns:a="http://schemas.openxmlformats.org/drawingml/2006/main" prst="rect">
            <a:avLst/>
          </a:prstGeom>
        </p:spPr>
      </p:pic>
      <p:sp>
        <p:nvSpPr>
          <p:cNvPr id="9" name="虚构公司演示画面，未接模型">
            <a:extLst xmlns:a="http://schemas.openxmlformats.org/drawingml/2006/main">
              <a:ext uri="{FF2B5EF4-FFF2-40B4-BE49-F238E27FC236}">
                <a16:creationId xmlns:a16="http://schemas.microsoft.com/office/drawing/2014/main" id="{8008427F-8B59-4317-B1C5-BA8E740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虚构公司演示画面，未接模型</a:t>
            </a:r>
          </a:p>
        </p:txBody>
      </p:sp>
    </p:spTree>
    <p:extLst>
      <p:ext uri="{BB962C8B-B14F-4D97-AF65-F5344CB8AC3E}">
        <p14:creationId xmlns:p14="http://schemas.microsoft.com/office/powerpoint/2010/main" val="166833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把企业说法放到记录旁边">
            <a:extLst xmlns:a="http://schemas.openxmlformats.org/drawingml/2006/main">
              <a:ext uri="{FF2B5EF4-FFF2-40B4-BE49-F238E27FC236}">
                <a16:creationId xmlns:a16="http://schemas.microsoft.com/office/drawing/2014/main" id="{082A3B1E-8B16-4F1B-BE39-E23B916B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把企业说法放到记录旁边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8EC2B242-4174-429F-8AC1-08DC1CF3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5">
            <a:extLst xmlns:a="http://schemas.openxmlformats.org/drawingml/2006/main">
              <a:ext uri="{FF2B5EF4-FFF2-40B4-BE49-F238E27FC236}">
                <a16:creationId xmlns:a16="http://schemas.microsoft.com/office/drawing/2014/main" id="{2F36A7CF-934E-4D35-9BD8-51908D9C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a7b6e4c4a4e37"/>
          <a:srcRect xmlns:a="http://schemas.openxmlformats.org/drawingml/2006/main" l="55600" t="29300" r="2570" b="306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809750"/>
            <a:ext cx="7096125" cy="3752850"/>
          </a:xfrm>
          <a:prstGeom xmlns:a="http://schemas.openxmlformats.org/drawingml/2006/main" prst="rect">
            <a:avLst/>
          </a:prstGeom>
        </p:spPr>
      </p:pic>
      <p:sp>
        <p:nvSpPr>
          <p:cNvPr id="5" name="原话保留">
            <a:extLst xmlns:a="http://schemas.openxmlformats.org/drawingml/2006/main">
              <a:ext uri="{FF2B5EF4-FFF2-40B4-BE49-F238E27FC236}">
                <a16:creationId xmlns:a16="http://schemas.microsoft.com/office/drawing/2014/main" id="{4C1D893E-EAAB-4221-873F-4A36CD82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704975"/>
            <a:ext cx="339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原话保留</a:t>
            </a:r>
          </a:p>
        </p:txBody>
      </p:sp>
      <p:sp>
        <p:nvSpPr>
          <p:cNvPr id="6" name="能点开材料原文">
            <a:extLst xmlns:a="http://schemas.openxmlformats.org/drawingml/2006/main">
              <a:ext uri="{FF2B5EF4-FFF2-40B4-BE49-F238E27FC236}">
                <a16:creationId xmlns:a16="http://schemas.microsoft.com/office/drawing/2014/main" id="{B6D6AFC1-1DBD-4437-9784-873B7DCB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38375"/>
            <a:ext cx="3390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能点开材料原文</a:t>
            </a:r>
          </a:p>
        </p:txBody>
      </p:sp>
      <p:sp>
        <p:nvSpPr>
          <p:cNvPr id="7" name="记录可查">
            <a:extLst xmlns:a="http://schemas.openxmlformats.org/drawingml/2006/main">
              <a:ext uri="{FF2B5EF4-FFF2-40B4-BE49-F238E27FC236}">
                <a16:creationId xmlns:a16="http://schemas.microsoft.com/office/drawing/2014/main" id="{53D81F0C-6295-4FF2-807F-7C99F45F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52775"/>
            <a:ext cx="339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记录可查</a:t>
            </a:r>
          </a:p>
        </p:txBody>
      </p:sp>
      <p:sp>
        <p:nvSpPr>
          <p:cNvPr id="8" name="同时核对主体、 日期与指标口径">
            <a:extLst xmlns:a="http://schemas.openxmlformats.org/drawingml/2006/main">
              <a:ext uri="{FF2B5EF4-FFF2-40B4-BE49-F238E27FC236}">
                <a16:creationId xmlns:a16="http://schemas.microsoft.com/office/drawing/2014/main" id="{39B27161-A951-45EE-BF75-98DCCBA2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05225"/>
            <a:ext cx="3390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同时核对主体、</a:t>
            </a:r>
          </a:p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日期与指标口径</a:t>
            </a:r>
          </a:p>
        </p:txBody>
      </p:sp>
      <p:sp>
        <p:nvSpPr>
          <p:cNvPr id="9" name="无法核验也写明">
            <a:extLst xmlns:a="http://schemas.openxmlformats.org/drawingml/2006/main">
              <a:ext uri="{FF2B5EF4-FFF2-40B4-BE49-F238E27FC236}">
                <a16:creationId xmlns:a16="http://schemas.microsoft.com/office/drawing/2014/main" id="{9C319636-BE2E-41C3-8119-481238E2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95875"/>
            <a:ext cx="339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无法核验也写明</a:t>
            </a:r>
          </a:p>
        </p:txBody>
      </p:sp>
      <p:sp>
        <p:nvSpPr>
          <p:cNvPr id="10" name="虚构公司演示。材料有记载，不代表宣称属实">
            <a:extLst xmlns:a="http://schemas.openxmlformats.org/drawingml/2006/main">
              <a:ext uri="{FF2B5EF4-FFF2-40B4-BE49-F238E27FC236}">
                <a16:creationId xmlns:a16="http://schemas.microsoft.com/office/drawing/2014/main" id="{C83CCCF6-D188-4366-986C-84909E40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虚构公司演示。材料有记载，不代表宣称属实</a:t>
            </a:r>
          </a:p>
        </p:txBody>
      </p:sp>
    </p:spTree>
    <p:extLst>
      <p:ext uri="{BB962C8B-B14F-4D97-AF65-F5344CB8AC3E}">
        <p14:creationId xmlns:p14="http://schemas.microsoft.com/office/powerpoint/2010/main" val="18307723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四类查询状态分开呈现">
            <a:extLst xmlns:a="http://schemas.openxmlformats.org/drawingml/2006/main">
              <a:ext uri="{FF2B5EF4-FFF2-40B4-BE49-F238E27FC236}">
                <a16:creationId xmlns:a16="http://schemas.microsoft.com/office/drawing/2014/main" id="{376E1BB4-A402-45E6-ADC7-3BDB48FC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四类查询状态分开呈现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0569DE1F-49D9-425C-A5AC-E2A8BC73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6">
            <a:extLst xmlns:a="http://schemas.openxmlformats.org/drawingml/2006/main">
              <a:ext uri="{FF2B5EF4-FFF2-40B4-BE49-F238E27FC236}">
                <a16:creationId xmlns:a16="http://schemas.microsoft.com/office/drawing/2014/main" id="{04620BAA-6F7F-4933-AAF6-34CB0C73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1552575"/>
          <a:ext xmlns:a="http://schemas.openxmlformats.org/drawingml/2006/main" cx="108966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39100"/>
              </a:tblGrid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它说明什么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</a:tr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查到了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这个来源中有匹配记录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查了没有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本次查询范围内没有匹配记录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</a:tr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没查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数据源未覆盖，或本次未执行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查询失败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本次请求没有成功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</a:tr>
            </a:tbl>
          </a:graphicData>
        </a:graphic>
      </p:graphicFrame>
      <p:sp>
        <p:nvSpPr>
          <p:cNvPr id="5" name="未覆盖，不能当成正常">
            <a:extLst xmlns:a="http://schemas.openxmlformats.org/drawingml/2006/main">
              <a:ext uri="{FF2B5EF4-FFF2-40B4-BE49-F238E27FC236}">
                <a16:creationId xmlns:a16="http://schemas.microsoft.com/office/drawing/2014/main" id="{A75373D3-5100-467C-959E-772946E2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10896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未覆盖，不能当成正常</a:t>
            </a:r>
          </a:p>
        </p:txBody>
      </p:sp>
    </p:spTree>
    <p:extLst>
      <p:ext uri="{BB962C8B-B14F-4D97-AF65-F5344CB8AC3E}">
        <p14:creationId xmlns:p14="http://schemas.microsoft.com/office/powerpoint/2010/main" val="1738113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小企解释报告，关键事实带出处">
            <a:extLst xmlns:a="http://schemas.openxmlformats.org/drawingml/2006/main">
              <a:ext uri="{FF2B5EF4-FFF2-40B4-BE49-F238E27FC236}">
                <a16:creationId xmlns:a16="http://schemas.microsoft.com/office/drawing/2014/main" id="{43B4E6AF-E036-497F-B7F2-48943EA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小企解释报告，关键事实带出处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315E7EBF-4090-4015-BCDE-CA6EEA4D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7">
            <a:extLst xmlns:a="http://schemas.openxmlformats.org/drawingml/2006/main">
              <a:ext uri="{FF2B5EF4-FFF2-40B4-BE49-F238E27FC236}">
                <a16:creationId xmlns:a16="http://schemas.microsoft.com/office/drawing/2014/main" id="{ECAE9540-133D-4C48-A55D-862BF125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5bb5515504598"/>
          <a:srcRect xmlns:a="http://schemas.openxmlformats.org/drawingml/2006/main" l="27150" t="9840" r="27980" b="47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771650"/>
            <a:ext cx="6896100" cy="3657600"/>
          </a:xfrm>
          <a:prstGeom xmlns:a="http://schemas.openxmlformats.org/drawingml/2006/main" prst="rect">
            <a:avLst/>
          </a:prstGeom>
        </p:spPr>
      </p:pic>
      <p:sp>
        <p:nvSpPr>
          <p:cNvPr id="5" name="选中一条，再问">
            <a:extLst xmlns:a="http://schemas.openxmlformats.org/drawingml/2006/main">
              <a:ext uri="{FF2B5EF4-FFF2-40B4-BE49-F238E27FC236}">
                <a16:creationId xmlns:a16="http://schemas.microsoft.com/office/drawing/2014/main" id="{6649E8C8-EC7B-45C1-B737-4CC1CF54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954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选中一条，再问</a:t>
            </a:r>
          </a:p>
        </p:txBody>
      </p:sp>
      <p:sp>
        <p:nvSpPr>
          <p:cNvPr id="6" name="引用回到对应证据">
            <a:extLst xmlns:a="http://schemas.openxmlformats.org/drawingml/2006/main">
              <a:ext uri="{FF2B5EF4-FFF2-40B4-BE49-F238E27FC236}">
                <a16:creationId xmlns:a16="http://schemas.microsoft.com/office/drawing/2014/main" id="{156D37B6-8596-4CAC-ABEF-A6ED2857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05050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引用回到对应证据</a:t>
            </a:r>
          </a:p>
        </p:txBody>
      </p:sp>
      <p:sp>
        <p:nvSpPr>
          <p:cNvPr id="7" name="规则负责判定">
            <a:extLst xmlns:a="http://schemas.openxmlformats.org/drawingml/2006/main">
              <a:ext uri="{FF2B5EF4-FFF2-40B4-BE49-F238E27FC236}">
                <a16:creationId xmlns:a16="http://schemas.microsoft.com/office/drawing/2014/main" id="{9A067059-3025-4470-828F-02BAB29F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57575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规则负责判定</a:t>
            </a:r>
          </a:p>
        </p:txBody>
      </p:sp>
      <p:sp>
        <p:nvSpPr>
          <p:cNvPr id="8" name="AI 帮人读懂材料和结果">
            <a:extLst xmlns:a="http://schemas.openxmlformats.org/drawingml/2006/main">
              <a:ext uri="{FF2B5EF4-FFF2-40B4-BE49-F238E27FC236}">
                <a16:creationId xmlns:a16="http://schemas.microsoft.com/office/drawing/2014/main" id="{4029B464-1881-472E-BB02-28E397AE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010025"/>
            <a:ext cx="352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AI 帮人读懂材料和结果</a:t>
            </a:r>
          </a:p>
        </p:txBody>
      </p:sp>
      <p:sp>
        <p:nvSpPr>
          <p:cNvPr id="9" name="新情况加入案卷， 再生成新版本">
            <a:extLst xmlns:a="http://schemas.openxmlformats.org/drawingml/2006/main">
              <a:ext uri="{FF2B5EF4-FFF2-40B4-BE49-F238E27FC236}">
                <a16:creationId xmlns:a16="http://schemas.microsoft.com/office/drawing/2014/main" id="{FF9CBFDD-3F44-4581-BFD2-B972FFBC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00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新情况加入案卷，</a:t>
            </a:r>
          </a:p>
          <a:p xmlns:a="http://schemas.openxmlformats.org/drawingml/2006/main">
            <a:pPr>
              <a:defRPr sz="202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再生成新版本</a:t>
            </a:r>
          </a:p>
        </p:txBody>
      </p:sp>
      <p:sp>
        <p:nvSpPr>
          <p:cNvPr id="10" name="虚构公司演示，基础答复的出处">
            <a:extLst xmlns:a="http://schemas.openxmlformats.org/drawingml/2006/main">
              <a:ext uri="{FF2B5EF4-FFF2-40B4-BE49-F238E27FC236}">
                <a16:creationId xmlns:a16="http://schemas.microsoft.com/office/drawing/2014/main" id="{A96D6401-AC33-4D13-9367-CA549AA1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虚构公司演示，基础答复的出处</a:t>
            </a:r>
          </a:p>
        </p:txBody>
      </p:sp>
    </p:spTree>
    <p:extLst>
      <p:ext uri="{BB962C8B-B14F-4D97-AF65-F5344CB8AC3E}">
        <p14:creationId xmlns:p14="http://schemas.microsoft.com/office/powerpoint/2010/main" val="19588961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新材料进入新版本">
            <a:extLst xmlns:a="http://schemas.openxmlformats.org/drawingml/2006/main">
              <a:ext uri="{FF2B5EF4-FFF2-40B4-BE49-F238E27FC236}">
                <a16:creationId xmlns:a16="http://schemas.microsoft.com/office/drawing/2014/main" id="{42AFE1F3-833A-4690-B72A-256A7389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新材料进入新版本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92E17566-2B86-4A5B-81D3-5EF81CFD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8">
            <a:extLst xmlns:a="http://schemas.openxmlformats.org/drawingml/2006/main">
              <a:ext uri="{FF2B5EF4-FFF2-40B4-BE49-F238E27FC236}">
                <a16:creationId xmlns:a16="http://schemas.microsoft.com/office/drawing/2014/main" id="{2CBB0E96-5811-48D1-8E9A-51210DC9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" name="v1">
            <a:extLst xmlns:a="http://schemas.openxmlformats.org/drawingml/2006/main">
              <a:ext uri="{FF2B5EF4-FFF2-40B4-BE49-F238E27FC236}">
                <a16:creationId xmlns:a16="http://schemas.microsoft.com/office/drawing/2014/main" id="{90F0837D-1BAC-4642-8AAD-5506EBE0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47825"/>
            <a:ext cx="18764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v1</a:t>
            </a:r>
          </a:p>
        </p:txBody>
      </p:sp>
      <p:sp>
        <p:nvSpPr>
          <p:cNvPr id="5" name="原来的报告">
            <a:extLst xmlns:a="http://schemas.openxmlformats.org/drawingml/2006/main">
              <a:ext uri="{FF2B5EF4-FFF2-40B4-BE49-F238E27FC236}">
                <a16:creationId xmlns:a16="http://schemas.microsoft.com/office/drawing/2014/main" id="{58D12251-7EA8-4207-8666-E448B065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04975"/>
            <a:ext cx="790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原来的报告</a:t>
            </a:r>
          </a:p>
        </p:txBody>
      </p:sp>
      <p:sp>
        <p:nvSpPr>
          <p:cNvPr id="6" name="保留当时的材料、判断和出处">
            <a:extLst xmlns:a="http://schemas.openxmlformats.org/drawingml/2006/main">
              <a:ext uri="{FF2B5EF4-FFF2-40B4-BE49-F238E27FC236}">
                <a16:creationId xmlns:a16="http://schemas.microsoft.com/office/drawing/2014/main" id="{A79EF77D-F93B-4F51-A9AD-7B62D940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14575"/>
            <a:ext cx="8324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保留当时的材料、判断和出处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64419-9B89-40CA-8067-3101E873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146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CCB4"/>
            </a:solidFill>
          </a:ln>
        </p:spPr>
      </p:sp>
      <p:sp>
        <p:nvSpPr>
          <p:cNvPr id="8" name="补充">
            <a:extLst xmlns:a="http://schemas.openxmlformats.org/drawingml/2006/main">
              <a:ext uri="{FF2B5EF4-FFF2-40B4-BE49-F238E27FC236}">
                <a16:creationId xmlns:a16="http://schemas.microsoft.com/office/drawing/2014/main" id="{CFC7375C-9287-4480-8C03-6CE1C6DF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00425"/>
            <a:ext cx="1876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9" name="新材料、对方回复，或修改需求">
            <a:extLst xmlns:a="http://schemas.openxmlformats.org/drawingml/2006/main">
              <a:ext uri="{FF2B5EF4-FFF2-40B4-BE49-F238E27FC236}">
                <a16:creationId xmlns:a16="http://schemas.microsoft.com/office/drawing/2014/main" id="{1BC43646-C926-4755-B4A0-7D43F1E1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429000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新材料、对方回复，或修改需求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0C04D-5965-4616-BC7C-899B6008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76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CCB4"/>
            </a:solidFill>
          </a:ln>
        </p:spPr>
      </p:sp>
      <p:sp>
        <p:nvSpPr>
          <p:cNvPr id="11" name="v2">
            <a:extLst xmlns:a="http://schemas.openxmlformats.org/drawingml/2006/main">
              <a:ext uri="{FF2B5EF4-FFF2-40B4-BE49-F238E27FC236}">
                <a16:creationId xmlns:a16="http://schemas.microsoft.com/office/drawing/2014/main" id="{8007A771-7DA9-4919-9CF5-385A7849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62475"/>
            <a:ext cx="18764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v2</a:t>
            </a:r>
          </a:p>
        </p:txBody>
      </p:sp>
      <p:sp>
        <p:nvSpPr>
          <p:cNvPr id="12" name="变了什么，为什么变">
            <a:extLst xmlns:a="http://schemas.openxmlformats.org/drawingml/2006/main">
              <a:ext uri="{FF2B5EF4-FFF2-40B4-BE49-F238E27FC236}">
                <a16:creationId xmlns:a16="http://schemas.microsoft.com/office/drawing/2014/main" id="{D6E35F18-7617-4345-8DB2-BF3FF9FC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562475"/>
            <a:ext cx="864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变了什么，为什么变</a:t>
            </a:r>
          </a:p>
        </p:txBody>
      </p:sp>
      <p:sp>
        <p:nvSpPr>
          <p:cNvPr id="13" name="没变的继续列出，旧引用仍回到旧版本">
            <a:extLst xmlns:a="http://schemas.openxmlformats.org/drawingml/2006/main">
              <a:ext uri="{FF2B5EF4-FFF2-40B4-BE49-F238E27FC236}">
                <a16:creationId xmlns:a16="http://schemas.microsoft.com/office/drawing/2014/main" id="{EDAA8705-4D73-4B9E-8D77-5D21D0C5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229225"/>
            <a:ext cx="8648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没变的继续列出，旧引用仍回到旧版本</a:t>
            </a:r>
          </a:p>
        </p:txBody>
      </p:sp>
    </p:spTree>
    <p:extLst>
      <p:ext uri="{BB962C8B-B14F-4D97-AF65-F5344CB8AC3E}">
        <p14:creationId xmlns:p14="http://schemas.microsoft.com/office/powerpoint/2010/main" val="19852277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一页报告，支持下一步核实">
            <a:extLst xmlns:a="http://schemas.openxmlformats.org/drawingml/2006/main">
              <a:ext uri="{FF2B5EF4-FFF2-40B4-BE49-F238E27FC236}">
                <a16:creationId xmlns:a16="http://schemas.microsoft.com/office/drawing/2014/main" id="{B51360F6-96A4-4575-9DBA-A7D3D272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一页报告，支持下一步核实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43621BB1-03DC-4127-9056-6BBCB959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9">
            <a:extLst xmlns:a="http://schemas.openxmlformats.org/drawingml/2006/main">
              <a:ext uri="{FF2B5EF4-FFF2-40B4-BE49-F238E27FC236}">
                <a16:creationId xmlns:a16="http://schemas.microsoft.com/office/drawing/2014/main" id="{BFAED7B5-AF19-479E-AB88-007615F5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" name="已知的依据">
            <a:extLst xmlns:a="http://schemas.openxmlformats.org/drawingml/2006/main">
              <a:ext uri="{FF2B5EF4-FFF2-40B4-BE49-F238E27FC236}">
                <a16:creationId xmlns:a16="http://schemas.microsoft.com/office/drawing/2014/main" id="{E26B2DD8-023A-4651-BE47-893A9FFE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66875"/>
            <a:ext cx="5153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已知的依据</a:t>
            </a:r>
          </a:p>
        </p:txBody>
      </p:sp>
      <p:sp>
        <p:nvSpPr>
          <p:cNvPr id="5" name="还缺的资料">
            <a:extLst xmlns:a="http://schemas.openxmlformats.org/drawingml/2006/main">
              <a:ext uri="{FF2B5EF4-FFF2-40B4-BE49-F238E27FC236}">
                <a16:creationId xmlns:a16="http://schemas.microsoft.com/office/drawing/2014/main" id="{E42328C5-2D44-4981-ACB1-2CF6D5B0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19375"/>
            <a:ext cx="5153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还缺的资料</a:t>
            </a:r>
          </a:p>
        </p:txBody>
      </p:sp>
      <p:sp>
        <p:nvSpPr>
          <p:cNvPr id="6" name="该问的问题">
            <a:extLst xmlns:a="http://schemas.openxmlformats.org/drawingml/2006/main">
              <a:ext uri="{FF2B5EF4-FFF2-40B4-BE49-F238E27FC236}">
                <a16:creationId xmlns:a16="http://schemas.microsoft.com/office/drawing/2014/main" id="{E350C366-B172-44E2-8A56-0B665CF3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71875"/>
            <a:ext cx="5153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该问的问题</a:t>
            </a:r>
          </a:p>
        </p:txBody>
      </p:sp>
      <p:sp>
        <p:nvSpPr>
          <p:cNvPr id="7" name="带进下一次讨论">
            <a:extLst xmlns:a="http://schemas.openxmlformats.org/drawingml/2006/main">
              <a:ext uri="{FF2B5EF4-FFF2-40B4-BE49-F238E27FC236}">
                <a16:creationId xmlns:a16="http://schemas.microsoft.com/office/drawing/2014/main" id="{F44315E7-57CB-4D5C-AAC0-785EB865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24025"/>
            <a:ext cx="489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带进下一次讨论</a:t>
            </a:r>
          </a:p>
        </p:txBody>
      </p:sp>
      <p:sp>
        <p:nvSpPr>
          <p:cNvPr id="8" name="个人与家人 一起看懂，再补充核实">
            <a:extLst xmlns:a="http://schemas.openxmlformats.org/drawingml/2006/main">
              <a:ext uri="{FF2B5EF4-FFF2-40B4-BE49-F238E27FC236}">
                <a16:creationId xmlns:a16="http://schemas.microsoft.com/office/drawing/2014/main" id="{5A28FF91-7AB4-42B8-A683-FAD83BA4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48863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个人与家人</a:t>
            </a:r>
          </a:p>
          <a:p xmlns:a="http://schemas.openxmlformats.org/drawingml/2006/main">
            <a:pPr>
              <a:defRPr sz="23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一起看懂，再补充核实</a:t>
            </a:r>
          </a:p>
        </p:txBody>
      </p:sp>
      <p:sp>
        <p:nvSpPr>
          <p:cNvPr id="9" name="拟验证的网点场景 用提示单把待确认事项讲具体">
            <a:extLst xmlns:a="http://schemas.openxmlformats.org/drawingml/2006/main">
              <a:ext uri="{FF2B5EF4-FFF2-40B4-BE49-F238E27FC236}">
                <a16:creationId xmlns:a16="http://schemas.microsoft.com/office/drawing/2014/main" id="{0AF6A985-6189-4DD5-9E3B-34A625BE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33875"/>
            <a:ext cx="49244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拟验证的网点场景</a:t>
            </a:r>
          </a:p>
          <a:p xmlns:a="http://schemas.openxmlformats.org/drawingml/2006/main">
            <a:pPr>
              <a:def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用提示单把待确认事项讲具体</a:t>
            </a:r>
          </a:p>
        </p:txBody>
      </p:sp>
      <p:sp>
        <p:nvSpPr>
          <p:cNvPr id="10" name="提供研究依据，最终决策由人作出">
            <a:extLst xmlns:a="http://schemas.openxmlformats.org/drawingml/2006/main">
              <a:ext uri="{FF2B5EF4-FFF2-40B4-BE49-F238E27FC236}">
                <a16:creationId xmlns:a16="http://schemas.microsoft.com/office/drawing/2014/main" id="{1FA23462-1546-49F5-8E96-964B7513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1497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提供研究依据，最终决策由人作出</a:t>
            </a:r>
          </a:p>
        </p:txBody>
      </p:sp>
    </p:spTree>
    <p:extLst>
      <p:ext uri="{BB962C8B-B14F-4D97-AF65-F5344CB8AC3E}">
        <p14:creationId xmlns:p14="http://schemas.microsoft.com/office/powerpoint/2010/main" val="8604588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40f6be61d499e"/>
          <a:stretch xmlns:a="http://schemas.openxmlformats.org/drawingml/2006/main"/>
        </p:blipFill>
        <p:spPr>
          <a:xfrm xmlns:a="http://schemas.openxmlformats.org/drawingml/2006/main">
            <a:off x="6419880" y="0"/>
            <a:ext cx="577208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F7D47A6D-6148-4D3A-A266-E1B16DDA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32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32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把钱或信任交出去前， 先把依据看清楚">
            <a:extLst xmlns:a="http://schemas.openxmlformats.org/drawingml/2006/main">
              <a:ext uri="{FF2B5EF4-FFF2-40B4-BE49-F238E27FC236}">
                <a16:creationId xmlns:a16="http://schemas.microsoft.com/office/drawing/2014/main" id="{827E3E73-1BA4-4236-8AFD-32ABDCDE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5911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把钱或信任交出去前，</a:t>
            </a:r>
          </a:p>
          <a:p xmlns:a="http://schemas.openxmlformats.org/drawingml/2006/main">
            <a:pPr>
              <a:def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先把依据看清楚</a:t>
            </a:r>
          </a:p>
        </p:txBody>
      </p:sp>
      <p:sp>
        <p:nvSpPr>
          <p:cNvPr id="4" name="有出处的企业研究助手">
            <a:extLst xmlns:a="http://schemas.openxmlformats.org/drawingml/2006/main">
              <a:ext uri="{FF2B5EF4-FFF2-40B4-BE49-F238E27FC236}">
                <a16:creationId xmlns:a16="http://schemas.microsoft.com/office/drawing/2014/main" id="{B188E229-0172-4804-A103-311DBE41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5514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有出处的企业研究助手</a:t>
            </a:r>
          </a:p>
        </p:txBody>
      </p:sp>
      <p:sp>
        <p:nvSpPr>
          <p:cNvPr id="5" name="基于公开资料，不作安全担保">
            <a:extLst xmlns:a="http://schemas.openxmlformats.org/drawingml/2006/main">
              <a:ext uri="{FF2B5EF4-FFF2-40B4-BE49-F238E27FC236}">
                <a16:creationId xmlns:a16="http://schemas.microsoft.com/office/drawing/2014/main" id="{7BF5B078-9E46-49AD-A644-25362A96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72175"/>
            <a:ext cx="5514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基于公开资料，不作安全担保</a:t>
            </a:r>
          </a:p>
        </p:txBody>
      </p:sp>
    </p:spTree>
    <p:extLst>
      <p:ext uri="{BB962C8B-B14F-4D97-AF65-F5344CB8AC3E}">
        <p14:creationId xmlns:p14="http://schemas.microsoft.com/office/powerpoint/2010/main" val="2896349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产品边界与当前能力">
            <a:extLst xmlns:a="http://schemas.openxmlformats.org/drawingml/2006/main">
              <a:ext uri="{FF2B5EF4-FFF2-40B4-BE49-F238E27FC236}">
                <a16:creationId xmlns:a16="http://schemas.microsoft.com/office/drawing/2014/main" id="{4EFA6AC2-0A3A-4CC7-88D7-F9B94F14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产品边界与当前能力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60FE5B3A-E4F5-4BDB-8CDD-613B152B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380A20F2-B028-45DE-B740-EDCB2E9D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10896600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20100"/>
              </a:tblGrid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当前承担的工作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</a:tr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汇集公开记录与用户材料，保留来源和查询状态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确定性规则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按已有记录与规则生成核验判定，逐项比对版本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</a:tr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识别需求、读取材料、解释报告、回答问题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核对缺口，补充信息，作出最终决定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</a:tr>
            </a:tbl>
          </a:graphicData>
        </a:graphic>
      </p:graphicFrame>
      <p:sp>
        <p:nvSpPr>
          <p:cNvPr id="5" name="不打安全分，不作安全担保。联网资料受配置与覆盖范围限制">
            <a:extLst xmlns:a="http://schemas.openxmlformats.org/drawingml/2006/main">
              <a:ext uri="{FF2B5EF4-FFF2-40B4-BE49-F238E27FC236}">
                <a16:creationId xmlns:a16="http://schemas.microsoft.com/office/drawing/2014/main" id="{FBA859EF-4452-4650-B717-026E0AFC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不打安全分，不作安全担保。联网资料受配置与覆盖范围限制</a:t>
            </a:r>
          </a:p>
        </p:txBody>
      </p:sp>
    </p:spTree>
    <p:extLst>
      <p:ext uri="{BB962C8B-B14F-4D97-AF65-F5344CB8AC3E}">
        <p14:creationId xmlns:p14="http://schemas.microsoft.com/office/powerpoint/2010/main" val="17743630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答辩时的四个重点">
            <a:extLst xmlns:a="http://schemas.openxmlformats.org/drawingml/2006/main">
              <a:ext uri="{FF2B5EF4-FFF2-40B4-BE49-F238E27FC236}">
                <a16:creationId xmlns:a16="http://schemas.microsoft.com/office/drawing/2014/main" id="{9213407A-41FA-4F6B-A979-7CB151DA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答辩时的四个重点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A3DE314E-F827-41DA-BE0B-CF05EEAF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A80AFF49-4014-4550-BDFD-57B195F9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为什么不直接给安全分">
            <a:extLst xmlns:a="http://schemas.openxmlformats.org/drawingml/2006/main">
              <a:ext uri="{FF2B5EF4-FFF2-40B4-BE49-F238E27FC236}">
                <a16:creationId xmlns:a16="http://schemas.microsoft.com/office/drawing/2014/main" id="{5E02EA11-9ABB-4AA5-83C9-84F75720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为什么不直接给安全分</a:t>
            </a:r>
          </a:p>
        </p:txBody>
      </p:sp>
      <p:sp>
        <p:nvSpPr>
          <p:cNvPr id="5" name="公开记录有范围与时间边界， 缺口不能折算成一个“安全”数字。">
            <a:extLst xmlns:a="http://schemas.openxmlformats.org/drawingml/2006/main">
              <a:ext uri="{FF2B5EF4-FFF2-40B4-BE49-F238E27FC236}">
                <a16:creationId xmlns:a16="http://schemas.microsoft.com/office/drawing/2014/main" id="{131DCCCC-22F6-4DA9-8CCF-30816B10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010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公开记录有范围与时间边界，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缺口不能折算成一个“安全”数字。</a:t>
            </a:r>
          </a:p>
        </p:txBody>
      </p:sp>
      <p:sp>
        <p:nvSpPr>
          <p:cNvPr id="6" name="与普通搜索的区别">
            <a:extLst xmlns:a="http://schemas.openxmlformats.org/drawingml/2006/main">
              <a:ext uri="{FF2B5EF4-FFF2-40B4-BE49-F238E27FC236}">
                <a16:creationId xmlns:a16="http://schemas.microsoft.com/office/drawing/2014/main" id="{7BC42755-C192-4F10-8312-B67AA508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09725"/>
            <a:ext cx="4943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与普通搜索的区别</a:t>
            </a:r>
          </a:p>
        </p:txBody>
      </p:sp>
      <p:sp>
        <p:nvSpPr>
          <p:cNvPr id="7" name="围绕一次需求组织证据， 保留宣称对照、出处和版本变化。">
            <a:extLst xmlns:a="http://schemas.openxmlformats.org/drawingml/2006/main">
              <a:ext uri="{FF2B5EF4-FFF2-40B4-BE49-F238E27FC236}">
                <a16:creationId xmlns:a16="http://schemas.microsoft.com/office/drawing/2014/main" id="{D1A17E10-AB34-4BD3-9528-8C4CDAFE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90750"/>
            <a:ext cx="4943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围绕一次需求组织证据，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保留宣称对照、出处和版本变化。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A03D7-6E79-4720-8AAC-8995C678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CCB4"/>
            </a:solidFill>
          </a:ln>
        </p:spPr>
      </p:sp>
      <p:sp>
        <p:nvSpPr>
          <p:cNvPr id="9" name="数据不完整时怎么办">
            <a:extLst xmlns:a="http://schemas.openxmlformats.org/drawingml/2006/main">
              <a:ext uri="{FF2B5EF4-FFF2-40B4-BE49-F238E27FC236}">
                <a16:creationId xmlns:a16="http://schemas.microsoft.com/office/drawing/2014/main" id="{899FB949-FCC3-42E9-B59C-0751D769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数据不完整时怎么办</a:t>
            </a:r>
          </a:p>
        </p:txBody>
      </p:sp>
      <p:sp>
        <p:nvSpPr>
          <p:cNvPr id="10" name="四类状态分开，列出待确认事项， 补材料后继续研究。">
            <a:extLst xmlns:a="http://schemas.openxmlformats.org/drawingml/2006/main">
              <a:ext uri="{FF2B5EF4-FFF2-40B4-BE49-F238E27FC236}">
                <a16:creationId xmlns:a16="http://schemas.microsoft.com/office/drawing/2014/main" id="{A52CE970-6966-454F-9061-2790B466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5010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四类状态分开，列出待确认事项，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补材料后继续研究。</a:t>
            </a:r>
          </a:p>
        </p:txBody>
      </p:sp>
      <p:sp>
        <p:nvSpPr>
          <p:cNvPr id="11" name="下一步先验证什么">
            <a:extLst xmlns:a="http://schemas.openxmlformats.org/drawingml/2006/main">
              <a:ext uri="{FF2B5EF4-FFF2-40B4-BE49-F238E27FC236}">
                <a16:creationId xmlns:a16="http://schemas.microsoft.com/office/drawing/2014/main" id="{F9512733-D5B1-46EC-BF5A-4FEA422B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43350"/>
            <a:ext cx="4943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下一步先验证什么</a:t>
            </a:r>
          </a:p>
        </p:txBody>
      </p:sp>
      <p:sp>
        <p:nvSpPr>
          <p:cNvPr id="12" name="在网点沟通中验证：用户能否读懂 依据与缺口，柜员能否说清下一步。">
            <a:extLst xmlns:a="http://schemas.openxmlformats.org/drawingml/2006/main">
              <a:ext uri="{FF2B5EF4-FFF2-40B4-BE49-F238E27FC236}">
                <a16:creationId xmlns:a16="http://schemas.microsoft.com/office/drawing/2014/main" id="{75AD17F1-6612-4350-A93C-13CDE05B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24375"/>
            <a:ext cx="4943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在网点沟通中验证：用户能否读懂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依据与缺口，柜员能否说清下一步。</a:t>
            </a:r>
          </a:p>
        </p:txBody>
      </p:sp>
    </p:spTree>
    <p:extLst>
      <p:ext uri="{BB962C8B-B14F-4D97-AF65-F5344CB8AC3E}">
        <p14:creationId xmlns:p14="http://schemas.microsoft.com/office/powerpoint/2010/main" val="163353570"/>
      </p:ext>
    </p:extLst>
  </p:cSld>
</p:sld>
</file>

<file path=ppt/theme/theme1.xml><?xml version="1.0" encoding="utf-8"?>
<a:theme xmlns:a="http://schemas.openxmlformats.org/drawingml/2006/main" name="ChatGPT">
  <a:themeElements>
    <a:clrScheme name="企er 黄铜蓝柜">
      <a:dk1>
        <a:srgbClr val="29333A"/>
      </a:dk1>
      <a:lt1>
        <a:srgbClr val="F7F0E0"/>
      </a:lt1>
      <a:dk2>
        <a:srgbClr val="222E39"/>
      </a:dk2>
      <a:lt2>
        <a:srgbClr val="EDE2CD"/>
      </a:lt2>
      <a:accent1>
        <a:srgbClr val="B88B4C"/>
      </a:accent1>
      <a:accent2>
        <a:srgbClr val="E2BC78"/>
      </a:accent2>
      <a:accent3>
        <a:srgbClr val="527A80"/>
      </a:accent3>
      <a:accent4>
        <a:srgbClr val="A44738"/>
      </a:accent4>
      <a:accent5>
        <a:srgbClr val="506348"/>
      </a:accent5>
      <a:accent6>
        <a:srgbClr val="795037"/>
      </a:accent6>
      <a:hlink>
        <a:srgbClr val="527A80"/>
      </a:hlink>
      <a:folHlink>
        <a:srgbClr val="79503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企er 黄铜蓝柜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2026-10-02T23:00:26.6680000Z</dcterms:created>
  <dcterms:modified xsi:type="dcterms:W3CDTF">2026-10-02T23:00:26.6680000Z</dcterms:modified>
</coreProperties>
</file>