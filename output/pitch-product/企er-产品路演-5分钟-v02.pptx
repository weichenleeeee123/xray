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b4334014814c38" /><Relationship Type="http://schemas.openxmlformats.org/officeDocument/2006/relationships/extended-properties" Target="/docProps/app.xml" Id="R21dd5259df8d4f50" /><Relationship Type="http://schemas.openxmlformats.org/officeDocument/2006/relationships/officeDocument" Target="/ppt/presentation.xml" Id="R8e2d188699994c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ad6b5e848f41b7"/>
  </p:sldMasterIdLst>
  <p:notesMasterIdLst>
    <p:notesMasterId xmlns:r="http://schemas.openxmlformats.org/officeDocument/2006/relationships" r:id="Rd67a3d4fc169400f"/>
  </p:notesMasterIdLst>
  <p:sldIdLst>
    <p:sldId xmlns:r="http://schemas.openxmlformats.org/officeDocument/2006/relationships" id="256" r:id="R40d011d360594412"/>
    <p:sldId xmlns:r="http://schemas.openxmlformats.org/officeDocument/2006/relationships" id="257" r:id="Rffd8af87e67740de"/>
    <p:sldId xmlns:r="http://schemas.openxmlformats.org/officeDocument/2006/relationships" id="258" r:id="R87c817bccdf945ae"/>
    <p:sldId xmlns:r="http://schemas.openxmlformats.org/officeDocument/2006/relationships" id="259" r:id="Re87205ac83184734"/>
    <p:sldId xmlns:r="http://schemas.openxmlformats.org/officeDocument/2006/relationships" id="260" r:id="R0c3dcc1f9cca4909"/>
    <p:sldId xmlns:r="http://schemas.openxmlformats.org/officeDocument/2006/relationships" id="261" r:id="Re67fb15679b64b6e"/>
    <p:sldId xmlns:r="http://schemas.openxmlformats.org/officeDocument/2006/relationships" id="262" r:id="R11421dfb7d91435b"/>
    <p:sldId xmlns:r="http://schemas.openxmlformats.org/officeDocument/2006/relationships" id="263" r:id="Re4d40168cb1e47fc"/>
    <p:sldId xmlns:r="http://schemas.openxmlformats.org/officeDocument/2006/relationships" id="264" r:id="R9720f9ac8e614a5a"/>
    <p:sldId xmlns:r="http://schemas.openxmlformats.org/officeDocument/2006/relationships" id="265" r:id="R3c206f8173924df6"/>
    <p:sldId xmlns:r="http://schemas.openxmlformats.org/officeDocument/2006/relationships" id="266" r:id="Rb4ee069e31be4bda"/>
    <p:sldId xmlns:r="http://schemas.openxmlformats.org/officeDocument/2006/relationships" id="267" r:id="Rbb213f3bac7e48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69efacd199450f" /><Relationship Type="http://schemas.openxmlformats.org/officeDocument/2006/relationships/slideMaster" Target="/ppt/slideMasters/slideMaster1.xml" Id="Rd8ad6b5e848f41b7" /><Relationship Type="http://schemas.openxmlformats.org/officeDocument/2006/relationships/notesMaster" Target="/ppt/notesMasters/notesMaster1.xml" Id="Rd67a3d4fc169400f" /><Relationship Type="http://schemas.openxmlformats.org/officeDocument/2006/relationships/presProps" Target="/ppt/presProps.xml" Id="Rfb543d53396549a4" /><Relationship Type="http://schemas.openxmlformats.org/officeDocument/2006/relationships/tableStyles" Target="/ppt/tableStyles.xml" Id="Rb275fea13be64732" /><Relationship Type="http://schemas.openxmlformats.org/officeDocument/2006/relationships/slide" Target="/ppt/slides/slide1.xml" Id="R40d011d360594412" /><Relationship Type="http://schemas.openxmlformats.org/officeDocument/2006/relationships/slide" Target="/ppt/slides/slide2.xml" Id="Rffd8af87e67740de" /><Relationship Type="http://schemas.openxmlformats.org/officeDocument/2006/relationships/slide" Target="/ppt/slides/slide3.xml" Id="R87c817bccdf945ae" /><Relationship Type="http://schemas.openxmlformats.org/officeDocument/2006/relationships/slide" Target="/ppt/slides/slide4.xml" Id="Re87205ac83184734" /><Relationship Type="http://schemas.openxmlformats.org/officeDocument/2006/relationships/slide" Target="/ppt/slides/slide5.xml" Id="R0c3dcc1f9cca4909" /><Relationship Type="http://schemas.openxmlformats.org/officeDocument/2006/relationships/slide" Target="/ppt/slides/slide6.xml" Id="Re67fb15679b64b6e" /><Relationship Type="http://schemas.openxmlformats.org/officeDocument/2006/relationships/slide" Target="/ppt/slides/slide7.xml" Id="R11421dfb7d91435b" /><Relationship Type="http://schemas.openxmlformats.org/officeDocument/2006/relationships/slide" Target="/ppt/slides/slide8.xml" Id="Re4d40168cb1e47fc" /><Relationship Type="http://schemas.openxmlformats.org/officeDocument/2006/relationships/slide" Target="/ppt/slides/slide9.xml" Id="R9720f9ac8e614a5a" /><Relationship Type="http://schemas.openxmlformats.org/officeDocument/2006/relationships/slide" Target="/ppt/slides/slide10.xml" Id="R3c206f8173924df6" /><Relationship Type="http://schemas.openxmlformats.org/officeDocument/2006/relationships/slide" Target="/ppt/slides/slide11.xml" Id="Rb4ee069e31be4bda" /><Relationship Type="http://schemas.openxmlformats.org/officeDocument/2006/relationships/slide" Target="/ppt/slides/slide12.xml" Id="Rbb213f3bac7e48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fac349d24249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企er 黄铜蓝柜">
      <a:dk1>
        <a:srgbClr val="29333A"/>
      </a:dk1>
      <a:lt1>
        <a:srgbClr val="F7F0E0"/>
      </a:lt1>
      <a:dk2>
        <a:srgbClr val="222E39"/>
      </a:dk2>
      <a:lt2>
        <a:srgbClr val="EDE2CD"/>
      </a:lt2>
      <a:accent1>
        <a:srgbClr val="B88B4C"/>
      </a:accent1>
      <a:accent2>
        <a:srgbClr val="E2BC78"/>
      </a:accent2>
      <a:accent3>
        <a:srgbClr val="527A80"/>
      </a:accent3>
      <a:accent4>
        <a:srgbClr val="A44738"/>
      </a:accent4>
      <a:accent5>
        <a:srgbClr val="506348"/>
      </a:accent5>
      <a:accent6>
        <a:srgbClr val="795037"/>
      </a:accent6>
      <a:hlink>
        <a:srgbClr val="527A80"/>
      </a:hlink>
      <a:folHlink>
        <a:srgbClr val="79503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企er 黄铜蓝柜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47996c53cf47f9" /><Relationship Type="http://schemas.openxmlformats.org/officeDocument/2006/relationships/notesMaster" Target="/ppt/notesMasters/notesMaster1.xml" Id="R50dffaffbe0d44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b536f9f25e4bf1" /><Relationship Type="http://schemas.openxmlformats.org/officeDocument/2006/relationships/notesMaster" Target="/ppt/notesMasters/notesMaster1.xml" Id="R3e93034d398e4b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a1d57945044181" /><Relationship Type="http://schemas.openxmlformats.org/officeDocument/2006/relationships/notesMaster" Target="/ppt/notesMasters/notesMaster1.xml" Id="R974bb208060448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cccb495cf74ee6" /><Relationship Type="http://schemas.openxmlformats.org/officeDocument/2006/relationships/notesMaster" Target="/ppt/notesMasters/notesMaster1.xml" Id="Rf175b4ab3e5341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63a8f722374ec7" /><Relationship Type="http://schemas.openxmlformats.org/officeDocument/2006/relationships/notesMaster" Target="/ppt/notesMasters/notesMaster1.xml" Id="Ra5113e74c3b843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e729101cd74955" /><Relationship Type="http://schemas.openxmlformats.org/officeDocument/2006/relationships/notesMaster" Target="/ppt/notesMasters/notesMaster1.xml" Id="R9547d4f841df4f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b8865047464e5d" /><Relationship Type="http://schemas.openxmlformats.org/officeDocument/2006/relationships/notesMaster" Target="/ppt/notesMasters/notesMaster1.xml" Id="R709924fc7a6e4a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6e356c22144c49" /><Relationship Type="http://schemas.openxmlformats.org/officeDocument/2006/relationships/notesMaster" Target="/ppt/notesMasters/notesMaster1.xml" Id="Rd435e8c07e0a4a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b092e8a7f94c2f" /><Relationship Type="http://schemas.openxmlformats.org/officeDocument/2006/relationships/notesMaster" Target="/ppt/notesMasters/notesMaster1.xml" Id="Raac50ae4902940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3204552f07422e" /><Relationship Type="http://schemas.openxmlformats.org/officeDocument/2006/relationships/notesMaster" Target="/ppt/notesMasters/notesMaster1.xml" Id="Rbae2a6589e8a45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3c542fdb5540ff" /><Relationship Type="http://schemas.openxmlformats.org/officeDocument/2006/relationships/notesMaster" Target="/ppt/notesMasters/notesMaster1.xml" Id="R1cfa2353de9d4c2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5b3ea2d2704348" /><Relationship Type="http://schemas.openxmlformats.org/officeDocument/2006/relationships/notesMaster" Target="/ppt/notesMasters/notesMaster1.xml" Id="Rb5803e9ef78642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15 秒】</a:t>
            </a:r>
          </a:p>
          <a:p xmlns:a="http://schemas.openxmlformats.org/drawingml/2006/main">
            <a:r>
              <a:t>大家好，我们做的是企 er，一个有出处的企业研究助手。把钱或信任交给一家公司之前，用户最需要的，是弄清这次决定有哪些依据，还有什么没确认。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README.md 开头与底线；docs/2026-10-03-qier-color-palette.md。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30 秒】</a:t>
            </a:r>
          </a:p>
          <a:p xmlns:a="http://schemas.openxmlformats.org/drawingml/2006/main">
            <a:r>
              <a:t>一个人准备买理财、接受 offer，或者找一家公司合作，通常已经看过不少介绍。但宣传、登记、年报和新闻分散在不同地方。查到一个数字，未必知道是不是同一家主体、是不是同一个时间点，更不知道它对这次决定意味着什么。企 er 要解决的，就是从一堆资料到一个具体判断之间的这段距离。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docs/2026-10-02-xray-hackathon-prd.md 第 0–3 节。场景为产品定位，未声称用户调研结果。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30 秒】</a:t>
            </a:r>
          </a:p>
          <a:p xmlns:a="http://schemas.openxmlformats.org/drawingml/2006/main">
            <a:r>
              <a:t>入口只需要公司全称。用户愿意的话，再说一句这次要做什么，例如替家人了解一笔理财，或核实刚收到的 offer。有宣传材料、合同，也可以一起提交。系统把资料汇进同一个案卷，需求决定先看哪些事项。首页的小企会跟着真实查询阶段工作，报告保存好以后，才出现完成入口。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README.md 快速开始；research-room/app；backend/app/models.py。画面中的案例仅说明输入方式。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35 秒】</a:t>
            </a:r>
          </a:p>
          <a:p xmlns:a="http://schemas.openxmlformats.org/drawingml/2006/main">
            <a:r>
              <a:t>报告先回答这次最关心的问题。理财时先看收款主体和相关资格，求职时关注签约主体、劳动记录和是否要求先交钱。用户先读一页结论，再看财务、信用、风险、口碑四个信号。需要核对时，继续展开宣称与记录，以及原始资料。这样的层次，让家人先看懂重点，也让想深入核实的人找到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backend/app/scenarios；backend/app/analysis/report.py；README.md。需求影响核验范围、排序和措辞，不声称覆盖所有资料。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35 秒】</a:t>
            </a:r>
          </a:p>
          <a:p xmlns:a="http://schemas.openxmlformats.org/drawingml/2006/main">
            <a:r>
              <a:t>这里用一段材料说明产品怎么工作。系统保留对方的原话，把能核对的说法逐条列出，再展示相关记录和规则判断。用户可以看到哪里相符、哪里有差异，也能看到哪些说法还无法核验。对照时，要同时核对主体、日期和指标口径。比如集团的信息，不能直接算到收款公司身上。材料里写了什么，也不等于事实已经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backend/app/models.py Verdict；backend/app/analysis/verify.py；docs/demo-runbook.md 对主体、日期与口径的说明。此页只证明对照功能，不提供对截图公司的新判断。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35 秒】</a:t>
            </a:r>
          </a:p>
          <a:p xmlns:a="http://schemas.openxmlformats.org/drawingml/2006/main">
            <a:r>
              <a:t>一份可信的报告，还必须把空白讲明白。查到了，表示这个来源有记录。查了没有，表示在本次范围内没有匹配记录。没查，表示数据源没有覆盖，或者这次没有执行。查询失败，则表示请求没有成功。这四种情况不能混在一起。企 er 会保留来源和时间，让用户知道结论能说到哪里。尤其是未覆盖，不能被读成正常。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backend/app/models.py Coverage；backend/app/analysis/gaps.py；README.md 底线。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35 秒】</a:t>
            </a:r>
          </a:p>
          <a:p xmlns:a="http://schemas.openxmlformats.org/drawingml/2006/main">
            <a:r>
              <a:t>如果用户看不懂某一条，可以选中它，再问小企。助手基于当前案卷和所选版本解释，关键事实带出处，点击引用能回到依据。程序检查出处是否存在，引文能否在原文找到，越界内容会拒绝或重写。规则负责给出判定，AI 帮人理解材料和结果。聊天里出现新情况，也不会悄悄改报告，用户需要把它加入案卷。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backend/app/assistant.py；backend/tests/test_assistant_grounding_rewrite.py；README.md。校验是具体边界措施，不代表零幻觉保证。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35 秒】</a:t>
            </a:r>
          </a:p>
          <a:p xmlns:a="http://schemas.openxmlformats.org/drawingml/2006/main">
            <a:r>
              <a:t>实际判断很少一次结束。对方补了一份协议，用户收到新的回复，或者自己的需求变了，都可以继续补充。系统保留原来的版本，再生成新报告，并逐项说明哪里变了、为什么变，哪些保持不变。证据仍不足，也会继续写明。旧回答的引用会回到原来的版本，所以用户能复盘当时基于什么材料得出那条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backend/app/analysis/diff.py；backend/app/analysis/judgments.py；backend/app/models.py Version；docs/demo-runbook.md 旧版引用验收。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35 秒】</a:t>
            </a:r>
          </a:p>
          <a:p xmlns:a="http://schemas.openxmlformats.org/drawingml/2006/main">
            <a:r>
              <a:t>对个人，企 er 把查到的依据、还缺的资料和该问的问题放进一页报告，方便和家人一起讨论。对银行网点，现有的提示单可以作为沟通材料，帮助柜员把需要确认的事项讲具体。我们希望先验证这样一段沟通，能否帮助用户读懂来源、识别缺口，再决定补什么材料。它提供研究依据，最终决策仍由人作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backend/app/analysis/report.py onepager family/teller；docs/2026-10-02-xray-hackathon-prd.md 第 12 节。网点使用是拟验证方向，未声称客户采用或银行接入。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15 秒】</a:t>
            </a:r>
          </a:p>
          <a:p xmlns:a="http://schemas.openxmlformats.org/drawingml/2006/main">
            <a:r>
              <a:t>企 er 把一次查询接成一份可以追问、补充和回看的案卷。把钱或信任交出去前，先把依据看清楚。谢谢大家。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README.md 产品主线。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0 秒】</a:t>
            </a:r>
          </a:p>
          <a:p xmlns:a="http://schemas.openxmlformats.org/drawingml/2006/main">
            <a:r>
              <a:t>答辩备用页，不计入五分钟主讲。说明数据、规则和 AI 各自承担的工作。联网来源受接口配置、查询时间和覆盖范围限制。产品不打安全分，也不对企业作安全担保。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README.md 数据与底线；backend/app/models.py；backend/app/assistant.py。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【主讲 0 秒】</a:t>
            </a:r>
          </a:p>
          <a:p xmlns:a="http://schemas.openxmlformats.org/drawingml/2006/main">
            <a:r>
              <a:t>答辩备用页，不计入五分钟主讲。问到商业化时，先讲拟验证的网点沟通场景，不声称已有客户、收费、合作或效果数字。问到数据完整性时，区分未覆盖和未匹配，明确公开记录的能力边界。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【来源与口径】</a:t>
            </a:r>
          </a:p>
          <a:p xmlns:a="http://schemas.openxmlformats.org/drawingml/2006/main">
            <a:r>
              <a:t>README.md；docs/2026-10-02-xray-hackathon-prd.md 第 12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3218709a9844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eed92e10764924" /><Relationship Type="http://schemas.openxmlformats.org/officeDocument/2006/relationships/slideLayout" Target="/ppt/slideLayouts/slideLayout1.xml" Id="R46c7c62e035e4c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c7c62e035e4c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企er 黄铜蓝柜">
      <a:dk1>
        <a:srgbClr val="29333A"/>
      </a:dk1>
      <a:lt1>
        <a:srgbClr val="F7F0E0"/>
      </a:lt1>
      <a:dk2>
        <a:srgbClr val="222E39"/>
      </a:dk2>
      <a:lt2>
        <a:srgbClr val="EDE2CD"/>
      </a:lt2>
      <a:accent1>
        <a:srgbClr val="B88B4C"/>
      </a:accent1>
      <a:accent2>
        <a:srgbClr val="E2BC78"/>
      </a:accent2>
      <a:accent3>
        <a:srgbClr val="527A80"/>
      </a:accent3>
      <a:accent4>
        <a:srgbClr val="A44738"/>
      </a:accent4>
      <a:accent5>
        <a:srgbClr val="506348"/>
      </a:accent5>
      <a:accent6>
        <a:srgbClr val="795037"/>
      </a:accent6>
      <a:hlink>
        <a:srgbClr val="527A80"/>
      </a:hlink>
      <a:folHlink>
        <a:srgbClr val="79503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企er 黄铜蓝柜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8d7e24a5045f1" /><Relationship Type="http://schemas.openxmlformats.org/officeDocument/2006/relationships/image" Target="/ppt/media/image.png" Id="Rbd3e61d715b74ff6" /><Relationship Type="http://schemas.openxmlformats.org/officeDocument/2006/relationships/notesSlide" Target="/ppt/notesSlides/notesSlide1.xml" Id="R429a1af5b4da4d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6e8041cfc40de" /><Relationship Type="http://schemas.openxmlformats.org/officeDocument/2006/relationships/notesSlide" Target="/ppt/notesSlides/notesSlide2.xml" Id="R55488fec38704a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cabb39d50448c" /><Relationship Type="http://schemas.openxmlformats.org/officeDocument/2006/relationships/image" Target="/ppt/media/image.jpeg" Id="R12556aa7bf3440d6" /><Relationship Type="http://schemas.openxmlformats.org/officeDocument/2006/relationships/notesSlide" Target="/ppt/notesSlides/notesSlide3.xml" Id="Re854769e3cf04b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0d0d629a543d3" /><Relationship Type="http://schemas.openxmlformats.org/officeDocument/2006/relationships/image" Target="/ppt/media/image2.jpeg" Id="R17fffb0929934209" /><Relationship Type="http://schemas.openxmlformats.org/officeDocument/2006/relationships/notesSlide" Target="/ppt/notesSlides/notesSlide4.xml" Id="Rc1d5e1bfbbfe4e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1f4fb23264d66" /><Relationship Type="http://schemas.openxmlformats.org/officeDocument/2006/relationships/image" Target="/ppt/media/image3.jpeg" Id="Rf77e4f17618844f2" /><Relationship Type="http://schemas.openxmlformats.org/officeDocument/2006/relationships/notesSlide" Target="/ppt/notesSlides/notesSlide5.xml" Id="R717092c2553f42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a3109fda74277" /><Relationship Type="http://schemas.openxmlformats.org/officeDocument/2006/relationships/notesSlide" Target="/ppt/notesSlides/notesSlide6.xml" Id="R7329d806069040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2fb2dec8842f5" /><Relationship Type="http://schemas.openxmlformats.org/officeDocument/2006/relationships/image" Target="/ppt/media/image4.jpeg" Id="Ref70895f73b544eb" /><Relationship Type="http://schemas.openxmlformats.org/officeDocument/2006/relationships/notesSlide" Target="/ppt/notesSlides/notesSlide7.xml" Id="R86682e9f30a542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51a61c9974265" /><Relationship Type="http://schemas.openxmlformats.org/officeDocument/2006/relationships/notesSlide" Target="/ppt/notesSlides/notesSlide8.xml" Id="R7fda006c3a6a44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856f5f710437f" /><Relationship Type="http://schemas.openxmlformats.org/officeDocument/2006/relationships/notesSlide" Target="/ppt/notesSlides/notesSlide9.xml" Id="Re69cfdf62d844e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35a60579544af" /><Relationship Type="http://schemas.openxmlformats.org/officeDocument/2006/relationships/image" Target="/ppt/media/image2.png" Id="R5b6df37ce7574b63" /><Relationship Type="http://schemas.openxmlformats.org/officeDocument/2006/relationships/notesSlide" Target="/ppt/notesSlides/notesSlide10.xml" Id="Rb43a25583201430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4698754634113" /><Relationship Type="http://schemas.openxmlformats.org/officeDocument/2006/relationships/notesSlide" Target="/ppt/notesSlides/notesSlide11.xml" Id="R4485cf0165614df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7dec06ff3499f" /><Relationship Type="http://schemas.openxmlformats.org/officeDocument/2006/relationships/notesSlide" Target="/ppt/notesSlides/notesSlide12.xml" Id="Rdb3d8f34378e42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2A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企er">
            <a:extLst xmlns:a="http://schemas.openxmlformats.org/drawingml/2006/main">
              <a:ext uri="{FF2B5EF4-FFF2-40B4-BE49-F238E27FC236}">
                <a16:creationId xmlns:a16="http://schemas.microsoft.com/office/drawing/2014/main" id="{761A2874-65D6-406F-B5D5-071E9CE9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2" name="1">
            <a:extLst xmlns:a="http://schemas.openxmlformats.org/drawingml/2006/main">
              <a:ext uri="{FF2B5EF4-FFF2-40B4-BE49-F238E27FC236}">
                <a16:creationId xmlns:a16="http://schemas.microsoft.com/office/drawing/2014/main" id="{B8BD31F8-6C26-4066-8DD2-DFB36531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436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e61d715b74ff6"/>
          <a:stretch xmlns:a="http://schemas.openxmlformats.org/drawingml/2006/main"/>
        </p:blipFill>
        <p:spPr>
          <a:xfrm xmlns:a="http://schemas.openxmlformats.org/drawingml/2006/main">
            <a:off x="5982166" y="0"/>
            <a:ext cx="6209369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企er">
            <a:extLst xmlns:a="http://schemas.openxmlformats.org/drawingml/2006/main">
              <a:ext uri="{FF2B5EF4-FFF2-40B4-BE49-F238E27FC236}">
                <a16:creationId xmlns:a16="http://schemas.microsoft.com/office/drawing/2014/main" id="{049B1FF9-847F-4051-9BA1-D6BB9266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5095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0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5" name="有出处的 企业研究助手">
            <a:extLst xmlns:a="http://schemas.openxmlformats.org/drawingml/2006/main">
              <a:ext uri="{FF2B5EF4-FFF2-40B4-BE49-F238E27FC236}">
                <a16:creationId xmlns:a16="http://schemas.microsoft.com/office/drawing/2014/main" id="{5098F4DE-9E8F-47E1-8857-76EB21C9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5095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rPr>
              <a:t>有出处的</a:t>
            </a:r>
          </a:p>
          <a:p xmlns:a="http://schemas.openxmlformats.org/drawingml/2006/main">
            <a:pPr>
              <a:defRPr sz="4050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rPr>
              <a:t>企业研究助手</a:t>
            </a:r>
          </a:p>
        </p:txBody>
      </p:sp>
      <p:sp>
        <p:nvSpPr>
          <p:cNvPr id="6" name="把钱或信任交出去前， 先把依据看清楚">
            <a:extLst xmlns:a="http://schemas.openxmlformats.org/drawingml/2006/main">
              <a:ext uri="{FF2B5EF4-FFF2-40B4-BE49-F238E27FC236}">
                <a16:creationId xmlns:a16="http://schemas.microsoft.com/office/drawing/2014/main" id="{FF2C3E1A-E287-4B58-9357-795185DA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00062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rPr>
              <a:t>把钱或信任交出去前，</a:t>
            </a:r>
          </a:p>
          <a:p xmlns:a="http://schemas.openxmlformats.org/drawingml/2006/main">
            <a:pPr>
              <a:defRPr sz="2250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rPr>
              <a:t>先把依据看清楚</a:t>
            </a:r>
          </a:p>
        </p:txBody>
      </p:sp>
      <p:sp>
        <p:nvSpPr>
          <p:cNvPr id="7" name="回响48H 黑客松  杭州银行「X-Ray 透视·真相」">
            <a:extLst xmlns:a="http://schemas.openxmlformats.org/drawingml/2006/main">
              <a:ext uri="{FF2B5EF4-FFF2-40B4-BE49-F238E27FC236}">
                <a16:creationId xmlns:a16="http://schemas.microsoft.com/office/drawing/2014/main" id="{53E9E0D1-841C-4D8C-B46A-0121E6E1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625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rPr>
              <a:t>回响48H 黑客松  杭州银行「X-Ray 透视·真相」</a:t>
            </a:r>
          </a:p>
        </p:txBody>
      </p:sp>
    </p:spTree>
    <p:extLst>
      <p:ext uri="{BB962C8B-B14F-4D97-AF65-F5344CB8AC3E}">
        <p14:creationId xmlns:p14="http://schemas.microsoft.com/office/powerpoint/2010/main" val="11088359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托付之前的判断难题">
            <a:extLst xmlns:a="http://schemas.openxmlformats.org/drawingml/2006/main">
              <a:ext uri="{FF2B5EF4-FFF2-40B4-BE49-F238E27FC236}">
                <a16:creationId xmlns:a16="http://schemas.microsoft.com/office/drawing/2014/main" id="{2CBAECB1-B924-4306-B5D5-2A8EADA7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托付之前的判断难题</a:t>
            </a:r>
          </a:p>
        </p:txBody>
      </p:sp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07044683-9969-4180-B51F-4E3EF7FB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2">
            <a:extLst xmlns:a="http://schemas.openxmlformats.org/drawingml/2006/main">
              <a:ext uri="{FF2B5EF4-FFF2-40B4-BE49-F238E27FC236}">
                <a16:creationId xmlns:a16="http://schemas.microsoft.com/office/drawing/2014/main" id="{26C4711A-7E97-45E1-B5E2-6ABA230F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436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" name="资料已经很多， 哪些与这次决定有关？">
            <a:extLst xmlns:a="http://schemas.openxmlformats.org/drawingml/2006/main">
              <a:ext uri="{FF2B5EF4-FFF2-40B4-BE49-F238E27FC236}">
                <a16:creationId xmlns:a16="http://schemas.microsoft.com/office/drawing/2014/main" id="{FF2D638F-E5CA-42F7-B9AC-0CDA30CE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资料已经很多，</a:t>
            </a:r>
          </a:p>
          <a:p xmlns:a="http://schemas.openxmlformats.org/drawingml/2006/main">
            <a:pPr>
              <a:defRPr sz="43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哪些与这次决定有关？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99DDA-52E1-4429-AA94-26499147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CCB4"/>
            </a:solidFill>
          </a:ln>
        </p:spPr>
      </p:sp>
      <p:sp>
        <p:nvSpPr>
          <p:cNvPr id="6" name="信息散在各处">
            <a:extLst xmlns:a="http://schemas.openxmlformats.org/drawingml/2006/main">
              <a:ext uri="{FF2B5EF4-FFF2-40B4-BE49-F238E27FC236}">
                <a16:creationId xmlns:a16="http://schemas.microsoft.com/office/drawing/2014/main" id="{330B62B3-0223-4C9F-AF81-0462C3C4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信息散在各处</a:t>
            </a:r>
          </a:p>
        </p:txBody>
      </p:sp>
      <p:sp>
        <p:nvSpPr>
          <p:cNvPr id="7" name="公司介绍、登记、年报和新闻 需要放在一起核对">
            <a:extLst xmlns:a="http://schemas.openxmlformats.org/drawingml/2006/main">
              <a:ext uri="{FF2B5EF4-FFF2-40B4-BE49-F238E27FC236}">
                <a16:creationId xmlns:a16="http://schemas.microsoft.com/office/drawing/2014/main" id="{43732137-18C3-4B45-A299-AAF586D3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4476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公司介绍、登记、年报和新闻</a:t>
            </a:r>
          </a:p>
          <a:p xmlns:a="http://schemas.openxmlformats.org/drawingml/2006/main">
            <a:pPr>
              <a:def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需要放在一起核对</a:t>
            </a:r>
          </a:p>
        </p:txBody>
      </p:sp>
      <p:sp>
        <p:nvSpPr>
          <p:cNvPr id="8" name="记录还需要读懂">
            <a:extLst xmlns:a="http://schemas.openxmlformats.org/drawingml/2006/main">
              <a:ext uri="{FF2B5EF4-FFF2-40B4-BE49-F238E27FC236}">
                <a16:creationId xmlns:a16="http://schemas.microsoft.com/office/drawing/2014/main" id="{50AC639D-9644-40DA-8667-0343BC04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9525"/>
            <a:ext cx="452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记录还需要读懂</a:t>
            </a:r>
          </a:p>
        </p:txBody>
      </p:sp>
      <p:sp>
        <p:nvSpPr>
          <p:cNvPr id="9" name="主体、时间和指标口径 会影响它能支持什么判断">
            <a:extLst xmlns:a="http://schemas.openxmlformats.org/drawingml/2006/main">
              <a:ext uri="{FF2B5EF4-FFF2-40B4-BE49-F238E27FC236}">
                <a16:creationId xmlns:a16="http://schemas.microsoft.com/office/drawing/2014/main" id="{FA721D35-731C-4DE4-808B-C36D1F77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9600"/>
            <a:ext cx="4524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主体、时间和指标口径</a:t>
            </a:r>
          </a:p>
          <a:p xmlns:a="http://schemas.openxmlformats.org/drawingml/2006/main">
            <a:pPr>
              <a:def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会影响它能支持什么判断</a:t>
            </a:r>
          </a:p>
        </p:txBody>
      </p:sp>
    </p:spTree>
    <p:extLst>
      <p:ext uri="{BB962C8B-B14F-4D97-AF65-F5344CB8AC3E}">
        <p14:creationId xmlns:p14="http://schemas.microsoft.com/office/powerpoint/2010/main" val="8201709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公司全称，加一句需求">
            <a:extLst xmlns:a="http://schemas.openxmlformats.org/drawingml/2006/main">
              <a:ext uri="{FF2B5EF4-FFF2-40B4-BE49-F238E27FC236}">
                <a16:creationId xmlns:a16="http://schemas.microsoft.com/office/drawing/2014/main" id="{6CA3E3C3-C4CA-4C2F-91FA-F05AE01C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公司全称，加一句需求</a:t>
            </a:r>
          </a:p>
        </p:txBody>
      </p:sp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1949C468-2CB6-48BB-9114-499455B6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3">
            <a:extLst xmlns:a="http://schemas.openxmlformats.org/drawingml/2006/main">
              <a:ext uri="{FF2B5EF4-FFF2-40B4-BE49-F238E27FC236}">
                <a16:creationId xmlns:a16="http://schemas.microsoft.com/office/drawing/2014/main" id="{C89748FA-8443-41D2-A7DC-4C0A9A12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436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556aa7bf3440d6"/>
          <a:stretch xmlns:a="http://schemas.openxmlformats.org/drawingml/2006/main"/>
        </p:blipFill>
        <p:spPr>
          <a:xfrm xmlns:a="http://schemas.openxmlformats.org/drawingml/2006/main">
            <a:off x="647700" y="1594247"/>
            <a:ext cx="7810500" cy="4393406"/>
          </a:xfrm>
          <a:prstGeom xmlns:a="http://schemas.openxmlformats.org/drawingml/2006/main" prst="rect">
            <a:avLst/>
          </a:prstGeom>
        </p:spPr>
      </p:pic>
      <p:sp>
        <p:nvSpPr>
          <p:cNvPr id="5" name="公司全称">
            <a:extLst xmlns:a="http://schemas.openxmlformats.org/drawingml/2006/main">
              <a:ext uri="{FF2B5EF4-FFF2-40B4-BE49-F238E27FC236}">
                <a16:creationId xmlns:a16="http://schemas.microsoft.com/office/drawing/2014/main" id="{1C8B34F7-8F0B-4140-8C67-B3CAB481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76400"/>
            <a:ext cx="270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公司全称</a:t>
            </a:r>
          </a:p>
        </p:txBody>
      </p:sp>
      <p:sp>
        <p:nvSpPr>
          <p:cNvPr id="6" name="明确这次查谁">
            <a:extLst xmlns:a="http://schemas.openxmlformats.org/drawingml/2006/main">
              <a:ext uri="{FF2B5EF4-FFF2-40B4-BE49-F238E27FC236}">
                <a16:creationId xmlns:a16="http://schemas.microsoft.com/office/drawing/2014/main" id="{839FFB0D-31DE-46CA-BA87-EE733F74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71700"/>
            <a:ext cx="270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明确这次查谁</a:t>
            </a:r>
          </a:p>
        </p:txBody>
      </p:sp>
      <p:sp>
        <p:nvSpPr>
          <p:cNvPr id="7" name="这次想做什么">
            <a:extLst xmlns:a="http://schemas.openxmlformats.org/drawingml/2006/main">
              <a:ext uri="{FF2B5EF4-FFF2-40B4-BE49-F238E27FC236}">
                <a16:creationId xmlns:a16="http://schemas.microsoft.com/office/drawing/2014/main" id="{457CFAD3-60E5-4581-998D-CA4B10E1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2705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这次想做什么</a:t>
            </a:r>
          </a:p>
        </p:txBody>
      </p:sp>
      <p:sp>
        <p:nvSpPr>
          <p:cNvPr id="8" name="理财、求职或合作 重点随需求改变">
            <a:extLst xmlns:a="http://schemas.openxmlformats.org/drawingml/2006/main">
              <a:ext uri="{FF2B5EF4-FFF2-40B4-BE49-F238E27FC236}">
                <a16:creationId xmlns:a16="http://schemas.microsoft.com/office/drawing/2014/main" id="{66F82892-0404-45B5-9A8E-3006B0BF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76650"/>
            <a:ext cx="27051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理财、求职或合作</a:t>
            </a:r>
          </a:p>
          <a:p xmlns:a="http://schemas.openxmlformats.org/drawingml/2006/main">
            <a:pPr>
              <a:def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重点随需求改变</a:t>
            </a:r>
          </a:p>
        </p:txBody>
      </p:sp>
      <p:sp>
        <p:nvSpPr>
          <p:cNvPr id="9" name="材料可选">
            <a:extLst xmlns:a="http://schemas.openxmlformats.org/drawingml/2006/main">
              <a:ext uri="{FF2B5EF4-FFF2-40B4-BE49-F238E27FC236}">
                <a16:creationId xmlns:a16="http://schemas.microsoft.com/office/drawing/2014/main" id="{FA13DA6D-BA6C-4BE4-BBB5-733C6D7F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101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rPr>
              <a:t>材料可选</a:t>
            </a:r>
          </a:p>
        </p:txBody>
      </p:sp>
      <p:sp>
        <p:nvSpPr>
          <p:cNvPr id="10" name="宣传单、合同、回复">
            <a:extLst xmlns:a="http://schemas.openxmlformats.org/drawingml/2006/main">
              <a:ext uri="{FF2B5EF4-FFF2-40B4-BE49-F238E27FC236}">
                <a16:creationId xmlns:a16="http://schemas.microsoft.com/office/drawing/2014/main" id="{CC8B4230-680E-4EB7-9265-5BF08164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4673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宣传单、合同、回复</a:t>
            </a:r>
          </a:p>
        </p:txBody>
      </p:sp>
    </p:spTree>
    <p:extLst>
      <p:ext uri="{BB962C8B-B14F-4D97-AF65-F5344CB8AC3E}">
        <p14:creationId xmlns:p14="http://schemas.microsoft.com/office/powerpoint/2010/main" val="19728609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报告跟着这次需求组织">
            <a:extLst xmlns:a="http://schemas.openxmlformats.org/drawingml/2006/main">
              <a:ext uri="{FF2B5EF4-FFF2-40B4-BE49-F238E27FC236}">
                <a16:creationId xmlns:a16="http://schemas.microsoft.com/office/drawing/2014/main" id="{ED380AAB-566D-4A1E-BD6B-88B80506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报告跟着这次需求组织</a:t>
            </a:r>
          </a:p>
        </p:txBody>
      </p:sp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5E38A89F-6B83-4332-8956-76020FEA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4">
            <a:extLst xmlns:a="http://schemas.openxmlformats.org/drawingml/2006/main">
              <a:ext uri="{FF2B5EF4-FFF2-40B4-BE49-F238E27FC236}">
                <a16:creationId xmlns:a16="http://schemas.microsoft.com/office/drawing/2014/main" id="{BBE1C15E-08FD-49FE-AEAF-C1095478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436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" name="先看重点， 再追到依据">
            <a:extLst xmlns:a="http://schemas.openxmlformats.org/drawingml/2006/main">
              <a:ext uri="{FF2B5EF4-FFF2-40B4-BE49-F238E27FC236}">
                <a16:creationId xmlns:a16="http://schemas.microsoft.com/office/drawing/2014/main" id="{4215DBAA-1CD4-4864-B205-52678B5D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36957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先看重点，</a:t>
            </a:r>
          </a:p>
          <a:p xmlns:a="http://schemas.openxmlformats.org/drawingml/2006/main">
            <a:pPr>
              <a:defRPr sz="33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再追到依据</a:t>
            </a:r>
          </a:p>
        </p:txBody>
      </p:sp>
      <p:sp>
        <p:nvSpPr>
          <p:cNvPr id="5" name="一页结论">
            <a:extLst xmlns:a="http://schemas.openxmlformats.org/drawingml/2006/main">
              <a:ext uri="{FF2B5EF4-FFF2-40B4-BE49-F238E27FC236}">
                <a16:creationId xmlns:a16="http://schemas.microsoft.com/office/drawing/2014/main" id="{3C238146-A4AB-4FD1-BC56-269406A8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3571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一页结论</a:t>
            </a:r>
          </a:p>
        </p:txBody>
      </p:sp>
      <p:sp>
        <p:nvSpPr>
          <p:cNvPr id="6" name="财务、信用、风险、口碑">
            <a:extLst xmlns:a="http://schemas.openxmlformats.org/drawingml/2006/main">
              <a:ext uri="{FF2B5EF4-FFF2-40B4-BE49-F238E27FC236}">
                <a16:creationId xmlns:a16="http://schemas.microsoft.com/office/drawing/2014/main" id="{12625522-8FDF-494A-BA79-26066F14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3657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财务、信用、风险、口碑</a:t>
            </a:r>
          </a:p>
        </p:txBody>
      </p:sp>
      <p:sp>
        <p:nvSpPr>
          <p:cNvPr id="7" name="宣称与记录逐条对照">
            <a:extLst xmlns:a="http://schemas.openxmlformats.org/drawingml/2006/main">
              <a:ext uri="{FF2B5EF4-FFF2-40B4-BE49-F238E27FC236}">
                <a16:creationId xmlns:a16="http://schemas.microsoft.com/office/drawing/2014/main" id="{8E9C81D7-E1B8-4F8B-B11B-C86584BF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52925"/>
            <a:ext cx="3657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宣称与记录逐条对照</a:t>
            </a:r>
          </a:p>
        </p:txBody>
      </p:sp>
      <p:sp>
        <p:nvSpPr>
          <p:cNvPr id="8" name="原始数据与来源">
            <a:extLst xmlns:a="http://schemas.openxmlformats.org/drawingml/2006/main">
              <a:ext uri="{FF2B5EF4-FFF2-40B4-BE49-F238E27FC236}">
                <a16:creationId xmlns:a16="http://schemas.microsoft.com/office/drawing/2014/main" id="{26205B49-9EA7-4863-A5C2-8011D1F0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3657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原始数据与来源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ffb0929934209"/>
          <a:stretch xmlns:a="http://schemas.openxmlformats.org/drawingml/2006/main"/>
        </p:blipFill>
        <p:spPr>
          <a:xfrm xmlns:a="http://schemas.openxmlformats.org/drawingml/2006/main">
            <a:off x="4725353" y="1619250"/>
            <a:ext cx="6751320" cy="4219575"/>
          </a:xfrm>
          <a:prstGeom xmlns:a="http://schemas.openxmlformats.org/drawingml/2006/main" prst="rect">
            <a:avLst/>
          </a:prstGeom>
        </p:spPr>
      </p:pic>
      <p:sp>
        <p:nvSpPr>
          <p:cNvPr id="10" name="截图用于说明报告结构，具体结论以案卷版本和来源为准">
            <a:extLst xmlns:a="http://schemas.openxmlformats.org/drawingml/2006/main">
              <a:ext uri="{FF2B5EF4-FFF2-40B4-BE49-F238E27FC236}">
                <a16:creationId xmlns:a16="http://schemas.microsoft.com/office/drawing/2014/main" id="{85ABD0D5-C334-4DD8-8F72-C89D8BC8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9055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截图用于说明报告结构，具体结论以案卷版本和来源为准</a:t>
            </a:r>
          </a:p>
        </p:txBody>
      </p:sp>
    </p:spTree>
    <p:extLst>
      <p:ext uri="{BB962C8B-B14F-4D97-AF65-F5344CB8AC3E}">
        <p14:creationId xmlns:p14="http://schemas.microsoft.com/office/powerpoint/2010/main" val="21376694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把企业说法放到记录旁边">
            <a:extLst xmlns:a="http://schemas.openxmlformats.org/drawingml/2006/main">
              <a:ext uri="{FF2B5EF4-FFF2-40B4-BE49-F238E27FC236}">
                <a16:creationId xmlns:a16="http://schemas.microsoft.com/office/drawing/2014/main" id="{2654550E-94BF-4033-88CB-123081E6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把企业说法放到记录旁边</a:t>
            </a:r>
          </a:p>
        </p:txBody>
      </p:sp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A38BCBC2-3C55-424C-BFA4-17F9331B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5">
            <a:extLst xmlns:a="http://schemas.openxmlformats.org/drawingml/2006/main">
              <a:ext uri="{FF2B5EF4-FFF2-40B4-BE49-F238E27FC236}">
                <a16:creationId xmlns:a16="http://schemas.microsoft.com/office/drawing/2014/main" id="{85CE761C-6E93-4E3E-8EFE-E8685BF0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436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7e4f17618844f2"/>
          <a:stretch xmlns:a="http://schemas.openxmlformats.org/drawingml/2006/main"/>
        </p:blipFill>
        <p:spPr>
          <a:xfrm xmlns:a="http://schemas.openxmlformats.org/drawingml/2006/main">
            <a:off x="789622" y="1647825"/>
            <a:ext cx="6812280" cy="4257675"/>
          </a:xfrm>
          <a:prstGeom xmlns:a="http://schemas.openxmlformats.org/drawingml/2006/main" prst="rect">
            <a:avLst/>
          </a:prstGeom>
        </p:spPr>
      </p:pic>
      <p:sp>
        <p:nvSpPr>
          <p:cNvPr id="5" name="原话保留">
            <a:extLst xmlns:a="http://schemas.openxmlformats.org/drawingml/2006/main">
              <a:ext uri="{FF2B5EF4-FFF2-40B4-BE49-F238E27FC236}">
                <a16:creationId xmlns:a16="http://schemas.microsoft.com/office/drawing/2014/main" id="{C691144E-1BDF-4EC7-956A-D94FEE2A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704975"/>
            <a:ext cx="3390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原话保留</a:t>
            </a:r>
          </a:p>
        </p:txBody>
      </p:sp>
      <p:sp>
        <p:nvSpPr>
          <p:cNvPr id="6" name="能点开材料原文">
            <a:extLst xmlns:a="http://schemas.openxmlformats.org/drawingml/2006/main">
              <a:ext uri="{FF2B5EF4-FFF2-40B4-BE49-F238E27FC236}">
                <a16:creationId xmlns:a16="http://schemas.microsoft.com/office/drawing/2014/main" id="{D80480D9-A5D0-4D30-9A1F-5B50C922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238375"/>
            <a:ext cx="3390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能点开材料原文</a:t>
            </a:r>
          </a:p>
        </p:txBody>
      </p:sp>
      <p:sp>
        <p:nvSpPr>
          <p:cNvPr id="7" name="记录可查">
            <a:extLst xmlns:a="http://schemas.openxmlformats.org/drawingml/2006/main">
              <a:ext uri="{FF2B5EF4-FFF2-40B4-BE49-F238E27FC236}">
                <a16:creationId xmlns:a16="http://schemas.microsoft.com/office/drawing/2014/main" id="{7CDCC3A5-FACD-438A-B859-578709A8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152775"/>
            <a:ext cx="3390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记录可查</a:t>
            </a:r>
          </a:p>
        </p:txBody>
      </p:sp>
      <p:sp>
        <p:nvSpPr>
          <p:cNvPr id="8" name="同时核对主体、 日期与指标口径">
            <a:extLst xmlns:a="http://schemas.openxmlformats.org/drawingml/2006/main">
              <a:ext uri="{FF2B5EF4-FFF2-40B4-BE49-F238E27FC236}">
                <a16:creationId xmlns:a16="http://schemas.microsoft.com/office/drawing/2014/main" id="{AA0BFBB7-C0EF-4F0B-8F21-B85449C3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705225"/>
            <a:ext cx="3390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同时核对主体、</a:t>
            </a:r>
          </a:p>
          <a:p xmlns:a="http://schemas.openxmlformats.org/drawingml/2006/main">
            <a:pPr>
              <a:defRPr sz="20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日期与指标口径</a:t>
            </a:r>
          </a:p>
        </p:txBody>
      </p:sp>
      <p:sp>
        <p:nvSpPr>
          <p:cNvPr id="9" name="无法核验也写明">
            <a:extLst xmlns:a="http://schemas.openxmlformats.org/drawingml/2006/main">
              <a:ext uri="{FF2B5EF4-FFF2-40B4-BE49-F238E27FC236}">
                <a16:creationId xmlns:a16="http://schemas.microsoft.com/office/drawing/2014/main" id="{FEFB89CF-F717-418A-9299-61D381B4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095875"/>
            <a:ext cx="3390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rPr>
              <a:t>无法核验也写明</a:t>
            </a:r>
          </a:p>
        </p:txBody>
      </p:sp>
      <p:sp>
        <p:nvSpPr>
          <p:cNvPr id="10" name="材料有记载，不代表宣称属实">
            <a:extLst xmlns:a="http://schemas.openxmlformats.org/drawingml/2006/main">
              <a:ext uri="{FF2B5EF4-FFF2-40B4-BE49-F238E27FC236}">
                <a16:creationId xmlns:a16="http://schemas.microsoft.com/office/drawing/2014/main" id="{8084B88A-E6E1-4257-A1AD-2E191181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材料有记载，不代表宣称属实</a:t>
            </a:r>
          </a:p>
        </p:txBody>
      </p:sp>
    </p:spTree>
    <p:extLst>
      <p:ext uri="{BB962C8B-B14F-4D97-AF65-F5344CB8AC3E}">
        <p14:creationId xmlns:p14="http://schemas.microsoft.com/office/powerpoint/2010/main" val="17005183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四类查询状态分开呈现">
            <a:extLst xmlns:a="http://schemas.openxmlformats.org/drawingml/2006/main">
              <a:ext uri="{FF2B5EF4-FFF2-40B4-BE49-F238E27FC236}">
                <a16:creationId xmlns:a16="http://schemas.microsoft.com/office/drawing/2014/main" id="{D0C0FCC5-52AD-4A1A-B415-04C752F3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四类查询状态分开呈现</a:t>
            </a:r>
          </a:p>
        </p:txBody>
      </p:sp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3236AD13-13B3-4936-828D-77FF31F6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6">
            <a:extLst xmlns:a="http://schemas.openxmlformats.org/drawingml/2006/main">
              <a:ext uri="{FF2B5EF4-FFF2-40B4-BE49-F238E27FC236}">
                <a16:creationId xmlns:a16="http://schemas.microsoft.com/office/drawing/2014/main" id="{04227C19-E633-460E-A327-3DDD3F74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436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47700" y="1552575"/>
          <a:ext xmlns:a="http://schemas.openxmlformats.org/drawingml/2006/main" cx="108966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039100"/>
              </a:tblGrid>
              <a:tr h="708660"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0E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solidFill>
                      <a:srgbClr val="222E39"/>
                    </a:solidFill>
                  </a:tcPr>
                </a:tc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0E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它说明什么</a:t>
                      </a:r>
                    </a:p>
                  </a:txBody>
                  <a:tcPr marL="91440" marR="91440" marT="45720" marB="45720" anchor="ctr">
                    <a:solidFill>
                      <a:srgbClr val="222E39"/>
                    </a:solidFill>
                  </a:tcPr>
                </a:tc>
              </a:tr>
              <a:tr h="708660"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查到了</a:t>
                      </a:r>
                    </a:p>
                  </a:txBody>
                  <a:tcPr marL="91440" marR="91440" marT="45720" marB="45720" anchor="ctr">
                    <a:solidFill>
                      <a:srgbClr val="F7F0E0"/>
                    </a:solidFill>
                  </a:tcPr>
                </a:tc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这个来源中有匹配记录</a:t>
                      </a:r>
                    </a:p>
                  </a:txBody>
                  <a:tcPr marL="91440" marR="91440" marT="45720" marB="45720" anchor="ctr">
                    <a:solidFill>
                      <a:srgbClr val="F7F0E0"/>
                    </a:solidFill>
                  </a:tcPr>
                </a:tc>
              </a:tr>
              <a:tr h="708660"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查了没有</a:t>
                      </a:r>
                    </a:p>
                  </a:txBody>
                  <a:tcPr marL="91440" marR="91440" marT="45720" marB="45720" anchor="ctr">
                    <a:solidFill>
                      <a:srgbClr val="EDE2CD"/>
                    </a:solidFill>
                  </a:tcPr>
                </a:tc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本次查询范围内没有匹配记录</a:t>
                      </a:r>
                    </a:p>
                  </a:txBody>
                  <a:tcPr marL="91440" marR="91440" marT="45720" marB="45720" anchor="ctr">
                    <a:solidFill>
                      <a:srgbClr val="EDE2CD"/>
                    </a:solidFill>
                  </a:tcPr>
                </a:tc>
              </a:tr>
              <a:tr h="708660"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没查</a:t>
                      </a:r>
                    </a:p>
                  </a:txBody>
                  <a:tcPr marL="91440" marR="91440" marT="45720" marB="45720" anchor="ctr">
                    <a:solidFill>
                      <a:srgbClr val="F7F0E0"/>
                    </a:solidFill>
                  </a:tcPr>
                </a:tc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数据源未覆盖，或本次未执行</a:t>
                      </a:r>
                    </a:p>
                  </a:txBody>
                  <a:tcPr marL="91440" marR="91440" marT="45720" marB="45720" anchor="ctr">
                    <a:solidFill>
                      <a:srgbClr val="F7F0E0"/>
                    </a:solidFill>
                  </a:tcPr>
                </a:tc>
              </a:tr>
              <a:tr h="708660"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查询失败</a:t>
                      </a:r>
                    </a:p>
                  </a:txBody>
                  <a:tcPr marL="91440" marR="91440" marT="45720" marB="45720" anchor="ctr">
                    <a:solidFill>
                      <a:srgbClr val="EDE2CD"/>
                    </a:solidFill>
                  </a:tcPr>
                </a:tc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本次请求没有成功</a:t>
                      </a:r>
                    </a:p>
                  </a:txBody>
                  <a:tcPr marL="91440" marR="91440" marT="45720" marB="45720" anchor="ctr">
                    <a:solidFill>
                      <a:srgbClr val="EDE2CD"/>
                    </a:solidFill>
                  </a:tcPr>
                </a:tc>
              </a:tr>
            </a:tbl>
          </a:graphicData>
        </a:graphic>
      </p:graphicFrame>
      <p:sp>
        <p:nvSpPr>
          <p:cNvPr id="5" name="未覆盖，不能当成正常">
            <a:extLst xmlns:a="http://schemas.openxmlformats.org/drawingml/2006/main">
              <a:ext uri="{FF2B5EF4-FFF2-40B4-BE49-F238E27FC236}">
                <a16:creationId xmlns:a16="http://schemas.microsoft.com/office/drawing/2014/main" id="{04B82FF4-1348-4DFD-9094-530CC219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9725"/>
            <a:ext cx="10896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未覆盖，不能当成正常</a:t>
            </a:r>
          </a:p>
        </p:txBody>
      </p:sp>
    </p:spTree>
    <p:extLst>
      <p:ext uri="{BB962C8B-B14F-4D97-AF65-F5344CB8AC3E}">
        <p14:creationId xmlns:p14="http://schemas.microsoft.com/office/powerpoint/2010/main" val="16918417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小企解释报告，关键事实带出处">
            <a:extLst xmlns:a="http://schemas.openxmlformats.org/drawingml/2006/main">
              <a:ext uri="{FF2B5EF4-FFF2-40B4-BE49-F238E27FC236}">
                <a16:creationId xmlns:a16="http://schemas.microsoft.com/office/drawing/2014/main" id="{45FFF6B9-D755-4180-9471-FA6FF8AB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小企解释报告，关键事实带出处</a:t>
            </a:r>
          </a:p>
        </p:txBody>
      </p:sp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25A8D5E3-8882-46F5-93FB-13F7BD9A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7">
            <a:extLst xmlns:a="http://schemas.openxmlformats.org/drawingml/2006/main">
              <a:ext uri="{FF2B5EF4-FFF2-40B4-BE49-F238E27FC236}">
                <a16:creationId xmlns:a16="http://schemas.microsoft.com/office/drawing/2014/main" id="{3AEA2005-A80C-4622-99DA-ED7ACB48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436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0895f73b544eb"/>
          <a:stretch xmlns:a="http://schemas.openxmlformats.org/drawingml/2006/main"/>
        </p:blipFill>
        <p:spPr>
          <a:xfrm xmlns:a="http://schemas.openxmlformats.org/drawingml/2006/main">
            <a:off x="647700" y="1768680"/>
            <a:ext cx="6896100" cy="4015964"/>
          </a:xfrm>
          <a:prstGeom xmlns:a="http://schemas.openxmlformats.org/drawingml/2006/main" prst="rect">
            <a:avLst/>
          </a:prstGeom>
        </p:spPr>
      </p:pic>
      <p:sp>
        <p:nvSpPr>
          <p:cNvPr id="5" name="选中一条，再问">
            <a:extLst xmlns:a="http://schemas.openxmlformats.org/drawingml/2006/main">
              <a:ext uri="{FF2B5EF4-FFF2-40B4-BE49-F238E27FC236}">
                <a16:creationId xmlns:a16="http://schemas.microsoft.com/office/drawing/2014/main" id="{69BA5466-9474-42E5-A69B-6E8FEF86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69545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选中一条，再问</a:t>
            </a:r>
          </a:p>
        </p:txBody>
      </p:sp>
      <p:sp>
        <p:nvSpPr>
          <p:cNvPr id="6" name="引用回到对应证据">
            <a:extLst xmlns:a="http://schemas.openxmlformats.org/drawingml/2006/main">
              <a:ext uri="{FF2B5EF4-FFF2-40B4-BE49-F238E27FC236}">
                <a16:creationId xmlns:a16="http://schemas.microsoft.com/office/drawing/2014/main" id="{8D89D3A0-B3AF-4511-884B-06397E58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305050"/>
            <a:ext cx="352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引用回到对应证据</a:t>
            </a:r>
          </a:p>
        </p:txBody>
      </p:sp>
      <p:sp>
        <p:nvSpPr>
          <p:cNvPr id="7" name="规则负责判定">
            <a:extLst xmlns:a="http://schemas.openxmlformats.org/drawingml/2006/main">
              <a:ext uri="{FF2B5EF4-FFF2-40B4-BE49-F238E27FC236}">
                <a16:creationId xmlns:a16="http://schemas.microsoft.com/office/drawing/2014/main" id="{DE1DCFA5-24B2-4848-A0A4-B485E1D4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629025"/>
            <a:ext cx="3524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规则负责判定</a:t>
            </a:r>
          </a:p>
        </p:txBody>
      </p:sp>
      <p:sp>
        <p:nvSpPr>
          <p:cNvPr id="8" name="AI 帮人读懂材料和结果">
            <a:extLst xmlns:a="http://schemas.openxmlformats.org/drawingml/2006/main">
              <a:ext uri="{FF2B5EF4-FFF2-40B4-BE49-F238E27FC236}">
                <a16:creationId xmlns:a16="http://schemas.microsoft.com/office/drawing/2014/main" id="{007EE5B6-8AA3-495C-8E52-58884FE5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181475"/>
            <a:ext cx="3524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AI 帮人读懂材料和结果</a:t>
            </a:r>
          </a:p>
        </p:txBody>
      </p:sp>
      <p:sp>
        <p:nvSpPr>
          <p:cNvPr id="9" name="对话里的新情况，需要加入案卷后重新分析">
            <a:extLst xmlns:a="http://schemas.openxmlformats.org/drawingml/2006/main">
              <a:ext uri="{FF2B5EF4-FFF2-40B4-BE49-F238E27FC236}">
                <a16:creationId xmlns:a16="http://schemas.microsoft.com/office/drawing/2014/main" id="{D02C9844-E451-4752-BB08-D590E628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34075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对话里的新情况，需要加入案卷后重新分析</a:t>
            </a:r>
          </a:p>
        </p:txBody>
      </p:sp>
    </p:spTree>
    <p:extLst>
      <p:ext uri="{BB962C8B-B14F-4D97-AF65-F5344CB8AC3E}">
        <p14:creationId xmlns:p14="http://schemas.microsoft.com/office/powerpoint/2010/main" val="11605505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新材料进入新版本">
            <a:extLst xmlns:a="http://schemas.openxmlformats.org/drawingml/2006/main">
              <a:ext uri="{FF2B5EF4-FFF2-40B4-BE49-F238E27FC236}">
                <a16:creationId xmlns:a16="http://schemas.microsoft.com/office/drawing/2014/main" id="{7C36F5AF-98C2-4CEF-AD0D-9A2CEC7D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新材料进入新版本</a:t>
            </a:r>
          </a:p>
        </p:txBody>
      </p:sp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928792D2-3FBC-4321-8936-1C138D73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8">
            <a:extLst xmlns:a="http://schemas.openxmlformats.org/drawingml/2006/main">
              <a:ext uri="{FF2B5EF4-FFF2-40B4-BE49-F238E27FC236}">
                <a16:creationId xmlns:a16="http://schemas.microsoft.com/office/drawing/2014/main" id="{82563A71-9D63-4AAE-B3C8-DB337A2F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436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" name="v1">
            <a:extLst xmlns:a="http://schemas.openxmlformats.org/drawingml/2006/main">
              <a:ext uri="{FF2B5EF4-FFF2-40B4-BE49-F238E27FC236}">
                <a16:creationId xmlns:a16="http://schemas.microsoft.com/office/drawing/2014/main" id="{9D62A67C-32E2-424A-BAC8-D8D67A81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647825"/>
            <a:ext cx="18764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rPr>
              <a:t>v1</a:t>
            </a:r>
          </a:p>
        </p:txBody>
      </p:sp>
      <p:sp>
        <p:nvSpPr>
          <p:cNvPr id="5" name="原来的报告">
            <a:extLst xmlns:a="http://schemas.openxmlformats.org/drawingml/2006/main">
              <a:ext uri="{FF2B5EF4-FFF2-40B4-BE49-F238E27FC236}">
                <a16:creationId xmlns:a16="http://schemas.microsoft.com/office/drawing/2014/main" id="{6B6B13D7-5B50-4042-A2E3-968C8E8C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04975"/>
            <a:ext cx="7905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原来的报告</a:t>
            </a:r>
          </a:p>
        </p:txBody>
      </p:sp>
      <p:sp>
        <p:nvSpPr>
          <p:cNvPr id="6" name="保留当时的材料、判断和出处">
            <a:extLst xmlns:a="http://schemas.openxmlformats.org/drawingml/2006/main">
              <a:ext uri="{FF2B5EF4-FFF2-40B4-BE49-F238E27FC236}">
                <a16:creationId xmlns:a16="http://schemas.microsoft.com/office/drawing/2014/main" id="{F9A54EAC-B49D-485B-932E-80424487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314575"/>
            <a:ext cx="83248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保留当时的材料、判断和出处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59057-5D8D-42B4-AEE2-D9B86317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146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CCB4"/>
            </a:solidFill>
          </a:ln>
        </p:spPr>
      </p:sp>
      <p:sp>
        <p:nvSpPr>
          <p:cNvPr id="8" name="补充">
            <a:extLst xmlns:a="http://schemas.openxmlformats.org/drawingml/2006/main">
              <a:ext uri="{FF2B5EF4-FFF2-40B4-BE49-F238E27FC236}">
                <a16:creationId xmlns:a16="http://schemas.microsoft.com/office/drawing/2014/main" id="{566E0937-C797-4F4E-91FA-D3C09017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400425"/>
            <a:ext cx="18764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rPr>
              <a:t>补充</a:t>
            </a:r>
          </a:p>
        </p:txBody>
      </p:sp>
      <p:sp>
        <p:nvSpPr>
          <p:cNvPr id="9" name="新材料、对方回复，或修改需求">
            <a:extLst xmlns:a="http://schemas.openxmlformats.org/drawingml/2006/main">
              <a:ext uri="{FF2B5EF4-FFF2-40B4-BE49-F238E27FC236}">
                <a16:creationId xmlns:a16="http://schemas.microsoft.com/office/drawing/2014/main" id="{0F111554-E3F7-47A0-B481-161308A7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429000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新材料、对方回复，或修改需求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B560F3-C874-4F5E-8582-7D6482BB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767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CCB4"/>
            </a:solidFill>
          </a:ln>
        </p:spPr>
      </p:sp>
      <p:sp>
        <p:nvSpPr>
          <p:cNvPr id="11" name="v2">
            <a:extLst xmlns:a="http://schemas.openxmlformats.org/drawingml/2006/main">
              <a:ext uri="{FF2B5EF4-FFF2-40B4-BE49-F238E27FC236}">
                <a16:creationId xmlns:a16="http://schemas.microsoft.com/office/drawing/2014/main" id="{D33BE7DD-F8A6-4DC3-A2A1-DD77B788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62475"/>
            <a:ext cx="18764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rPr>
              <a:t>v2</a:t>
            </a:r>
          </a:p>
        </p:txBody>
      </p:sp>
      <p:sp>
        <p:nvSpPr>
          <p:cNvPr id="12" name="变了什么，为什么变">
            <a:extLst xmlns:a="http://schemas.openxmlformats.org/drawingml/2006/main">
              <a:ext uri="{FF2B5EF4-FFF2-40B4-BE49-F238E27FC236}">
                <a16:creationId xmlns:a16="http://schemas.microsoft.com/office/drawing/2014/main" id="{775737C2-122A-42E4-803E-00AEF5C9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562475"/>
            <a:ext cx="8648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变了什么，为什么变</a:t>
            </a:r>
          </a:p>
        </p:txBody>
      </p:sp>
      <p:sp>
        <p:nvSpPr>
          <p:cNvPr id="13" name="没变的继续列出，旧引用仍回到旧版本">
            <a:extLst xmlns:a="http://schemas.openxmlformats.org/drawingml/2006/main">
              <a:ext uri="{FF2B5EF4-FFF2-40B4-BE49-F238E27FC236}">
                <a16:creationId xmlns:a16="http://schemas.microsoft.com/office/drawing/2014/main" id="{B541C0ED-4627-4AE7-B4CB-2CDE95ED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229225"/>
            <a:ext cx="8648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没变的继续列出，旧引用仍回到旧版本</a:t>
            </a:r>
          </a:p>
        </p:txBody>
      </p:sp>
    </p:spTree>
    <p:extLst>
      <p:ext uri="{BB962C8B-B14F-4D97-AF65-F5344CB8AC3E}">
        <p14:creationId xmlns:p14="http://schemas.microsoft.com/office/powerpoint/2010/main" val="19406283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一页报告，支持下一步核实">
            <a:extLst xmlns:a="http://schemas.openxmlformats.org/drawingml/2006/main">
              <a:ext uri="{FF2B5EF4-FFF2-40B4-BE49-F238E27FC236}">
                <a16:creationId xmlns:a16="http://schemas.microsoft.com/office/drawing/2014/main" id="{7E1B43F3-4ECF-477B-A46D-BC11117D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一页报告，支持下一步核实</a:t>
            </a:r>
          </a:p>
        </p:txBody>
      </p:sp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68224FD1-906F-45F0-B532-B94FDFB6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9">
            <a:extLst xmlns:a="http://schemas.openxmlformats.org/drawingml/2006/main">
              <a:ext uri="{FF2B5EF4-FFF2-40B4-BE49-F238E27FC236}">
                <a16:creationId xmlns:a16="http://schemas.microsoft.com/office/drawing/2014/main" id="{0F991EF8-CC7D-4802-98FF-DD508934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436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4" name="已知的依据">
            <a:extLst xmlns:a="http://schemas.openxmlformats.org/drawingml/2006/main">
              <a:ext uri="{FF2B5EF4-FFF2-40B4-BE49-F238E27FC236}">
                <a16:creationId xmlns:a16="http://schemas.microsoft.com/office/drawing/2014/main" id="{7F6365DD-4F1E-45B0-877F-2176666F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666875"/>
            <a:ext cx="51530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已知的依据</a:t>
            </a:r>
          </a:p>
        </p:txBody>
      </p:sp>
      <p:sp>
        <p:nvSpPr>
          <p:cNvPr id="5" name="还缺的资料">
            <a:extLst xmlns:a="http://schemas.openxmlformats.org/drawingml/2006/main">
              <a:ext uri="{FF2B5EF4-FFF2-40B4-BE49-F238E27FC236}">
                <a16:creationId xmlns:a16="http://schemas.microsoft.com/office/drawing/2014/main" id="{A9009F79-FCC1-4A93-AACC-9F98D3A3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19375"/>
            <a:ext cx="51530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还缺的资料</a:t>
            </a:r>
          </a:p>
        </p:txBody>
      </p:sp>
      <p:sp>
        <p:nvSpPr>
          <p:cNvPr id="6" name="该问的问题">
            <a:extLst xmlns:a="http://schemas.openxmlformats.org/drawingml/2006/main">
              <a:ext uri="{FF2B5EF4-FFF2-40B4-BE49-F238E27FC236}">
                <a16:creationId xmlns:a16="http://schemas.microsoft.com/office/drawing/2014/main" id="{D0A3DC50-8D80-4144-91E8-D7EABE9D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71875"/>
            <a:ext cx="51530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该问的问题</a:t>
            </a:r>
          </a:p>
        </p:txBody>
      </p:sp>
      <p:sp>
        <p:nvSpPr>
          <p:cNvPr id="7" name="带进下一次讨论">
            <a:extLst xmlns:a="http://schemas.openxmlformats.org/drawingml/2006/main">
              <a:ext uri="{FF2B5EF4-FFF2-40B4-BE49-F238E27FC236}">
                <a16:creationId xmlns:a16="http://schemas.microsoft.com/office/drawing/2014/main" id="{6C12C35E-67CC-419A-B49A-4D9F20A0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24025"/>
            <a:ext cx="4895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8A641F"/>
                </a:solidFill>
                <a:latin typeface="Microsoft YaHei"/>
                <a:ea typeface="Microsoft YaHei"/>
                <a:cs typeface="Microsoft YaHei"/>
              </a:rPr>
              <a:t>带进下一次讨论</a:t>
            </a:r>
          </a:p>
        </p:txBody>
      </p:sp>
      <p:sp>
        <p:nvSpPr>
          <p:cNvPr id="8" name="个人与家人 一起看懂，再补充核实">
            <a:extLst xmlns:a="http://schemas.openxmlformats.org/drawingml/2006/main">
              <a:ext uri="{FF2B5EF4-FFF2-40B4-BE49-F238E27FC236}">
                <a16:creationId xmlns:a16="http://schemas.microsoft.com/office/drawing/2014/main" id="{A3D58327-D3B7-42B5-BD90-31429662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81300"/>
            <a:ext cx="48863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个人与家人</a:t>
            </a:r>
          </a:p>
          <a:p xmlns:a="http://schemas.openxmlformats.org/drawingml/2006/main">
            <a:pPr>
              <a:defRPr sz="23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一起看懂，再补充核实</a:t>
            </a:r>
          </a:p>
        </p:txBody>
      </p:sp>
      <p:sp>
        <p:nvSpPr>
          <p:cNvPr id="9" name="拟验证的网点场景 用提示单把待确认事项讲具体">
            <a:extLst xmlns:a="http://schemas.openxmlformats.org/drawingml/2006/main">
              <a:ext uri="{FF2B5EF4-FFF2-40B4-BE49-F238E27FC236}">
                <a16:creationId xmlns:a16="http://schemas.microsoft.com/office/drawing/2014/main" id="{AEBC3E3C-EEFF-4E89-A101-3BD2B1E4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33875"/>
            <a:ext cx="49244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拟验证的网点场景</a:t>
            </a:r>
          </a:p>
          <a:p xmlns:a="http://schemas.openxmlformats.org/drawingml/2006/main">
            <a:pPr>
              <a:defRPr sz="217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用提示单把待确认事项讲具体</a:t>
            </a:r>
          </a:p>
        </p:txBody>
      </p:sp>
      <p:sp>
        <p:nvSpPr>
          <p:cNvPr id="10" name="提供研究依据，最终决策由人作出">
            <a:extLst xmlns:a="http://schemas.openxmlformats.org/drawingml/2006/main">
              <a:ext uri="{FF2B5EF4-FFF2-40B4-BE49-F238E27FC236}">
                <a16:creationId xmlns:a16="http://schemas.microsoft.com/office/drawing/2014/main" id="{AEC148CD-7FD0-4FFB-B690-172AEA01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514975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提供研究依据，最终决策由人作出</a:t>
            </a:r>
          </a:p>
        </p:txBody>
      </p:sp>
    </p:spTree>
    <p:extLst>
      <p:ext uri="{BB962C8B-B14F-4D97-AF65-F5344CB8AC3E}">
        <p14:creationId xmlns:p14="http://schemas.microsoft.com/office/powerpoint/2010/main" val="11218050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92A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企er">
            <a:extLst xmlns:a="http://schemas.openxmlformats.org/drawingml/2006/main">
              <a:ext uri="{FF2B5EF4-FFF2-40B4-BE49-F238E27FC236}">
                <a16:creationId xmlns:a16="http://schemas.microsoft.com/office/drawing/2014/main" id="{B48EF75C-C1E3-4FC1-9730-481202C7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2D169CA5-1E1F-4856-9407-98655273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436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6df37ce7574b63"/>
          <a:stretch xmlns:a="http://schemas.openxmlformats.org/drawingml/2006/main"/>
        </p:blipFill>
        <p:spPr>
          <a:xfrm xmlns:a="http://schemas.openxmlformats.org/drawingml/2006/main">
            <a:off x="6419880" y="0"/>
            <a:ext cx="5772089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企er">
            <a:extLst xmlns:a="http://schemas.openxmlformats.org/drawingml/2006/main">
              <a:ext uri="{FF2B5EF4-FFF2-40B4-BE49-F238E27FC236}">
                <a16:creationId xmlns:a16="http://schemas.microsoft.com/office/drawing/2014/main" id="{E34E88BD-9E73-4D5E-BF9E-307DE115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325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325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5" name="把钱或信任交出去前， 先把依据看清楚">
            <a:extLst xmlns:a="http://schemas.openxmlformats.org/drawingml/2006/main">
              <a:ext uri="{FF2B5EF4-FFF2-40B4-BE49-F238E27FC236}">
                <a16:creationId xmlns:a16="http://schemas.microsoft.com/office/drawing/2014/main" id="{B56F8414-AE85-49FA-8879-AE4C29BD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591175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rPr>
              <a:t>把钱或信任交出去前，</a:t>
            </a:r>
          </a:p>
          <a:p xmlns:a="http://schemas.openxmlformats.org/drawingml/2006/main">
            <a:pPr>
              <a:defRPr sz="3375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rPr>
              <a:t>先把依据看清楚</a:t>
            </a:r>
          </a:p>
        </p:txBody>
      </p:sp>
      <p:sp>
        <p:nvSpPr>
          <p:cNvPr id="6" name="有出处的企业研究助手">
            <a:extLst xmlns:a="http://schemas.openxmlformats.org/drawingml/2006/main">
              <a:ext uri="{FF2B5EF4-FFF2-40B4-BE49-F238E27FC236}">
                <a16:creationId xmlns:a16="http://schemas.microsoft.com/office/drawing/2014/main" id="{DA4C5443-B056-4822-B75B-BF633A78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55149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E2BC78"/>
                </a:solidFill>
                <a:latin typeface="Microsoft YaHei"/>
                <a:ea typeface="Microsoft YaHei"/>
                <a:cs typeface="Microsoft YaHei"/>
              </a:rPr>
              <a:t>有出处的企业研究助手</a:t>
            </a:r>
          </a:p>
        </p:txBody>
      </p:sp>
      <p:sp>
        <p:nvSpPr>
          <p:cNvPr id="7" name="基于公开资料，不作安全担保">
            <a:extLst xmlns:a="http://schemas.openxmlformats.org/drawingml/2006/main">
              <a:ext uri="{FF2B5EF4-FFF2-40B4-BE49-F238E27FC236}">
                <a16:creationId xmlns:a16="http://schemas.microsoft.com/office/drawing/2014/main" id="{C11107A2-42F1-4DDE-9DF9-96E8BFAC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72175"/>
            <a:ext cx="5514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7F0E0"/>
                </a:solidFill>
                <a:latin typeface="Microsoft YaHei"/>
                <a:ea typeface="Microsoft YaHei"/>
                <a:cs typeface="Microsoft YaHei"/>
              </a:rPr>
              <a:t>基于公开资料，不作安全担保</a:t>
            </a:r>
          </a:p>
        </p:txBody>
      </p:sp>
    </p:spTree>
    <p:extLst>
      <p:ext uri="{BB962C8B-B14F-4D97-AF65-F5344CB8AC3E}">
        <p14:creationId xmlns:p14="http://schemas.microsoft.com/office/powerpoint/2010/main" val="11861570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产品边界与当前能力">
            <a:extLst xmlns:a="http://schemas.openxmlformats.org/drawingml/2006/main">
              <a:ext uri="{FF2B5EF4-FFF2-40B4-BE49-F238E27FC236}">
                <a16:creationId xmlns:a16="http://schemas.microsoft.com/office/drawing/2014/main" id="{46B80F34-41A8-4E11-9B65-5408DC44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产品边界与当前能力</a:t>
            </a:r>
          </a:p>
        </p:txBody>
      </p:sp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003D4531-BF16-4A87-B41C-802A6ADC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5E96E4FF-A5C4-4439-8B68-07A096D8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436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47700" y="1571625"/>
          <a:ext xmlns:a="http://schemas.openxmlformats.org/drawingml/2006/main" cx="10896600" cy="3743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8420100"/>
              </a:tblGrid>
              <a:tr h="748665"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0E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solidFill>
                      <a:srgbClr val="222E39"/>
                    </a:solidFill>
                  </a:tcPr>
                </a:tc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7F0E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当前承担的工作</a:t>
                      </a:r>
                    </a:p>
                  </a:txBody>
                  <a:tcPr marL="91440" marR="91440" marT="45720" marB="45720" anchor="ctr">
                    <a:solidFill>
                      <a:srgbClr val="222E39"/>
                    </a:solidFill>
                  </a:tcPr>
                </a:tc>
              </a:tr>
              <a:tr h="748665"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</a:t>
                      </a:r>
                    </a:p>
                  </a:txBody>
                  <a:tcPr marL="91440" marR="91440" marT="45720" marB="45720" anchor="ctr">
                    <a:solidFill>
                      <a:srgbClr val="F7F0E0"/>
                    </a:solidFill>
                  </a:tcPr>
                </a:tc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汇集公开记录与用户材料，保留来源和查询状态</a:t>
                      </a:r>
                    </a:p>
                  </a:txBody>
                  <a:tcPr marL="91440" marR="91440" marT="45720" marB="45720" anchor="ctr">
                    <a:solidFill>
                      <a:srgbClr val="F7F0E0"/>
                    </a:solidFill>
                  </a:tcPr>
                </a:tc>
              </a:tr>
              <a:tr h="748665"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确定性规则</a:t>
                      </a:r>
                    </a:p>
                  </a:txBody>
                  <a:tcPr marL="91440" marR="91440" marT="45720" marB="45720" anchor="ctr">
                    <a:solidFill>
                      <a:srgbClr val="EDE2CD"/>
                    </a:solidFill>
                  </a:tcPr>
                </a:tc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按已有记录与规则生成核验判定，逐项比对版本</a:t>
                      </a:r>
                    </a:p>
                  </a:txBody>
                  <a:tcPr marL="91440" marR="91440" marT="45720" marB="45720" anchor="ctr">
                    <a:solidFill>
                      <a:srgbClr val="EDE2CD"/>
                    </a:solidFill>
                  </a:tcPr>
                </a:tc>
              </a:tr>
              <a:tr h="748665"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</a:t>
                      </a:r>
                    </a:p>
                  </a:txBody>
                  <a:tcPr marL="91440" marR="91440" marT="45720" marB="45720" anchor="ctr">
                    <a:solidFill>
                      <a:srgbClr val="F7F0E0"/>
                    </a:solidFill>
                  </a:tcPr>
                </a:tc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识别需求、读取材料、解释报告、回答问题</a:t>
                      </a:r>
                    </a:p>
                  </a:txBody>
                  <a:tcPr marL="91440" marR="91440" marT="45720" marB="45720" anchor="ctr">
                    <a:solidFill>
                      <a:srgbClr val="F7F0E0"/>
                    </a:solidFill>
                  </a:tcPr>
                </a:tc>
              </a:tr>
              <a:tr h="748665"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</a:t>
                      </a:r>
                    </a:p>
                  </a:txBody>
                  <a:tcPr marL="91440" marR="91440" marT="45720" marB="45720" anchor="ctr">
                    <a:solidFill>
                      <a:srgbClr val="EDE2CD"/>
                    </a:solidFill>
                  </a:tcPr>
                </a:tc>
                <a:tc>
                  <a:txBody>
                    <a:bodyPr lIns="171450" tIns="123825" rIns="171450" bIns="1238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933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核对缺口，补充信息，作出最终决定</a:t>
                      </a:r>
                    </a:p>
                  </a:txBody>
                  <a:tcPr marL="91440" marR="91440" marT="45720" marB="45720" anchor="ctr">
                    <a:solidFill>
                      <a:srgbClr val="EDE2CD"/>
                    </a:solidFill>
                  </a:tcPr>
                </a:tc>
              </a:tr>
            </a:tbl>
          </a:graphicData>
        </a:graphic>
      </p:graphicFrame>
      <p:sp>
        <p:nvSpPr>
          <p:cNvPr id="5" name="不打安全分，不作安全担保；联网资料受配置与覆盖范围限制">
            <a:extLst xmlns:a="http://schemas.openxmlformats.org/drawingml/2006/main">
              <a:ext uri="{FF2B5EF4-FFF2-40B4-BE49-F238E27FC236}">
                <a16:creationId xmlns:a16="http://schemas.microsoft.com/office/drawing/2014/main" id="{DB526160-6C76-40C8-A875-E0FF0938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不打安全分，不作安全担保；联网资料受配置与覆盖范围限制</a:t>
            </a:r>
          </a:p>
        </p:txBody>
      </p:sp>
    </p:spTree>
    <p:extLst>
      <p:ext uri="{BB962C8B-B14F-4D97-AF65-F5344CB8AC3E}">
        <p14:creationId xmlns:p14="http://schemas.microsoft.com/office/powerpoint/2010/main" val="19144606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0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答辩时的四个重点">
            <a:extLst xmlns:a="http://schemas.openxmlformats.org/drawingml/2006/main">
              <a:ext uri="{FF2B5EF4-FFF2-40B4-BE49-F238E27FC236}">
                <a16:creationId xmlns:a16="http://schemas.microsoft.com/office/drawing/2014/main" id="{2A9B4FB1-1535-4106-B381-94402C2F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答辩时的四个重点</a:t>
            </a:r>
          </a:p>
        </p:txBody>
      </p:sp>
      <p:sp>
        <p:nvSpPr>
          <p:cNvPr id="2" name="企er">
            <a:extLst xmlns:a="http://schemas.openxmlformats.org/drawingml/2006/main">
              <a:ext uri="{FF2B5EF4-FFF2-40B4-BE49-F238E27FC236}">
                <a16:creationId xmlns:a16="http://schemas.microsoft.com/office/drawing/2014/main" id="{70530EA8-290D-4404-ADCE-6DB051F5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企er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6537C049-21FE-48AA-8A29-167CC611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436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675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为什么不直接给安全分">
            <a:extLst xmlns:a="http://schemas.openxmlformats.org/drawingml/2006/main">
              <a:ext uri="{FF2B5EF4-FFF2-40B4-BE49-F238E27FC236}">
                <a16:creationId xmlns:a16="http://schemas.microsoft.com/office/drawing/2014/main" id="{DEEA6649-2AAC-43A4-B030-78FEB86E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501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为什么不直接给安全分</a:t>
            </a:r>
          </a:p>
        </p:txBody>
      </p:sp>
      <p:sp>
        <p:nvSpPr>
          <p:cNvPr id="5" name="公开记录有范围与时间边界， 缺口不能折算成一个“安全”数字。">
            <a:extLst xmlns:a="http://schemas.openxmlformats.org/drawingml/2006/main">
              <a:ext uri="{FF2B5EF4-FFF2-40B4-BE49-F238E27FC236}">
                <a16:creationId xmlns:a16="http://schemas.microsoft.com/office/drawing/2014/main" id="{01D40CF6-B946-4BFC-9FD2-FEE7AA45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5010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公开记录有范围与时间边界，</a:t>
            </a:r>
          </a:p>
          <a:p xmlns:a="http://schemas.openxmlformats.org/drawingml/2006/main">
            <a:pPr>
              <a:def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缺口不能折算成一个“安全”数字。</a:t>
            </a:r>
          </a:p>
        </p:txBody>
      </p:sp>
      <p:sp>
        <p:nvSpPr>
          <p:cNvPr id="6" name="与普通搜索的区别">
            <a:extLst xmlns:a="http://schemas.openxmlformats.org/drawingml/2006/main">
              <a:ext uri="{FF2B5EF4-FFF2-40B4-BE49-F238E27FC236}">
                <a16:creationId xmlns:a16="http://schemas.microsoft.com/office/drawing/2014/main" id="{252C0139-D094-4E50-BB65-01B272C6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609725"/>
            <a:ext cx="49434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与普通搜索的区别</a:t>
            </a:r>
          </a:p>
        </p:txBody>
      </p:sp>
      <p:sp>
        <p:nvSpPr>
          <p:cNvPr id="7" name="围绕一次需求组织证据， 保留宣称对照、出处和版本变化。">
            <a:extLst xmlns:a="http://schemas.openxmlformats.org/drawingml/2006/main">
              <a:ext uri="{FF2B5EF4-FFF2-40B4-BE49-F238E27FC236}">
                <a16:creationId xmlns:a16="http://schemas.microsoft.com/office/drawing/2014/main" id="{1DE08BCE-7E0C-44B6-AF9E-8BF348EA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190750"/>
            <a:ext cx="49434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围绕一次需求组织证据，</a:t>
            </a:r>
          </a:p>
          <a:p xmlns:a="http://schemas.openxmlformats.org/drawingml/2006/main">
            <a:pPr>
              <a:def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保留宣称对照、出处和版本变化。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2F2C6-3C77-4675-AC82-094F9C38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CCB4"/>
            </a:solidFill>
          </a:ln>
        </p:spPr>
      </p:sp>
      <p:sp>
        <p:nvSpPr>
          <p:cNvPr id="9" name="数据不完整时怎么办">
            <a:extLst xmlns:a="http://schemas.openxmlformats.org/drawingml/2006/main">
              <a:ext uri="{FF2B5EF4-FFF2-40B4-BE49-F238E27FC236}">
                <a16:creationId xmlns:a16="http://schemas.microsoft.com/office/drawing/2014/main" id="{C792A303-B5A2-469B-830F-AB15B6F5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501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数据不完整时怎么办</a:t>
            </a:r>
          </a:p>
        </p:txBody>
      </p:sp>
      <p:sp>
        <p:nvSpPr>
          <p:cNvPr id="10" name="四类状态分开，列出待确认事项， 补材料后继续研究。">
            <a:extLst xmlns:a="http://schemas.openxmlformats.org/drawingml/2006/main">
              <a:ext uri="{FF2B5EF4-FFF2-40B4-BE49-F238E27FC236}">
                <a16:creationId xmlns:a16="http://schemas.microsoft.com/office/drawing/2014/main" id="{35325CB6-EAB7-4724-8BD2-A73BA2E3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24375"/>
            <a:ext cx="50101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四类状态分开，列出待确认事项，</a:t>
            </a:r>
          </a:p>
          <a:p xmlns:a="http://schemas.openxmlformats.org/drawingml/2006/main">
            <a:pPr>
              <a:def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补材料后继续研究。</a:t>
            </a:r>
          </a:p>
        </p:txBody>
      </p:sp>
      <p:sp>
        <p:nvSpPr>
          <p:cNvPr id="11" name="下一步先验证什么">
            <a:extLst xmlns:a="http://schemas.openxmlformats.org/drawingml/2006/main">
              <a:ext uri="{FF2B5EF4-FFF2-40B4-BE49-F238E27FC236}">
                <a16:creationId xmlns:a16="http://schemas.microsoft.com/office/drawing/2014/main" id="{DCC22FFA-F5AC-4146-85FF-5B382E4B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943350"/>
            <a:ext cx="49434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2E39"/>
                </a:solidFill>
                <a:latin typeface="Microsoft YaHei"/>
                <a:ea typeface="Microsoft YaHei"/>
                <a:cs typeface="Microsoft YaHei"/>
              </a:rPr>
              <a:t>下一步先验证什么</a:t>
            </a:r>
          </a:p>
        </p:txBody>
      </p:sp>
      <p:sp>
        <p:nvSpPr>
          <p:cNvPr id="12" name="在网点沟通中验证：用户能否读懂 依据与缺口，柜员能否说清下一步。">
            <a:extLst xmlns:a="http://schemas.openxmlformats.org/drawingml/2006/main">
              <a:ext uri="{FF2B5EF4-FFF2-40B4-BE49-F238E27FC236}">
                <a16:creationId xmlns:a16="http://schemas.microsoft.com/office/drawing/2014/main" id="{DB5469F5-7876-4A5B-8859-19F1AC7A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524375"/>
            <a:ext cx="49434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在网点沟通中验证：用户能否读懂</a:t>
            </a:r>
          </a:p>
          <a:p xmlns:a="http://schemas.openxmlformats.org/drawingml/2006/main">
            <a:pPr>
              <a:def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33A"/>
                </a:solidFill>
                <a:latin typeface="Microsoft YaHei"/>
                <a:ea typeface="Microsoft YaHei"/>
                <a:cs typeface="Microsoft YaHei"/>
              </a:rPr>
              <a:t>依据与缺口，柜员能否说清下一步。</a:t>
            </a:r>
          </a:p>
        </p:txBody>
      </p:sp>
    </p:spTree>
    <p:extLst>
      <p:ext uri="{BB962C8B-B14F-4D97-AF65-F5344CB8AC3E}">
        <p14:creationId xmlns:p14="http://schemas.microsoft.com/office/powerpoint/2010/main" val="1626999719"/>
      </p:ext>
    </p:extLst>
  </p:cSld>
</p:sld>
</file>

<file path=ppt/theme/theme1.xml><?xml version="1.0" encoding="utf-8"?>
<a:theme xmlns:a="http://schemas.openxmlformats.org/drawingml/2006/main" name="ChatGPT">
  <a:themeElements>
    <a:clrScheme name="企er 黄铜蓝柜">
      <a:dk1>
        <a:srgbClr val="29333A"/>
      </a:dk1>
      <a:lt1>
        <a:srgbClr val="F7F0E0"/>
      </a:lt1>
      <a:dk2>
        <a:srgbClr val="222E39"/>
      </a:dk2>
      <a:lt2>
        <a:srgbClr val="EDE2CD"/>
      </a:lt2>
      <a:accent1>
        <a:srgbClr val="B88B4C"/>
      </a:accent1>
      <a:accent2>
        <a:srgbClr val="E2BC78"/>
      </a:accent2>
      <a:accent3>
        <a:srgbClr val="527A80"/>
      </a:accent3>
      <a:accent4>
        <a:srgbClr val="A44738"/>
      </a:accent4>
      <a:accent5>
        <a:srgbClr val="506348"/>
      </a:accent5>
      <a:accent6>
        <a:srgbClr val="795037"/>
      </a:accent6>
      <a:hlink>
        <a:srgbClr val="527A80"/>
      </a:hlink>
      <a:folHlink>
        <a:srgbClr val="79503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企er 黄铜蓝柜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2026-10-02T21:46:55.1900000Z</dcterms:created>
  <dcterms:modified xsi:type="dcterms:W3CDTF">2026-10-02T21:46:55.1900000Z</dcterms:modified>
</coreProperties>
</file>