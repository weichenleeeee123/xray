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13feeb0c0044cde" /><Relationship Type="http://schemas.openxmlformats.org/officeDocument/2006/relationships/extended-properties" Target="/docProps/app.xml" Id="R1b4baf5cc1a549d2" /><Relationship Type="http://schemas.openxmlformats.org/officeDocument/2006/relationships/officeDocument" Target="/ppt/presentation.xml" Id="R7cd50ced42994ba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186d4d5d1cd412a"/>
  </p:sldMasterIdLst>
  <p:notesMasterIdLst>
    <p:notesMasterId xmlns:r="http://schemas.openxmlformats.org/officeDocument/2006/relationships" r:id="R13970282f33e40ae"/>
  </p:notesMasterIdLst>
  <p:sldIdLst>
    <p:sldId xmlns:r="http://schemas.openxmlformats.org/officeDocument/2006/relationships" id="256" r:id="R0ad54fd8a63f4276"/>
    <p:sldId xmlns:r="http://schemas.openxmlformats.org/officeDocument/2006/relationships" id="257" r:id="R6129d47ca5fc4cd9"/>
    <p:sldId xmlns:r="http://schemas.openxmlformats.org/officeDocument/2006/relationships" id="258" r:id="R905271aeb80644b6"/>
    <p:sldId xmlns:r="http://schemas.openxmlformats.org/officeDocument/2006/relationships" id="259" r:id="R4cf339ead3bc4563"/>
    <p:sldId xmlns:r="http://schemas.openxmlformats.org/officeDocument/2006/relationships" id="260" r:id="R79c5172751894460"/>
    <p:sldId xmlns:r="http://schemas.openxmlformats.org/officeDocument/2006/relationships" id="261" r:id="R959fb6b964fd4fd4"/>
    <p:sldId xmlns:r="http://schemas.openxmlformats.org/officeDocument/2006/relationships" id="262" r:id="Rb0c58e9f1a194837"/>
    <p:sldId xmlns:r="http://schemas.openxmlformats.org/officeDocument/2006/relationships" id="263" r:id="Rda54682fb73b4320"/>
    <p:sldId xmlns:r="http://schemas.openxmlformats.org/officeDocument/2006/relationships" id="264" r:id="Rbbb52b9b762c45cc"/>
    <p:sldId xmlns:r="http://schemas.openxmlformats.org/officeDocument/2006/relationships" id="265" r:id="R8cf72ebfbf0c441e"/>
    <p:sldId xmlns:r="http://schemas.openxmlformats.org/officeDocument/2006/relationships" id="266" r:id="Rd3c6eee321d74aaf"/>
    <p:sldId xmlns:r="http://schemas.openxmlformats.org/officeDocument/2006/relationships" id="267" r:id="R798f89fb6a89469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4b530da213d498c" /><Relationship Type="http://schemas.openxmlformats.org/officeDocument/2006/relationships/slideMaster" Target="/ppt/slideMasters/slideMaster1.xml" Id="Ra186d4d5d1cd412a" /><Relationship Type="http://schemas.openxmlformats.org/officeDocument/2006/relationships/notesMaster" Target="/ppt/notesMasters/notesMaster1.xml" Id="R13970282f33e40ae" /><Relationship Type="http://schemas.openxmlformats.org/officeDocument/2006/relationships/presProps" Target="/ppt/presProps.xml" Id="Re4b84799d34049fe" /><Relationship Type="http://schemas.openxmlformats.org/officeDocument/2006/relationships/tableStyles" Target="/ppt/tableStyles.xml" Id="R7e0127808dbe4891" /><Relationship Type="http://schemas.openxmlformats.org/officeDocument/2006/relationships/slide" Target="/ppt/slides/slide1.xml" Id="R0ad54fd8a63f4276" /><Relationship Type="http://schemas.openxmlformats.org/officeDocument/2006/relationships/slide" Target="/ppt/slides/slide2.xml" Id="R6129d47ca5fc4cd9" /><Relationship Type="http://schemas.openxmlformats.org/officeDocument/2006/relationships/slide" Target="/ppt/slides/slide3.xml" Id="R905271aeb80644b6" /><Relationship Type="http://schemas.openxmlformats.org/officeDocument/2006/relationships/slide" Target="/ppt/slides/slide4.xml" Id="R4cf339ead3bc4563" /><Relationship Type="http://schemas.openxmlformats.org/officeDocument/2006/relationships/slide" Target="/ppt/slides/slide5.xml" Id="R79c5172751894460" /><Relationship Type="http://schemas.openxmlformats.org/officeDocument/2006/relationships/slide" Target="/ppt/slides/slide6.xml" Id="R959fb6b964fd4fd4" /><Relationship Type="http://schemas.openxmlformats.org/officeDocument/2006/relationships/slide" Target="/ppt/slides/slide7.xml" Id="Rb0c58e9f1a194837" /><Relationship Type="http://schemas.openxmlformats.org/officeDocument/2006/relationships/slide" Target="/ppt/slides/slide8.xml" Id="Rda54682fb73b4320" /><Relationship Type="http://schemas.openxmlformats.org/officeDocument/2006/relationships/slide" Target="/ppt/slides/slide9.xml" Id="Rbbb52b9b762c45cc" /><Relationship Type="http://schemas.openxmlformats.org/officeDocument/2006/relationships/slide" Target="/ppt/slides/slide10.xml" Id="R8cf72ebfbf0c441e" /><Relationship Type="http://schemas.openxmlformats.org/officeDocument/2006/relationships/slide" Target="/ppt/slides/slide11.xml" Id="Rd3c6eee321d74aaf" /><Relationship Type="http://schemas.openxmlformats.org/officeDocument/2006/relationships/slide" Target="/ppt/slides/slide12.xml" Id="R798f89fb6a89469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62bd0e3a2f2487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企er 黄铜蓝柜">
      <a:dk1>
        <a:srgbClr val="29333A"/>
      </a:dk1>
      <a:lt1>
        <a:srgbClr val="F7F0E0"/>
      </a:lt1>
      <a:dk2>
        <a:srgbClr val="222E39"/>
      </a:dk2>
      <a:lt2>
        <a:srgbClr val="EDE2CD"/>
      </a:lt2>
      <a:accent1>
        <a:srgbClr val="B88B4C"/>
      </a:accent1>
      <a:accent2>
        <a:srgbClr val="E2BC78"/>
      </a:accent2>
      <a:accent3>
        <a:srgbClr val="527A80"/>
      </a:accent3>
      <a:accent4>
        <a:srgbClr val="A44738"/>
      </a:accent4>
      <a:accent5>
        <a:srgbClr val="506348"/>
      </a:accent5>
      <a:accent6>
        <a:srgbClr val="795037"/>
      </a:accent6>
      <a:hlink>
        <a:srgbClr val="527A80"/>
      </a:hlink>
      <a:folHlink>
        <a:srgbClr val="795037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企er 黄铜蓝柜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577c5374e434d4d" /><Relationship Type="http://schemas.openxmlformats.org/officeDocument/2006/relationships/notesMaster" Target="/ppt/notesMasters/notesMaster1.xml" Id="Rb46387ae996d498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b4eda75269547f2" /><Relationship Type="http://schemas.openxmlformats.org/officeDocument/2006/relationships/notesMaster" Target="/ppt/notesMasters/notesMaster1.xml" Id="R1cc3d1fcd59a475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2433d8b3c424f2a" /><Relationship Type="http://schemas.openxmlformats.org/officeDocument/2006/relationships/notesMaster" Target="/ppt/notesMasters/notesMaster1.xml" Id="Re44ae6728f2d404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62e0b11a0664097" /><Relationship Type="http://schemas.openxmlformats.org/officeDocument/2006/relationships/notesMaster" Target="/ppt/notesMasters/notesMaster1.xml" Id="R2faf0d17f8294e2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2944796ff614f0b" /><Relationship Type="http://schemas.openxmlformats.org/officeDocument/2006/relationships/notesMaster" Target="/ppt/notesMasters/notesMaster1.xml" Id="R1ded149aa7b04a5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b250c3b8d7a40ee" /><Relationship Type="http://schemas.openxmlformats.org/officeDocument/2006/relationships/notesMaster" Target="/ppt/notesMasters/notesMaster1.xml" Id="R8ce82053502146b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bfec09735714351" /><Relationship Type="http://schemas.openxmlformats.org/officeDocument/2006/relationships/notesMaster" Target="/ppt/notesMasters/notesMaster1.xml" Id="Rb97fa55bf00e461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f4c35f5b8b2448e" /><Relationship Type="http://schemas.openxmlformats.org/officeDocument/2006/relationships/notesMaster" Target="/ppt/notesMasters/notesMaster1.xml" Id="Rbe508312f5f1419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229e5072bb64605" /><Relationship Type="http://schemas.openxmlformats.org/officeDocument/2006/relationships/notesMaster" Target="/ppt/notesMasters/notesMaster1.xml" Id="Rad629e4b6a374e6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7cef7b315ab447b" /><Relationship Type="http://schemas.openxmlformats.org/officeDocument/2006/relationships/notesMaster" Target="/ppt/notesMasters/notesMaster1.xml" Id="Rd1443233b3f0444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b6e1242d7244071" /><Relationship Type="http://schemas.openxmlformats.org/officeDocument/2006/relationships/notesMaster" Target="/ppt/notesMasters/notesMaster1.xml" Id="R722eb11e4c5f4385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55ef60d732da4758" /><Relationship Type="http://schemas.openxmlformats.org/officeDocument/2006/relationships/notesMaster" Target="/ppt/notesMasters/notesMaster1.xml" Id="Ra7f72b621ff84ef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【主讲 15 秒】</a:t>
            </a:r>
          </a:p>
          <a:p xmlns:a="http://schemas.openxmlformats.org/drawingml/2006/main">
            <a:r>
              <a:t>大家好，我们做的是企 er，一个有出处的企业研究助手。把钱或信任交给一家公司之前，用户最需要的，是弄清这次决定有哪些依据，还有什么没确认。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【动作与停留】</a:t>
            </a:r>
          </a:p>
          <a:p xmlns:a="http://schemas.openxmlformats.org/drawingml/2006/main">
            <a:r>
              <a:t>开场停留，读完产品名再进入判断问题。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【来源与口径】</a:t>
            </a:r>
          </a:p>
          <a:p xmlns:a="http://schemas.openxmlformats.org/drawingml/2006/main">
            <a:r>
              <a:t>README.md 开头与底线；docs/2026-10-03-qier-color-palette.md。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【主讲 30 秒】</a:t>
            </a:r>
          </a:p>
          <a:p xmlns:a="http://schemas.openxmlformats.org/drawingml/2006/main">
            <a:r>
              <a:t>一个人准备买理财、接受 offer，或者找一家公司合作，通常已经看过不少介绍。但宣传、登记、年报和新闻分散在不同地方。查到一个数字，未必知道是不是同一家主体、是不是同一个时间点，更不知道它对这次决定意味着什么。企 er 要解决的，就是从一堆资料到一个具体判断之间的这段距离。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【动作与停留】</a:t>
            </a:r>
          </a:p>
          <a:p xmlns:a="http://schemas.openxmlformats.org/drawingml/2006/main">
            <a:r>
              <a:t>让主问题停留两秒，再解释下面两类困难。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【来源与口径】</a:t>
            </a:r>
          </a:p>
          <a:p xmlns:a="http://schemas.openxmlformats.org/drawingml/2006/main">
            <a:r>
              <a:t>docs/2026-10-02-xray-hackathon-prd.md 第 0–3 节。场景为产品定位，未声称用户调研结果。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【主讲 30 秒】</a:t>
            </a:r>
          </a:p>
          <a:p xmlns:a="http://schemas.openxmlformats.org/drawingml/2006/main">
            <a:r>
              <a:t>入口只需要公司全称。用户愿意的话，再说一句这次要做什么，例如替家人了解一笔理财，或核实刚收到的 offer。有宣传材料、合同，也可以一起提交。系统把资料汇进同一个案卷，需求决定先看哪些事项。首页的小企会跟着真实查询阶段工作，报告保存好以后，才出现完成入口。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【动作与停留】</a:t>
            </a:r>
          </a:p>
          <a:p xmlns:a="http://schemas.openxmlformats.org/drawingml/2006/main">
            <a:r>
              <a:t>指向公司输入与研究需求，预留约四秒。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【来源与口径】</a:t>
            </a:r>
          </a:p>
          <a:p xmlns:a="http://schemas.openxmlformats.org/drawingml/2006/main">
            <a:r>
              <a:t>README.md 快速开始；research-room/app；backend/app/models.py。画面中的案例仅说明输入方式。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【主讲 35 秒】</a:t>
            </a:r>
          </a:p>
          <a:p xmlns:a="http://schemas.openxmlformats.org/drawingml/2006/main">
            <a:r>
              <a:t>报告先回答这次最关心的问题。理财时先看收款主体和相关资格，求职时关注签约主体、劳动记录和是否要求先交钱。用户先读摘要，看到需要核实、查到记录、仍待确认和下一步，再看财务、信用、风险、口碑四个信号。要核对时，继续进入问询复核和详细信息。这样既能先看懂重点，也能深入找到每条判断的依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【动作与停留】</a:t>
            </a:r>
          </a:p>
          <a:p xmlns:a="http://schemas.openxmlformats.org/drawingml/2006/main">
            <a:r>
              <a:t>依次指向四层阅读路径，预留约五秒。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【来源与口径】</a:t>
            </a:r>
          </a:p>
          <a:p xmlns:a="http://schemas.openxmlformats.org/drawingml/2006/main">
            <a:r>
              <a:t>web/report-workspace.js 与 report-workspace.css 当前阅读摘要；backend/app/scenarios；backend/app/analysis/report.py。截图为主代理于 2026-10-03 提供的 report-brief-v2.jpg，模型 off，虚构案例第 2 版。需求影响核验范围、排序和措辞，不声称覆盖所有资料。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【主讲 35 秒】</a:t>
            </a:r>
          </a:p>
          <a:p xmlns:a="http://schemas.openxmlformats.org/drawingml/2006/main">
            <a:r>
              <a:t>这里用一段虚构材料说明产品怎么工作。系统保留对方的原话，把能核对的说法逐条列出，再展示相关记录和规则判断。用户可以看到哪里相符、哪里有差异，也能看到哪些说法还无法核验。对照时，要同时核对主体、日期和指标口径。比如宣传的门店与登记的分支机构，就需要把口径讲清楚。材料里写了什么，也不等于事实已经成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【动作与停留】</a:t>
            </a:r>
          </a:p>
          <a:p xmlns:a="http://schemas.openxmlformats.org/drawingml/2006/main">
            <a:r>
              <a:t>只指原话、记录和无法核验的位置，预留约六秒，不讲公司历史。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【来源与口径】</a:t>
            </a:r>
          </a:p>
          <a:p xmlns:a="http://schemas.openxmlformats.org/drawingml/2006/main">
            <a:r>
              <a:t>backend/app/models.py Verdict；backend/app/analysis/verify.py。截图为主代理于 2026-10-03 提供的 report-claims-compact.jpg，模型 off、公司为虚构，选取一张材料核对图的完整区域。此页只证明对照功能，不提供对真实公司的判断。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【主讲 35 秒】</a:t>
            </a:r>
          </a:p>
          <a:p xmlns:a="http://schemas.openxmlformats.org/drawingml/2006/main">
            <a:r>
              <a:t>一份可信的报告，还必须把空白讲明白。查到了，表示这个来源有记录。查了没有，表示在本次范围内没有匹配记录。没查，表示数据源没有覆盖，或者这次没有执行。查询失败，则表示请求没有成功。这四种情况不能混在一起。企 er 会保留来源和时间，让用户知道结论能说到哪里。尤其是未覆盖，不能被读成正常。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【动作与停留】</a:t>
            </a:r>
          </a:p>
          <a:p xmlns:a="http://schemas.openxmlformats.org/drawingml/2006/main">
            <a:r>
              <a:t>逐行指向四类状态，预留约四秒。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【来源与口径】</a:t>
            </a:r>
          </a:p>
          <a:p xmlns:a="http://schemas.openxmlformats.org/drawingml/2006/main">
            <a:r>
              <a:t>backend/app/models.py Coverage；backend/app/analysis/gaps.py；README.md 底线。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【主讲 35 秒】</a:t>
            </a:r>
          </a:p>
          <a:p xmlns:a="http://schemas.openxmlformats.org/drawingml/2006/main">
            <a:r>
              <a:t>如果用户看不懂某一条，可以选中它，再问小企。助手基于当前案卷和所选版本解释，关键事实带出处，点击引用能回到依据。图中是基础答复打开的第一版出处，当前没有连接模型。在线模型的回答同样要经过引用和引文校验。规则负责判定，AI 帮人理解材料和结果。聊天出现新情况，也需要加入案卷后重新分析。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【动作与停留】</a:t>
            </a:r>
          </a:p>
          <a:p xmlns:a="http://schemas.openxmlformats.org/drawingml/2006/main">
            <a:r>
              <a:t>指向回答的出处入口与规则边界，预留约六秒。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【来源与口径】</a:t>
            </a:r>
          </a:p>
          <a:p xmlns:a="http://schemas.openxmlformats.org/drawingml/2006/main">
            <a:r>
              <a:t>backend/app/assistant.py；backend/tests/test_assistant_grounding_rewrite.py。截图为主代理于 2026-10-03 提供的 report-assistant-citations.jpg，模型 off、虚构案例，选取出处弹窗的前两条来源。校验是具体边界措施，不代表零幻觉保证。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【主讲 35 秒】</a:t>
            </a:r>
          </a:p>
          <a:p xmlns:a="http://schemas.openxmlformats.org/drawingml/2006/main">
            <a:r>
              <a:t>实际判断很少一次结束。对方补了一份协议，用户收到新的回复，或者自己的需求变了，都可以继续补充。系统保留原来的版本，再生成新报告，并逐项说明哪里变了、为什么变，哪些保持不变。证据仍不足，也会继续写明。旧回答的引用会回到原来的版本，所以用户能复盘当时基于什么材料得出那条判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【动作与停留】</a:t>
            </a:r>
          </a:p>
          <a:p xmlns:a="http://schemas.openxmlformats.org/drawingml/2006/main">
            <a:r>
              <a:t>在 v1、补充、v2 三处各停顿，预留约五秒。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【来源与口径】</a:t>
            </a:r>
          </a:p>
          <a:p xmlns:a="http://schemas.openxmlformats.org/drawingml/2006/main">
            <a:r>
              <a:t>backend/app/analysis/diff.py；backend/app/analysis/judgments.py；backend/app/models.py Version；docs/demo-runbook.md 旧版引用验收。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【主讲 35 秒】</a:t>
            </a:r>
          </a:p>
          <a:p xmlns:a="http://schemas.openxmlformats.org/drawingml/2006/main">
            <a:r>
              <a:t>对个人，企 er 把查到的依据、还缺的资料和该问的问题放进一页报告，方便和家人一起讨论。对银行网点，现有的提示单可以作为沟通材料，帮助柜员把需要确认的事项讲具体。我们希望先验证这样一段沟通，能否帮助用户读懂来源、识别缺口，再决定补什么材料。它提供研究依据，最终决策仍由人作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【动作与停留】</a:t>
            </a:r>
          </a:p>
          <a:p xmlns:a="http://schemas.openxmlformats.org/drawingml/2006/main">
            <a:r>
              <a:t>强调网点用途是拟验证场景，预留约三秒。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【来源与口径】</a:t>
            </a:r>
          </a:p>
          <a:p xmlns:a="http://schemas.openxmlformats.org/drawingml/2006/main">
            <a:r>
              <a:t>backend/app/analysis/report.py onepager family/teller；docs/2026-10-02-xray-hackathon-prd.md 第 12 节。网点使用是拟验证方向，未声称客户采用或银行接入。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【主讲 15 秒】</a:t>
            </a:r>
          </a:p>
          <a:p xmlns:a="http://schemas.openxmlformats.org/drawingml/2006/main">
            <a:r>
              <a:t>企 er 把一次查询接成一份可以追问、补充和回看的案卷。把钱或信任交出去前，先把依据看清楚。谢谢大家。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【动作与停留】</a:t>
            </a:r>
          </a:p>
          <a:p xmlns:a="http://schemas.openxmlformats.org/drawingml/2006/main">
            <a:r>
              <a:t>收尾停留，不继续播放附录。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【来源与口径】</a:t>
            </a:r>
          </a:p>
          <a:p xmlns:a="http://schemas.openxmlformats.org/drawingml/2006/main">
            <a:r>
              <a:t>README.md 产品主线。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【答辩备用，不计入主讲】</a:t>
            </a:r>
          </a:p>
          <a:p xmlns:a="http://schemas.openxmlformats.org/drawingml/2006/main">
            <a:r>
              <a:t>答辩备用页，不计入五分钟主讲。说明数据、规则和 AI 各自承担的工作。联网来源受接口配置、查询时间和覆盖范围限制。产品不打安全分，也不对企业作安全担保。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【来源与口径】</a:t>
            </a:r>
          </a:p>
          <a:p xmlns:a="http://schemas.openxmlformats.org/drawingml/2006/main">
            <a:r>
              <a:t>README.md 数据与底线；backend/app/models.py；backend/app/assistant.py。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【答辩备用，不计入主讲】</a:t>
            </a:r>
          </a:p>
          <a:p xmlns:a="http://schemas.openxmlformats.org/drawingml/2006/main">
            <a:r>
              <a:t>答辩备用页，不计入五分钟主讲。问到商业化时，先讲拟验证的网点沟通场景，不声称已有客户、收费、合作或效果数字。问到数据完整性时，区分未覆盖和未匹配，明确公开记录的能力边界。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【来源与口径】</a:t>
            </a:r>
          </a:p>
          <a:p xmlns:a="http://schemas.openxmlformats.org/drawingml/2006/main">
            <a:r>
              <a:t>README.md；docs/2026-10-02-xray-hackathon-prd.md 第 12 节。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b2c99395420456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77a511f46d74164" /><Relationship Type="http://schemas.openxmlformats.org/officeDocument/2006/relationships/slideLayout" Target="/ppt/slideLayouts/slideLayout1.xml" Id="R0fb79997f144413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fb79997f144413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企er 黄铜蓝柜">
      <a:dk1>
        <a:srgbClr val="29333A"/>
      </a:dk1>
      <a:lt1>
        <a:srgbClr val="F7F0E0"/>
      </a:lt1>
      <a:dk2>
        <a:srgbClr val="222E39"/>
      </a:dk2>
      <a:lt2>
        <a:srgbClr val="EDE2CD"/>
      </a:lt2>
      <a:accent1>
        <a:srgbClr val="B88B4C"/>
      </a:accent1>
      <a:accent2>
        <a:srgbClr val="E2BC78"/>
      </a:accent2>
      <a:accent3>
        <a:srgbClr val="527A80"/>
      </a:accent3>
      <a:accent4>
        <a:srgbClr val="A44738"/>
      </a:accent4>
      <a:accent5>
        <a:srgbClr val="506348"/>
      </a:accent5>
      <a:accent6>
        <a:srgbClr val="795037"/>
      </a:accent6>
      <a:hlink>
        <a:srgbClr val="527A80"/>
      </a:hlink>
      <a:folHlink>
        <a:srgbClr val="795037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企er 黄铜蓝柜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940dcaed1f4832" /><Relationship Type="http://schemas.openxmlformats.org/officeDocument/2006/relationships/image" Target="/ppt/media/image.png" Id="R0cbf8c9a50164baf" /><Relationship Type="http://schemas.openxmlformats.org/officeDocument/2006/relationships/notesSlide" Target="/ppt/notesSlides/notesSlide1.xml" Id="R70df2352115c455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1ad52088d54fdb" /><Relationship Type="http://schemas.openxmlformats.org/officeDocument/2006/relationships/notesSlide" Target="/ppt/notesSlides/notesSlide2.xml" Id="Ra6184052d5fe43d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2550676c544c16" /><Relationship Type="http://schemas.openxmlformats.org/officeDocument/2006/relationships/image" Target="/ppt/media/image.jpeg" Id="R31208b8f858346b1" /><Relationship Type="http://schemas.openxmlformats.org/officeDocument/2006/relationships/notesSlide" Target="/ppt/notesSlides/notesSlide3.xml" Id="Rcf8a00247ad74c6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7a98d30514432f" /><Relationship Type="http://schemas.openxmlformats.org/officeDocument/2006/relationships/image" Target="/ppt/media/image2.jpeg" Id="Re2a35ead02e342c2" /><Relationship Type="http://schemas.openxmlformats.org/officeDocument/2006/relationships/notesSlide" Target="/ppt/notesSlides/notesSlide4.xml" Id="R1651a013b71446a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bf4c7e8ccf407a" /><Relationship Type="http://schemas.openxmlformats.org/officeDocument/2006/relationships/image" Target="/ppt/media/image3.jpeg" Id="Rd0854ca9d87142e9" /><Relationship Type="http://schemas.openxmlformats.org/officeDocument/2006/relationships/notesSlide" Target="/ppt/notesSlides/notesSlide5.xml" Id="R2608331592d541b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1d34e087144b8f" /><Relationship Type="http://schemas.openxmlformats.org/officeDocument/2006/relationships/notesSlide" Target="/ppt/notesSlides/notesSlide6.xml" Id="R52a15c8815d843b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aa4fadb75c4bad" /><Relationship Type="http://schemas.openxmlformats.org/officeDocument/2006/relationships/image" Target="/ppt/media/image4.jpeg" Id="R8fc72fe26fdc4eca" /><Relationship Type="http://schemas.openxmlformats.org/officeDocument/2006/relationships/notesSlide" Target="/ppt/notesSlides/notesSlide7.xml" Id="R06b0ba28f9444fe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c45e70e23d4a60" /><Relationship Type="http://schemas.openxmlformats.org/officeDocument/2006/relationships/notesSlide" Target="/ppt/notesSlides/notesSlide8.xml" Id="R945312f93c404b5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68bb2eb77c4d16" /><Relationship Type="http://schemas.openxmlformats.org/officeDocument/2006/relationships/notesSlide" Target="/ppt/notesSlides/notesSlide9.xml" Id="R888a6469a9c247f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d4ba171c95426e" /><Relationship Type="http://schemas.openxmlformats.org/officeDocument/2006/relationships/image" Target="/ppt/media/image2.png" Id="Rbc4315d0d0d64e73" /><Relationship Type="http://schemas.openxmlformats.org/officeDocument/2006/relationships/notesSlide" Target="/ppt/notesSlides/notesSlide10.xml" Id="R8e6a036a351f4b1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b3900abbd44f03" /><Relationship Type="http://schemas.openxmlformats.org/officeDocument/2006/relationships/notesSlide" Target="/ppt/notesSlides/notesSlide11.xml" Id="R12aaae153d3c496d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c9954dd8964c77" /><Relationship Type="http://schemas.openxmlformats.org/officeDocument/2006/relationships/notesSlide" Target="/ppt/notesSlides/notesSlide12.xml" Id="R36741ef4811b4ec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92A3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cbf8c9a50164baf"/>
          <a:stretch xmlns:a="http://schemas.openxmlformats.org/drawingml/2006/main"/>
        </p:blipFill>
        <p:spPr>
          <a:xfrm xmlns:a="http://schemas.openxmlformats.org/drawingml/2006/main">
            <a:off x="5982166" y="0"/>
            <a:ext cx="6209369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企er">
            <a:extLst xmlns:a="http://schemas.openxmlformats.org/drawingml/2006/main">
              <a:ext uri="{FF2B5EF4-FFF2-40B4-BE49-F238E27FC236}">
                <a16:creationId xmlns:a16="http://schemas.microsoft.com/office/drawing/2014/main" id="{98D2DF09-06A6-4AB3-9DE8-A14CA0EA0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85875"/>
            <a:ext cx="5095875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7800" b="1">
                <a:solidFill>
                  <a:srgbClr val="F7F0E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00" b="1">
                <a:solidFill>
                  <a:srgbClr val="F7F0E0"/>
                </a:solidFill>
                <a:latin typeface="Microsoft YaHei"/>
                <a:ea typeface="Microsoft YaHei"/>
                <a:cs typeface="Microsoft YaHei"/>
              </a:rPr>
              <a:t>企er</a:t>
            </a:r>
          </a:p>
        </p:txBody>
      </p:sp>
      <p:sp>
        <p:nvSpPr>
          <p:cNvPr id="3" name="有出处的 企业研究助手">
            <a:extLst xmlns:a="http://schemas.openxmlformats.org/drawingml/2006/main">
              <a:ext uri="{FF2B5EF4-FFF2-40B4-BE49-F238E27FC236}">
                <a16:creationId xmlns:a16="http://schemas.microsoft.com/office/drawing/2014/main" id="{9547B3FD-A8B4-43A9-8A0D-4E24845F1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048000"/>
            <a:ext cx="5095875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F7F0E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050" b="1">
                <a:solidFill>
                  <a:srgbClr val="F7F0E0"/>
                </a:solidFill>
                <a:latin typeface="Microsoft YaHei"/>
                <a:ea typeface="Microsoft YaHei"/>
                <a:cs typeface="Microsoft YaHei"/>
              </a:rPr>
              <a:t>有出处的</a:t>
            </a:r>
          </a:p>
          <a:p xmlns:a="http://schemas.openxmlformats.org/drawingml/2006/main">
            <a:pPr>
              <a:defRPr sz="4050" b="1">
                <a:solidFill>
                  <a:srgbClr val="F7F0E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050" b="1">
                <a:solidFill>
                  <a:srgbClr val="F7F0E0"/>
                </a:solidFill>
                <a:latin typeface="Microsoft YaHei"/>
                <a:ea typeface="Microsoft YaHei"/>
                <a:cs typeface="Microsoft YaHei"/>
              </a:rPr>
              <a:t>企业研究助手</a:t>
            </a:r>
          </a:p>
        </p:txBody>
      </p:sp>
      <p:sp>
        <p:nvSpPr>
          <p:cNvPr id="4" name="把钱或信任交出去前， 先把依据看清楚">
            <a:extLst xmlns:a="http://schemas.openxmlformats.org/drawingml/2006/main">
              <a:ext uri="{FF2B5EF4-FFF2-40B4-BE49-F238E27FC236}">
                <a16:creationId xmlns:a16="http://schemas.microsoft.com/office/drawing/2014/main" id="{BD024CC6-CB39-49ED-A853-A9030AFAA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5000625"/>
            <a:ext cx="4857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E2BC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E2BC78"/>
                </a:solidFill>
                <a:latin typeface="Microsoft YaHei"/>
                <a:ea typeface="Microsoft YaHei"/>
                <a:cs typeface="Microsoft YaHei"/>
              </a:rPr>
              <a:t>把钱或信任交出去前，</a:t>
            </a:r>
          </a:p>
          <a:p xmlns:a="http://schemas.openxmlformats.org/drawingml/2006/main">
            <a:pPr>
              <a:defRPr sz="2250" b="0">
                <a:solidFill>
                  <a:srgbClr val="E2BC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E2BC78"/>
                </a:solidFill>
                <a:latin typeface="Microsoft YaHei"/>
                <a:ea typeface="Microsoft YaHei"/>
                <a:cs typeface="Microsoft YaHei"/>
              </a:rPr>
              <a:t>先把依据看清楚</a:t>
            </a:r>
          </a:p>
        </p:txBody>
      </p:sp>
      <p:sp>
        <p:nvSpPr>
          <p:cNvPr id="5" name="回响48H 黑客松  杭州银行「X-Ray 透视·真相」">
            <a:extLst xmlns:a="http://schemas.openxmlformats.org/drawingml/2006/main">
              <a:ext uri="{FF2B5EF4-FFF2-40B4-BE49-F238E27FC236}">
                <a16:creationId xmlns:a16="http://schemas.microsoft.com/office/drawing/2014/main" id="{B020F301-FD31-47E2-A488-7CEA484D3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76250"/>
            <a:ext cx="9525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E2BC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E2BC78"/>
                </a:solidFill>
                <a:latin typeface="Microsoft YaHei"/>
                <a:ea typeface="Microsoft YaHei"/>
                <a:cs typeface="Microsoft YaHei"/>
              </a:rPr>
              <a:t>回响48H 黑客松  杭州银行「X-Ray 透视·真相」</a:t>
            </a:r>
          </a:p>
        </p:txBody>
      </p:sp>
    </p:spTree>
    <p:extLst>
      <p:ext uri="{BB962C8B-B14F-4D97-AF65-F5344CB8AC3E}">
        <p14:creationId xmlns:p14="http://schemas.microsoft.com/office/powerpoint/2010/main" val="36711383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0E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托付之前的判断难题">
            <a:extLst xmlns:a="http://schemas.openxmlformats.org/drawingml/2006/main">
              <a:ext uri="{FF2B5EF4-FFF2-40B4-BE49-F238E27FC236}">
                <a16:creationId xmlns:a16="http://schemas.microsoft.com/office/drawing/2014/main" id="{B6C77F2F-AECA-473D-BBB7-586CCCD90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23875"/>
            <a:ext cx="108966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222E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222E39"/>
                </a:solidFill>
                <a:latin typeface="Microsoft YaHei"/>
                <a:ea typeface="Microsoft YaHei"/>
                <a:cs typeface="Microsoft YaHei"/>
              </a:rPr>
              <a:t>托付之前的判断难题</a:t>
            </a:r>
          </a:p>
        </p:txBody>
      </p:sp>
      <p:sp>
        <p:nvSpPr>
          <p:cNvPr id="2" name="企er">
            <a:extLst xmlns:a="http://schemas.openxmlformats.org/drawingml/2006/main">
              <a:ext uri="{FF2B5EF4-FFF2-40B4-BE49-F238E27FC236}">
                <a16:creationId xmlns:a16="http://schemas.microsoft.com/office/drawing/2014/main" id="{710E5FF5-C129-4AEA-A41A-FDD389A2F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4365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6F67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6F675B"/>
                </a:solidFill>
                <a:latin typeface="Microsoft YaHei"/>
                <a:ea typeface="Microsoft YaHei"/>
                <a:cs typeface="Microsoft YaHei"/>
              </a:rPr>
              <a:t>企er</a:t>
            </a:r>
          </a:p>
        </p:txBody>
      </p:sp>
      <p:sp>
        <p:nvSpPr>
          <p:cNvPr id="3" name="2">
            <a:extLst xmlns:a="http://schemas.openxmlformats.org/drawingml/2006/main">
              <a:ext uri="{FF2B5EF4-FFF2-40B4-BE49-F238E27FC236}">
                <a16:creationId xmlns:a16="http://schemas.microsoft.com/office/drawing/2014/main" id="{E169C741-155D-4978-AE3B-E5AE00C9F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343650"/>
            <a:ext cx="647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6F67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F675B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4" name="资料已经很多， 哪些与这次决定有关？">
            <a:extLst xmlns:a="http://schemas.openxmlformats.org/drawingml/2006/main">
              <a:ext uri="{FF2B5EF4-FFF2-40B4-BE49-F238E27FC236}">
                <a16:creationId xmlns:a16="http://schemas.microsoft.com/office/drawing/2014/main" id="{19AB49C3-CAB0-49AB-A7E6-312AA6290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9715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222E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222E39"/>
                </a:solidFill>
                <a:latin typeface="Microsoft YaHei"/>
                <a:ea typeface="Microsoft YaHei"/>
                <a:cs typeface="Microsoft YaHei"/>
              </a:rPr>
              <a:t>资料已经很多，</a:t>
            </a:r>
          </a:p>
          <a:p xmlns:a="http://schemas.openxmlformats.org/drawingml/2006/main">
            <a:pPr>
              <a:defRPr sz="4350" b="1">
                <a:solidFill>
                  <a:srgbClr val="222E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222E39"/>
                </a:solidFill>
                <a:latin typeface="Microsoft YaHei"/>
                <a:ea typeface="Microsoft YaHei"/>
                <a:cs typeface="Microsoft YaHei"/>
              </a:rPr>
              <a:t>哪些与这次决定有关？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BCD985-BEAA-469B-A0A1-BDBB8E752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2900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9CCB4"/>
            </a:solidFill>
          </a:ln>
        </p:spPr>
      </p:sp>
      <p:sp>
        <p:nvSpPr>
          <p:cNvPr id="6" name="信息散在各处">
            <a:extLst xmlns:a="http://schemas.openxmlformats.org/drawingml/2006/main">
              <a:ext uri="{FF2B5EF4-FFF2-40B4-BE49-F238E27FC236}">
                <a16:creationId xmlns:a16="http://schemas.microsoft.com/office/drawing/2014/main" id="{091F5123-F3E2-4502-8672-A80B2E7B1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9525"/>
            <a:ext cx="447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222E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22E39"/>
                </a:solidFill>
                <a:latin typeface="Microsoft YaHei"/>
                <a:ea typeface="Microsoft YaHei"/>
                <a:cs typeface="Microsoft YaHei"/>
              </a:rPr>
              <a:t>信息散在各处</a:t>
            </a:r>
          </a:p>
        </p:txBody>
      </p:sp>
      <p:sp>
        <p:nvSpPr>
          <p:cNvPr id="7" name="公司介绍、登记、年报和新闻 需要放在一起核对">
            <a:extLst xmlns:a="http://schemas.openxmlformats.org/drawingml/2006/main">
              <a:ext uri="{FF2B5EF4-FFF2-40B4-BE49-F238E27FC236}">
                <a16:creationId xmlns:a16="http://schemas.microsoft.com/office/drawing/2014/main" id="{11A73462-7ACE-4535-B43B-0789D0883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19600"/>
            <a:ext cx="44767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933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9333A"/>
                </a:solidFill>
                <a:latin typeface="Microsoft YaHei"/>
                <a:ea typeface="Microsoft YaHei"/>
                <a:cs typeface="Microsoft YaHei"/>
              </a:rPr>
              <a:t>公司介绍、登记、年报和新闻</a:t>
            </a:r>
          </a:p>
          <a:p xmlns:a="http://schemas.openxmlformats.org/drawingml/2006/main">
            <a:pPr>
              <a:defRPr sz="2100" b="0">
                <a:solidFill>
                  <a:srgbClr val="2933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9333A"/>
                </a:solidFill>
                <a:latin typeface="Microsoft YaHei"/>
                <a:ea typeface="Microsoft YaHei"/>
                <a:cs typeface="Microsoft YaHei"/>
              </a:rPr>
              <a:t>需要放在一起核对</a:t>
            </a:r>
          </a:p>
        </p:txBody>
      </p:sp>
      <p:sp>
        <p:nvSpPr>
          <p:cNvPr id="8" name="记录还需要读懂">
            <a:extLst xmlns:a="http://schemas.openxmlformats.org/drawingml/2006/main">
              <a:ext uri="{FF2B5EF4-FFF2-40B4-BE49-F238E27FC236}">
                <a16:creationId xmlns:a16="http://schemas.microsoft.com/office/drawing/2014/main" id="{7381A6A9-0033-4D5C-9CE8-3BC37AA4E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819525"/>
            <a:ext cx="4524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222E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22E39"/>
                </a:solidFill>
                <a:latin typeface="Microsoft YaHei"/>
                <a:ea typeface="Microsoft YaHei"/>
                <a:cs typeface="Microsoft YaHei"/>
              </a:rPr>
              <a:t>记录还需要读懂</a:t>
            </a:r>
          </a:p>
        </p:txBody>
      </p:sp>
      <p:sp>
        <p:nvSpPr>
          <p:cNvPr id="9" name="主体、时间和指标口径 会影响它能支持什么判断">
            <a:extLst xmlns:a="http://schemas.openxmlformats.org/drawingml/2006/main">
              <a:ext uri="{FF2B5EF4-FFF2-40B4-BE49-F238E27FC236}">
                <a16:creationId xmlns:a16="http://schemas.microsoft.com/office/drawing/2014/main" id="{28E6F4DC-6985-45D0-9372-CC925C54D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419600"/>
            <a:ext cx="452437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933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9333A"/>
                </a:solidFill>
                <a:latin typeface="Microsoft YaHei"/>
                <a:ea typeface="Microsoft YaHei"/>
                <a:cs typeface="Microsoft YaHei"/>
              </a:rPr>
              <a:t>主体、时间和指标口径</a:t>
            </a:r>
          </a:p>
          <a:p xmlns:a="http://schemas.openxmlformats.org/drawingml/2006/main">
            <a:pPr>
              <a:defRPr sz="2100" b="0">
                <a:solidFill>
                  <a:srgbClr val="2933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9333A"/>
                </a:solidFill>
                <a:latin typeface="Microsoft YaHei"/>
                <a:ea typeface="Microsoft YaHei"/>
                <a:cs typeface="Microsoft YaHei"/>
              </a:rPr>
              <a:t>会影响它能支持什么判断</a:t>
            </a:r>
          </a:p>
        </p:txBody>
      </p:sp>
    </p:spTree>
    <p:extLst>
      <p:ext uri="{BB962C8B-B14F-4D97-AF65-F5344CB8AC3E}">
        <p14:creationId xmlns:p14="http://schemas.microsoft.com/office/powerpoint/2010/main" val="87642459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0E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公司全称，加一句需求">
            <a:extLst xmlns:a="http://schemas.openxmlformats.org/drawingml/2006/main">
              <a:ext uri="{FF2B5EF4-FFF2-40B4-BE49-F238E27FC236}">
                <a16:creationId xmlns:a16="http://schemas.microsoft.com/office/drawing/2014/main" id="{BBBAFA97-7DB3-4CA5-AEA1-2BED72659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23875"/>
            <a:ext cx="108966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222E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222E39"/>
                </a:solidFill>
                <a:latin typeface="Microsoft YaHei"/>
                <a:ea typeface="Microsoft YaHei"/>
                <a:cs typeface="Microsoft YaHei"/>
              </a:rPr>
              <a:t>公司全称，加一句需求</a:t>
            </a:r>
          </a:p>
        </p:txBody>
      </p:sp>
      <p:sp>
        <p:nvSpPr>
          <p:cNvPr id="2" name="企er">
            <a:extLst xmlns:a="http://schemas.openxmlformats.org/drawingml/2006/main">
              <a:ext uri="{FF2B5EF4-FFF2-40B4-BE49-F238E27FC236}">
                <a16:creationId xmlns:a16="http://schemas.microsoft.com/office/drawing/2014/main" id="{949EFD00-A11A-42A6-B693-CAF70CD67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4365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6F67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6F675B"/>
                </a:solidFill>
                <a:latin typeface="Microsoft YaHei"/>
                <a:ea typeface="Microsoft YaHei"/>
                <a:cs typeface="Microsoft YaHei"/>
              </a:rPr>
              <a:t>企er</a:t>
            </a:r>
          </a:p>
        </p:txBody>
      </p:sp>
      <p:sp>
        <p:nvSpPr>
          <p:cNvPr id="3" name="3">
            <a:extLst xmlns:a="http://schemas.openxmlformats.org/drawingml/2006/main">
              <a:ext uri="{FF2B5EF4-FFF2-40B4-BE49-F238E27FC236}">
                <a16:creationId xmlns:a16="http://schemas.microsoft.com/office/drawing/2014/main" id="{C95D5F40-DEE2-4267-96B4-48E2BE0EA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343650"/>
            <a:ext cx="647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6F67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F675B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1208b8f858346b1"/>
          <a:stretch xmlns:a="http://schemas.openxmlformats.org/drawingml/2006/main"/>
        </p:blipFill>
        <p:spPr>
          <a:xfrm xmlns:a="http://schemas.openxmlformats.org/drawingml/2006/main">
            <a:off x="647700" y="1636250"/>
            <a:ext cx="7810500" cy="4309401"/>
          </a:xfrm>
          <a:prstGeom xmlns:a="http://schemas.openxmlformats.org/drawingml/2006/main" prst="rect">
            <a:avLst/>
          </a:prstGeom>
        </p:spPr>
      </p:pic>
      <p:sp>
        <p:nvSpPr>
          <p:cNvPr id="5" name="公司全称">
            <a:extLst xmlns:a="http://schemas.openxmlformats.org/drawingml/2006/main">
              <a:ext uri="{FF2B5EF4-FFF2-40B4-BE49-F238E27FC236}">
                <a16:creationId xmlns:a16="http://schemas.microsoft.com/office/drawing/2014/main" id="{0D6F3E90-3571-4CED-B04A-83CDCAA18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1676400"/>
            <a:ext cx="27051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222E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22E39"/>
                </a:solidFill>
                <a:latin typeface="Microsoft YaHei"/>
                <a:ea typeface="Microsoft YaHei"/>
                <a:cs typeface="Microsoft YaHei"/>
              </a:rPr>
              <a:t>公司全称</a:t>
            </a:r>
          </a:p>
        </p:txBody>
      </p:sp>
      <p:sp>
        <p:nvSpPr>
          <p:cNvPr id="6" name="明确这次查谁">
            <a:extLst xmlns:a="http://schemas.openxmlformats.org/drawingml/2006/main">
              <a:ext uri="{FF2B5EF4-FFF2-40B4-BE49-F238E27FC236}">
                <a16:creationId xmlns:a16="http://schemas.microsoft.com/office/drawing/2014/main" id="{44CC6735-6C8C-4FE8-9D92-580F2AB87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171700"/>
            <a:ext cx="27051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2933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333A"/>
                </a:solidFill>
                <a:latin typeface="Microsoft YaHei"/>
                <a:ea typeface="Microsoft YaHei"/>
                <a:cs typeface="Microsoft YaHei"/>
              </a:rPr>
              <a:t>明确这次查谁</a:t>
            </a:r>
          </a:p>
        </p:txBody>
      </p:sp>
      <p:sp>
        <p:nvSpPr>
          <p:cNvPr id="7" name="这次想做什么">
            <a:extLst xmlns:a="http://schemas.openxmlformats.org/drawingml/2006/main">
              <a:ext uri="{FF2B5EF4-FFF2-40B4-BE49-F238E27FC236}">
                <a16:creationId xmlns:a16="http://schemas.microsoft.com/office/drawing/2014/main" id="{F45D44B7-27A9-4A07-BB7D-7CBEE25F4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181350"/>
            <a:ext cx="27051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222E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22E39"/>
                </a:solidFill>
                <a:latin typeface="Microsoft YaHei"/>
                <a:ea typeface="Microsoft YaHei"/>
                <a:cs typeface="Microsoft YaHei"/>
              </a:rPr>
              <a:t>这次想做什么</a:t>
            </a:r>
          </a:p>
        </p:txBody>
      </p:sp>
      <p:sp>
        <p:nvSpPr>
          <p:cNvPr id="8" name="理财、求职或合作 重点随需求改变">
            <a:extLst xmlns:a="http://schemas.openxmlformats.org/drawingml/2006/main">
              <a:ext uri="{FF2B5EF4-FFF2-40B4-BE49-F238E27FC236}">
                <a16:creationId xmlns:a16="http://schemas.microsoft.com/office/drawing/2014/main" id="{4BE63ACE-40F0-474E-BD02-1B61D32BB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676650"/>
            <a:ext cx="27051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2933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333A"/>
                </a:solidFill>
                <a:latin typeface="Microsoft YaHei"/>
                <a:ea typeface="Microsoft YaHei"/>
                <a:cs typeface="Microsoft YaHei"/>
              </a:rPr>
              <a:t>理财、求职或合作</a:t>
            </a:r>
          </a:p>
          <a:p xmlns:a="http://schemas.openxmlformats.org/drawingml/2006/main">
            <a:pPr>
              <a:defRPr sz="1950" b="0">
                <a:solidFill>
                  <a:srgbClr val="2933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333A"/>
                </a:solidFill>
                <a:latin typeface="Microsoft YaHei"/>
                <a:ea typeface="Microsoft YaHei"/>
                <a:cs typeface="Microsoft YaHei"/>
              </a:rPr>
              <a:t>重点随需求改变</a:t>
            </a:r>
          </a:p>
        </p:txBody>
      </p:sp>
      <p:sp>
        <p:nvSpPr>
          <p:cNvPr id="9" name="材料可选">
            <a:extLst xmlns:a="http://schemas.openxmlformats.org/drawingml/2006/main">
              <a:ext uri="{FF2B5EF4-FFF2-40B4-BE49-F238E27FC236}">
                <a16:creationId xmlns:a16="http://schemas.microsoft.com/office/drawing/2014/main" id="{35864AE9-89A9-401F-8BC3-0170CF12D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5010150"/>
            <a:ext cx="2705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8A64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8A641F"/>
                </a:solidFill>
                <a:latin typeface="Microsoft YaHei"/>
                <a:ea typeface="Microsoft YaHei"/>
                <a:cs typeface="Microsoft YaHei"/>
              </a:rPr>
              <a:t>材料可选</a:t>
            </a:r>
          </a:p>
        </p:txBody>
      </p:sp>
      <p:sp>
        <p:nvSpPr>
          <p:cNvPr id="10" name="宣传单、合同、回复">
            <a:extLst xmlns:a="http://schemas.openxmlformats.org/drawingml/2006/main">
              <a:ext uri="{FF2B5EF4-FFF2-40B4-BE49-F238E27FC236}">
                <a16:creationId xmlns:a16="http://schemas.microsoft.com/office/drawing/2014/main" id="{FB9D00C3-5986-474A-937C-660DDFCD1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5467350"/>
            <a:ext cx="2705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6F67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6F675B"/>
                </a:solidFill>
                <a:latin typeface="Microsoft YaHei"/>
                <a:ea typeface="Microsoft YaHei"/>
                <a:cs typeface="Microsoft YaHei"/>
              </a:rPr>
              <a:t>宣传单、合同、回复</a:t>
            </a:r>
          </a:p>
        </p:txBody>
      </p:sp>
    </p:spTree>
    <p:extLst>
      <p:ext uri="{BB962C8B-B14F-4D97-AF65-F5344CB8AC3E}">
        <p14:creationId xmlns:p14="http://schemas.microsoft.com/office/powerpoint/2010/main" val="62025293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0E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报告跟着这次需求组织">
            <a:extLst xmlns:a="http://schemas.openxmlformats.org/drawingml/2006/main">
              <a:ext uri="{FF2B5EF4-FFF2-40B4-BE49-F238E27FC236}">
                <a16:creationId xmlns:a16="http://schemas.microsoft.com/office/drawing/2014/main" id="{0C4F7BA0-1064-483E-80CB-74AFEB856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23875"/>
            <a:ext cx="108966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222E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222E39"/>
                </a:solidFill>
                <a:latin typeface="Microsoft YaHei"/>
                <a:ea typeface="Microsoft YaHei"/>
                <a:cs typeface="Microsoft YaHei"/>
              </a:rPr>
              <a:t>报告跟着这次需求组织</a:t>
            </a:r>
          </a:p>
        </p:txBody>
      </p:sp>
      <p:sp>
        <p:nvSpPr>
          <p:cNvPr id="2" name="企er">
            <a:extLst xmlns:a="http://schemas.openxmlformats.org/drawingml/2006/main">
              <a:ext uri="{FF2B5EF4-FFF2-40B4-BE49-F238E27FC236}">
                <a16:creationId xmlns:a16="http://schemas.microsoft.com/office/drawing/2014/main" id="{06EE9BE3-EF83-4F4D-BFB9-FB95189DD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4365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6F67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6F675B"/>
                </a:solidFill>
                <a:latin typeface="Microsoft YaHei"/>
                <a:ea typeface="Microsoft YaHei"/>
                <a:cs typeface="Microsoft YaHei"/>
              </a:rPr>
              <a:t>企er</a:t>
            </a:r>
          </a:p>
        </p:txBody>
      </p:sp>
      <p:sp>
        <p:nvSpPr>
          <p:cNvPr id="3" name="4">
            <a:extLst xmlns:a="http://schemas.openxmlformats.org/drawingml/2006/main">
              <a:ext uri="{FF2B5EF4-FFF2-40B4-BE49-F238E27FC236}">
                <a16:creationId xmlns:a16="http://schemas.microsoft.com/office/drawing/2014/main" id="{44E69AB3-318D-4698-AD6A-ED817BAF2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343650"/>
            <a:ext cx="647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6F67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F675B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4" name="阅读摘要">
            <a:extLst xmlns:a="http://schemas.openxmlformats.org/drawingml/2006/main">
              <a:ext uri="{FF2B5EF4-FFF2-40B4-BE49-F238E27FC236}">
                <a16:creationId xmlns:a16="http://schemas.microsoft.com/office/drawing/2014/main" id="{15DB87EA-E536-4262-95AE-18BCC4894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38275"/>
            <a:ext cx="2514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222E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22E39"/>
                </a:solidFill>
                <a:latin typeface="Microsoft YaHei"/>
                <a:ea typeface="Microsoft YaHei"/>
                <a:cs typeface="Microsoft YaHei"/>
              </a:rPr>
              <a:t>阅读摘要</a:t>
            </a:r>
          </a:p>
        </p:txBody>
      </p:sp>
      <p:sp>
        <p:nvSpPr>
          <p:cNvPr id="5" name="四个信号">
            <a:extLst xmlns:a="http://schemas.openxmlformats.org/drawingml/2006/main">
              <a:ext uri="{FF2B5EF4-FFF2-40B4-BE49-F238E27FC236}">
                <a16:creationId xmlns:a16="http://schemas.microsoft.com/office/drawing/2014/main" id="{E7510618-C6D2-4DB6-B477-5DC247194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1438275"/>
            <a:ext cx="2514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222E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22E39"/>
                </a:solidFill>
                <a:latin typeface="Microsoft YaHei"/>
                <a:ea typeface="Microsoft YaHei"/>
                <a:cs typeface="Microsoft YaHei"/>
              </a:rPr>
              <a:t>四个信号</a:t>
            </a:r>
          </a:p>
        </p:txBody>
      </p:sp>
      <p:sp>
        <p:nvSpPr>
          <p:cNvPr id="6" name="问询复核">
            <a:extLst xmlns:a="http://schemas.openxmlformats.org/drawingml/2006/main">
              <a:ext uri="{FF2B5EF4-FFF2-40B4-BE49-F238E27FC236}">
                <a16:creationId xmlns:a16="http://schemas.microsoft.com/office/drawing/2014/main" id="{A3D78D8F-03A9-4DD8-B5C7-B1B2AD64A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1438275"/>
            <a:ext cx="2514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222E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22E39"/>
                </a:solidFill>
                <a:latin typeface="Microsoft YaHei"/>
                <a:ea typeface="Microsoft YaHei"/>
                <a:cs typeface="Microsoft YaHei"/>
              </a:rPr>
              <a:t>问询复核</a:t>
            </a:r>
          </a:p>
        </p:txBody>
      </p:sp>
      <p:sp>
        <p:nvSpPr>
          <p:cNvPr id="7" name="详细信息与来源">
            <a:extLst xmlns:a="http://schemas.openxmlformats.org/drawingml/2006/main">
              <a:ext uri="{FF2B5EF4-FFF2-40B4-BE49-F238E27FC236}">
                <a16:creationId xmlns:a16="http://schemas.microsoft.com/office/drawing/2014/main" id="{24685306-0AB9-47D8-8996-C7376418C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1438275"/>
            <a:ext cx="3181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222E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22E39"/>
                </a:solidFill>
                <a:latin typeface="Microsoft YaHei"/>
                <a:ea typeface="Microsoft YaHei"/>
                <a:cs typeface="Microsoft YaHei"/>
              </a:rPr>
              <a:t>详细信息与来源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2a35ead02e342c2"/>
          <a:srcRect xmlns:a="http://schemas.openxmlformats.org/drawingml/2006/main" l="12700" t="48300" r="2700" b="200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7700" y="2038350"/>
            <a:ext cx="10896600" cy="3533775"/>
          </a:xfrm>
          <a:prstGeom xmlns:a="http://schemas.openxmlformats.org/drawingml/2006/main" prst="rect">
            <a:avLst/>
          </a:prstGeom>
        </p:spPr>
      </p:pic>
      <p:sp>
        <p:nvSpPr>
          <p:cNvPr id="9" name="虚构公司演示画面，未接模型">
            <a:extLst xmlns:a="http://schemas.openxmlformats.org/drawingml/2006/main">
              <a:ext uri="{FF2B5EF4-FFF2-40B4-BE49-F238E27FC236}">
                <a16:creationId xmlns:a16="http://schemas.microsoft.com/office/drawing/2014/main" id="{7DF67097-191B-4903-860E-A8796B1E3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924550"/>
            <a:ext cx="10896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6F67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F675B"/>
                </a:solidFill>
                <a:latin typeface="Microsoft YaHei"/>
                <a:ea typeface="Microsoft YaHei"/>
                <a:cs typeface="Microsoft YaHei"/>
              </a:rPr>
              <a:t>虚构公司演示画面，未接模型</a:t>
            </a:r>
          </a:p>
        </p:txBody>
      </p:sp>
    </p:spTree>
    <p:extLst>
      <p:ext uri="{BB962C8B-B14F-4D97-AF65-F5344CB8AC3E}">
        <p14:creationId xmlns:p14="http://schemas.microsoft.com/office/powerpoint/2010/main" val="120998340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0E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把企业说法放到记录旁边">
            <a:extLst xmlns:a="http://schemas.openxmlformats.org/drawingml/2006/main">
              <a:ext uri="{FF2B5EF4-FFF2-40B4-BE49-F238E27FC236}">
                <a16:creationId xmlns:a16="http://schemas.microsoft.com/office/drawing/2014/main" id="{1CB7BC1E-A0A4-4337-B9DE-FBD37875A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23875"/>
            <a:ext cx="108966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222E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222E39"/>
                </a:solidFill>
                <a:latin typeface="Microsoft YaHei"/>
                <a:ea typeface="Microsoft YaHei"/>
                <a:cs typeface="Microsoft YaHei"/>
              </a:rPr>
              <a:t>把企业说法放到记录旁边</a:t>
            </a:r>
          </a:p>
        </p:txBody>
      </p:sp>
      <p:sp>
        <p:nvSpPr>
          <p:cNvPr id="2" name="企er">
            <a:extLst xmlns:a="http://schemas.openxmlformats.org/drawingml/2006/main">
              <a:ext uri="{FF2B5EF4-FFF2-40B4-BE49-F238E27FC236}">
                <a16:creationId xmlns:a16="http://schemas.microsoft.com/office/drawing/2014/main" id="{7C88BEE5-8CE9-4198-B69D-379BE016A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4365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6F67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6F675B"/>
                </a:solidFill>
                <a:latin typeface="Microsoft YaHei"/>
                <a:ea typeface="Microsoft YaHei"/>
                <a:cs typeface="Microsoft YaHei"/>
              </a:rPr>
              <a:t>企er</a:t>
            </a:r>
          </a:p>
        </p:txBody>
      </p:sp>
      <p:sp>
        <p:nvSpPr>
          <p:cNvPr id="3" name="5">
            <a:extLst xmlns:a="http://schemas.openxmlformats.org/drawingml/2006/main">
              <a:ext uri="{FF2B5EF4-FFF2-40B4-BE49-F238E27FC236}">
                <a16:creationId xmlns:a16="http://schemas.microsoft.com/office/drawing/2014/main" id="{A1BC0093-165B-47D6-BAAE-F8F86DA03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343650"/>
            <a:ext cx="647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6F67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F675B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0854ca9d87142e9"/>
          <a:srcRect xmlns:a="http://schemas.openxmlformats.org/drawingml/2006/main" l="55600" t="29300" r="2570" b="3060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7700" y="1809750"/>
            <a:ext cx="7096125" cy="3752850"/>
          </a:xfrm>
          <a:prstGeom xmlns:a="http://schemas.openxmlformats.org/drawingml/2006/main" prst="rect">
            <a:avLst/>
          </a:prstGeom>
        </p:spPr>
      </p:pic>
      <p:sp>
        <p:nvSpPr>
          <p:cNvPr id="5" name="原话保留">
            <a:extLst xmlns:a="http://schemas.openxmlformats.org/drawingml/2006/main">
              <a:ext uri="{FF2B5EF4-FFF2-40B4-BE49-F238E27FC236}">
                <a16:creationId xmlns:a16="http://schemas.microsoft.com/office/drawing/2014/main" id="{36AFC073-866B-4CFB-9DD9-B8F8EC3E4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1704975"/>
            <a:ext cx="33909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222E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22E39"/>
                </a:solidFill>
                <a:latin typeface="Microsoft YaHei"/>
                <a:ea typeface="Microsoft YaHei"/>
                <a:cs typeface="Microsoft YaHei"/>
              </a:rPr>
              <a:t>原话保留</a:t>
            </a:r>
          </a:p>
        </p:txBody>
      </p:sp>
      <p:sp>
        <p:nvSpPr>
          <p:cNvPr id="6" name="能点开材料原文">
            <a:extLst xmlns:a="http://schemas.openxmlformats.org/drawingml/2006/main">
              <a:ext uri="{FF2B5EF4-FFF2-40B4-BE49-F238E27FC236}">
                <a16:creationId xmlns:a16="http://schemas.microsoft.com/office/drawing/2014/main" id="{BDCA01BD-857E-4615-9363-191FCCAD9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2238375"/>
            <a:ext cx="33909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933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9333A"/>
                </a:solidFill>
                <a:latin typeface="Microsoft YaHei"/>
                <a:ea typeface="Microsoft YaHei"/>
                <a:cs typeface="Microsoft YaHei"/>
              </a:rPr>
              <a:t>能点开材料原文</a:t>
            </a:r>
          </a:p>
        </p:txBody>
      </p:sp>
      <p:sp>
        <p:nvSpPr>
          <p:cNvPr id="7" name="记录可查">
            <a:extLst xmlns:a="http://schemas.openxmlformats.org/drawingml/2006/main">
              <a:ext uri="{FF2B5EF4-FFF2-40B4-BE49-F238E27FC236}">
                <a16:creationId xmlns:a16="http://schemas.microsoft.com/office/drawing/2014/main" id="{A2C5A529-7B60-4003-8506-E51879ABD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3152775"/>
            <a:ext cx="33909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222E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22E39"/>
                </a:solidFill>
                <a:latin typeface="Microsoft YaHei"/>
                <a:ea typeface="Microsoft YaHei"/>
                <a:cs typeface="Microsoft YaHei"/>
              </a:rPr>
              <a:t>记录可查</a:t>
            </a:r>
          </a:p>
        </p:txBody>
      </p:sp>
      <p:sp>
        <p:nvSpPr>
          <p:cNvPr id="8" name="同时核对主体、 日期与指标口径">
            <a:extLst xmlns:a="http://schemas.openxmlformats.org/drawingml/2006/main">
              <a:ext uri="{FF2B5EF4-FFF2-40B4-BE49-F238E27FC236}">
                <a16:creationId xmlns:a16="http://schemas.microsoft.com/office/drawing/2014/main" id="{3165938C-2BD8-4A38-B92E-0733FA136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3705225"/>
            <a:ext cx="33909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933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9333A"/>
                </a:solidFill>
                <a:latin typeface="Microsoft YaHei"/>
                <a:ea typeface="Microsoft YaHei"/>
                <a:cs typeface="Microsoft YaHei"/>
              </a:rPr>
              <a:t>同时核对主体、</a:t>
            </a:r>
          </a:p>
          <a:p xmlns:a="http://schemas.openxmlformats.org/drawingml/2006/main">
            <a:pPr>
              <a:defRPr sz="2025" b="0">
                <a:solidFill>
                  <a:srgbClr val="2933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9333A"/>
                </a:solidFill>
                <a:latin typeface="Microsoft YaHei"/>
                <a:ea typeface="Microsoft YaHei"/>
                <a:cs typeface="Microsoft YaHei"/>
              </a:rPr>
              <a:t>日期与指标口径</a:t>
            </a:r>
          </a:p>
        </p:txBody>
      </p:sp>
      <p:sp>
        <p:nvSpPr>
          <p:cNvPr id="9" name="无法核验也写明">
            <a:extLst xmlns:a="http://schemas.openxmlformats.org/drawingml/2006/main">
              <a:ext uri="{FF2B5EF4-FFF2-40B4-BE49-F238E27FC236}">
                <a16:creationId xmlns:a16="http://schemas.microsoft.com/office/drawing/2014/main" id="{C5916EDA-A139-46F2-8760-4BC3B37B1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5095875"/>
            <a:ext cx="33909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8A64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8A641F"/>
                </a:solidFill>
                <a:latin typeface="Microsoft YaHei"/>
                <a:ea typeface="Microsoft YaHei"/>
                <a:cs typeface="Microsoft YaHei"/>
              </a:rPr>
              <a:t>无法核验也写明</a:t>
            </a:r>
          </a:p>
        </p:txBody>
      </p:sp>
      <p:sp>
        <p:nvSpPr>
          <p:cNvPr id="10" name="虚构公司演示。材料有记载，不代表宣称属实">
            <a:extLst xmlns:a="http://schemas.openxmlformats.org/drawingml/2006/main">
              <a:ext uri="{FF2B5EF4-FFF2-40B4-BE49-F238E27FC236}">
                <a16:creationId xmlns:a16="http://schemas.microsoft.com/office/drawing/2014/main" id="{C4C81661-81F5-43B2-9325-6CEB2712B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962650"/>
            <a:ext cx="1085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6F67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F675B"/>
                </a:solidFill>
                <a:latin typeface="Microsoft YaHei"/>
                <a:ea typeface="Microsoft YaHei"/>
                <a:cs typeface="Microsoft YaHei"/>
              </a:rPr>
              <a:t>虚构公司演示。材料有记载，不代表宣称属实</a:t>
            </a:r>
          </a:p>
        </p:txBody>
      </p:sp>
    </p:spTree>
    <p:extLst>
      <p:ext uri="{BB962C8B-B14F-4D97-AF65-F5344CB8AC3E}">
        <p14:creationId xmlns:p14="http://schemas.microsoft.com/office/powerpoint/2010/main" val="175533184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0E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四类查询状态分开呈现">
            <a:extLst xmlns:a="http://schemas.openxmlformats.org/drawingml/2006/main">
              <a:ext uri="{FF2B5EF4-FFF2-40B4-BE49-F238E27FC236}">
                <a16:creationId xmlns:a16="http://schemas.microsoft.com/office/drawing/2014/main" id="{8AD504B4-0896-4B74-B8CF-46016900B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23875"/>
            <a:ext cx="108966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222E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222E39"/>
                </a:solidFill>
                <a:latin typeface="Microsoft YaHei"/>
                <a:ea typeface="Microsoft YaHei"/>
                <a:cs typeface="Microsoft YaHei"/>
              </a:rPr>
              <a:t>四类查询状态分开呈现</a:t>
            </a:r>
          </a:p>
        </p:txBody>
      </p:sp>
      <p:sp>
        <p:nvSpPr>
          <p:cNvPr id="2" name="企er">
            <a:extLst xmlns:a="http://schemas.openxmlformats.org/drawingml/2006/main">
              <a:ext uri="{FF2B5EF4-FFF2-40B4-BE49-F238E27FC236}">
                <a16:creationId xmlns:a16="http://schemas.microsoft.com/office/drawing/2014/main" id="{380137B1-6522-486E-A8C4-40F253339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4365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6F67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6F675B"/>
                </a:solidFill>
                <a:latin typeface="Microsoft YaHei"/>
                <a:ea typeface="Microsoft YaHei"/>
                <a:cs typeface="Microsoft YaHei"/>
              </a:rPr>
              <a:t>企er</a:t>
            </a:r>
          </a:p>
        </p:txBody>
      </p:sp>
      <p:sp>
        <p:nvSpPr>
          <p:cNvPr id="3" name="6">
            <a:extLst xmlns:a="http://schemas.openxmlformats.org/drawingml/2006/main">
              <a:ext uri="{FF2B5EF4-FFF2-40B4-BE49-F238E27FC236}">
                <a16:creationId xmlns:a16="http://schemas.microsoft.com/office/drawing/2014/main" id="{DF0B3D45-EC81-4DB0-9109-C726E958E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343650"/>
            <a:ext cx="647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6F67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F675B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47700" y="1552575"/>
          <a:ext xmlns:a="http://schemas.openxmlformats.org/drawingml/2006/main" cx="10896600" cy="35433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8039100"/>
              </a:tblGrid>
              <a:tr h="708660">
                <a:tc>
                  <a:txBody>
                    <a:bodyPr lIns="171450" tIns="123825" rIns="171450" bIns="123825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7F0E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状态</a:t>
                      </a:r>
                    </a:p>
                  </a:txBody>
                  <a:tcPr marL="91440" marR="91440" marT="45720" marB="45720" anchor="ctr">
                    <a:solidFill>
                      <a:srgbClr val="222E39"/>
                    </a:solidFill>
                  </a:tcPr>
                </a:tc>
                <a:tc>
                  <a:txBody>
                    <a:bodyPr lIns="171450" tIns="123825" rIns="171450" bIns="123825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7F0E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它说明什么</a:t>
                      </a:r>
                    </a:p>
                  </a:txBody>
                  <a:tcPr marL="91440" marR="91440" marT="45720" marB="45720" anchor="ctr">
                    <a:solidFill>
                      <a:srgbClr val="222E39"/>
                    </a:solidFill>
                  </a:tcPr>
                </a:tc>
              </a:tr>
              <a:tr h="708660">
                <a:tc>
                  <a:txBody>
                    <a:bodyPr lIns="171450" tIns="123825" rIns="171450" bIns="123825">
                      <a:noAutofit/>
                    </a:bodyPr>
                    <a:lstStyle/>
                    <a:p>
                      <a:r>
                        <a:rPr sz="1950" b="1">
                          <a:solidFill>
                            <a:srgbClr val="2933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查到了</a:t>
                      </a:r>
                    </a:p>
                  </a:txBody>
                  <a:tcPr marL="91440" marR="91440" marT="45720" marB="45720" anchor="ctr">
                    <a:solidFill>
                      <a:srgbClr val="F7F0E0"/>
                    </a:solidFill>
                  </a:tcPr>
                </a:tc>
                <a:tc>
                  <a:txBody>
                    <a:bodyPr lIns="171450" tIns="123825" rIns="171450" bIns="123825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2933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这个来源中有匹配记录</a:t>
                      </a:r>
                    </a:p>
                  </a:txBody>
                  <a:tcPr marL="91440" marR="91440" marT="45720" marB="45720" anchor="ctr">
                    <a:solidFill>
                      <a:srgbClr val="F7F0E0"/>
                    </a:solidFill>
                  </a:tcPr>
                </a:tc>
              </a:tr>
              <a:tr h="708660">
                <a:tc>
                  <a:txBody>
                    <a:bodyPr lIns="171450" tIns="123825" rIns="171450" bIns="123825">
                      <a:noAutofit/>
                    </a:bodyPr>
                    <a:lstStyle/>
                    <a:p>
                      <a:r>
                        <a:rPr sz="1950" b="1">
                          <a:solidFill>
                            <a:srgbClr val="2933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查了没有</a:t>
                      </a:r>
                    </a:p>
                  </a:txBody>
                  <a:tcPr marL="91440" marR="91440" marT="45720" marB="45720" anchor="ctr">
                    <a:solidFill>
                      <a:srgbClr val="EDE2CD"/>
                    </a:solidFill>
                  </a:tcPr>
                </a:tc>
                <a:tc>
                  <a:txBody>
                    <a:bodyPr lIns="171450" tIns="123825" rIns="171450" bIns="123825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2933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本次查询范围内没有匹配记录</a:t>
                      </a:r>
                    </a:p>
                  </a:txBody>
                  <a:tcPr marL="91440" marR="91440" marT="45720" marB="45720" anchor="ctr">
                    <a:solidFill>
                      <a:srgbClr val="EDE2CD"/>
                    </a:solidFill>
                  </a:tcPr>
                </a:tc>
              </a:tr>
              <a:tr h="708660">
                <a:tc>
                  <a:txBody>
                    <a:bodyPr lIns="171450" tIns="123825" rIns="171450" bIns="123825">
                      <a:noAutofit/>
                    </a:bodyPr>
                    <a:lstStyle/>
                    <a:p>
                      <a:r>
                        <a:rPr sz="1950" b="1">
                          <a:solidFill>
                            <a:srgbClr val="2933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没查</a:t>
                      </a:r>
                    </a:p>
                  </a:txBody>
                  <a:tcPr marL="91440" marR="91440" marT="45720" marB="45720" anchor="ctr">
                    <a:solidFill>
                      <a:srgbClr val="F7F0E0"/>
                    </a:solidFill>
                  </a:tcPr>
                </a:tc>
                <a:tc>
                  <a:txBody>
                    <a:bodyPr lIns="171450" tIns="123825" rIns="171450" bIns="123825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2933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数据源未覆盖，或本次未执行</a:t>
                      </a:r>
                    </a:p>
                  </a:txBody>
                  <a:tcPr marL="91440" marR="91440" marT="45720" marB="45720" anchor="ctr">
                    <a:solidFill>
                      <a:srgbClr val="F7F0E0"/>
                    </a:solidFill>
                  </a:tcPr>
                </a:tc>
              </a:tr>
              <a:tr h="708660">
                <a:tc>
                  <a:txBody>
                    <a:bodyPr lIns="171450" tIns="123825" rIns="171450" bIns="123825">
                      <a:noAutofit/>
                    </a:bodyPr>
                    <a:lstStyle/>
                    <a:p>
                      <a:r>
                        <a:rPr sz="1950" b="1">
                          <a:solidFill>
                            <a:srgbClr val="2933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查询失败</a:t>
                      </a:r>
                    </a:p>
                  </a:txBody>
                  <a:tcPr marL="91440" marR="91440" marT="45720" marB="45720" anchor="ctr">
                    <a:solidFill>
                      <a:srgbClr val="EDE2CD"/>
                    </a:solidFill>
                  </a:tcPr>
                </a:tc>
                <a:tc>
                  <a:txBody>
                    <a:bodyPr lIns="171450" tIns="123825" rIns="171450" bIns="123825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2933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本次请求没有成功</a:t>
                      </a:r>
                    </a:p>
                  </a:txBody>
                  <a:tcPr marL="91440" marR="91440" marT="45720" marB="45720" anchor="ctr">
                    <a:solidFill>
                      <a:srgbClr val="EDE2CD"/>
                    </a:solidFill>
                  </a:tcPr>
                </a:tc>
              </a:tr>
            </a:tbl>
          </a:graphicData>
        </a:graphic>
      </p:graphicFrame>
      <p:sp>
        <p:nvSpPr>
          <p:cNvPr id="5" name="未覆盖，不能当成正常">
            <a:extLst xmlns:a="http://schemas.openxmlformats.org/drawingml/2006/main">
              <a:ext uri="{FF2B5EF4-FFF2-40B4-BE49-F238E27FC236}">
                <a16:creationId xmlns:a16="http://schemas.microsoft.com/office/drawing/2014/main" id="{3C3BBBC9-0E0D-4B0A-9C88-E607DDC35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419725"/>
            <a:ext cx="108966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222E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925" b="1">
                <a:solidFill>
                  <a:srgbClr val="222E39"/>
                </a:solidFill>
                <a:latin typeface="Microsoft YaHei"/>
                <a:ea typeface="Microsoft YaHei"/>
                <a:cs typeface="Microsoft YaHei"/>
              </a:rPr>
              <a:t>未覆盖，不能当成正常</a:t>
            </a:r>
          </a:p>
        </p:txBody>
      </p:sp>
    </p:spTree>
    <p:extLst>
      <p:ext uri="{BB962C8B-B14F-4D97-AF65-F5344CB8AC3E}">
        <p14:creationId xmlns:p14="http://schemas.microsoft.com/office/powerpoint/2010/main" val="125307157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0E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小企解释报告，关键事实带出处">
            <a:extLst xmlns:a="http://schemas.openxmlformats.org/drawingml/2006/main">
              <a:ext uri="{FF2B5EF4-FFF2-40B4-BE49-F238E27FC236}">
                <a16:creationId xmlns:a16="http://schemas.microsoft.com/office/drawing/2014/main" id="{C397A109-AA6C-411C-BA37-E16BB0EAC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23875"/>
            <a:ext cx="108966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222E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222E39"/>
                </a:solidFill>
                <a:latin typeface="Microsoft YaHei"/>
                <a:ea typeface="Microsoft YaHei"/>
                <a:cs typeface="Microsoft YaHei"/>
              </a:rPr>
              <a:t>小企解释报告，关键事实带出处</a:t>
            </a:r>
          </a:p>
        </p:txBody>
      </p:sp>
      <p:sp>
        <p:nvSpPr>
          <p:cNvPr id="2" name="企er">
            <a:extLst xmlns:a="http://schemas.openxmlformats.org/drawingml/2006/main">
              <a:ext uri="{FF2B5EF4-FFF2-40B4-BE49-F238E27FC236}">
                <a16:creationId xmlns:a16="http://schemas.microsoft.com/office/drawing/2014/main" id="{77EFF840-ACCA-402C-A34A-324A40306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4365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6F67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6F675B"/>
                </a:solidFill>
                <a:latin typeface="Microsoft YaHei"/>
                <a:ea typeface="Microsoft YaHei"/>
                <a:cs typeface="Microsoft YaHei"/>
              </a:rPr>
              <a:t>企er</a:t>
            </a:r>
          </a:p>
        </p:txBody>
      </p:sp>
      <p:sp>
        <p:nvSpPr>
          <p:cNvPr id="3" name="7">
            <a:extLst xmlns:a="http://schemas.openxmlformats.org/drawingml/2006/main">
              <a:ext uri="{FF2B5EF4-FFF2-40B4-BE49-F238E27FC236}">
                <a16:creationId xmlns:a16="http://schemas.microsoft.com/office/drawing/2014/main" id="{D39F291F-E508-4550-A78B-DC0518220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343650"/>
            <a:ext cx="647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6F67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F675B"/>
                </a:solidFill>
                <a:latin typeface="Microsoft YaHei"/>
                <a:ea typeface="Microsoft YaHei"/>
                <a:cs typeface="Microsoft YaHei"/>
              </a:rPr>
              <a:t>7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fc72fe26fdc4eca"/>
          <a:srcRect xmlns:a="http://schemas.openxmlformats.org/drawingml/2006/main" l="27150" t="9840" r="27980" b="4700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7700" y="1771650"/>
            <a:ext cx="6896100" cy="3657600"/>
          </a:xfrm>
          <a:prstGeom xmlns:a="http://schemas.openxmlformats.org/drawingml/2006/main" prst="rect">
            <a:avLst/>
          </a:prstGeom>
        </p:spPr>
      </p:pic>
      <p:sp>
        <p:nvSpPr>
          <p:cNvPr id="5" name="选中一条，再问">
            <a:extLst xmlns:a="http://schemas.openxmlformats.org/drawingml/2006/main">
              <a:ext uri="{FF2B5EF4-FFF2-40B4-BE49-F238E27FC236}">
                <a16:creationId xmlns:a16="http://schemas.microsoft.com/office/drawing/2014/main" id="{8F6D09D1-62F5-45A9-AD77-8F1457875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1695450"/>
            <a:ext cx="3524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222E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22E39"/>
                </a:solidFill>
                <a:latin typeface="Microsoft YaHei"/>
                <a:ea typeface="Microsoft YaHei"/>
                <a:cs typeface="Microsoft YaHei"/>
              </a:rPr>
              <a:t>选中一条，再问</a:t>
            </a:r>
          </a:p>
        </p:txBody>
      </p:sp>
      <p:sp>
        <p:nvSpPr>
          <p:cNvPr id="6" name="引用回到对应证据">
            <a:extLst xmlns:a="http://schemas.openxmlformats.org/drawingml/2006/main">
              <a:ext uri="{FF2B5EF4-FFF2-40B4-BE49-F238E27FC236}">
                <a16:creationId xmlns:a16="http://schemas.microsoft.com/office/drawing/2014/main" id="{C73282BD-EC20-49CA-98C7-0C16B8EB2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2305050"/>
            <a:ext cx="3524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933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9333A"/>
                </a:solidFill>
                <a:latin typeface="Microsoft YaHei"/>
                <a:ea typeface="Microsoft YaHei"/>
                <a:cs typeface="Microsoft YaHei"/>
              </a:rPr>
              <a:t>引用回到对应证据</a:t>
            </a:r>
          </a:p>
        </p:txBody>
      </p:sp>
      <p:sp>
        <p:nvSpPr>
          <p:cNvPr id="7" name="规则负责判定">
            <a:extLst xmlns:a="http://schemas.openxmlformats.org/drawingml/2006/main">
              <a:ext uri="{FF2B5EF4-FFF2-40B4-BE49-F238E27FC236}">
                <a16:creationId xmlns:a16="http://schemas.microsoft.com/office/drawing/2014/main" id="{116E708D-D8A4-465F-8695-1E09C25B5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3457575"/>
            <a:ext cx="35242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222E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22E39"/>
                </a:solidFill>
                <a:latin typeface="Microsoft YaHei"/>
                <a:ea typeface="Microsoft YaHei"/>
                <a:cs typeface="Microsoft YaHei"/>
              </a:rPr>
              <a:t>规则负责判定</a:t>
            </a:r>
          </a:p>
        </p:txBody>
      </p:sp>
      <p:sp>
        <p:nvSpPr>
          <p:cNvPr id="8" name="AI 帮人读懂材料和结果">
            <a:extLst xmlns:a="http://schemas.openxmlformats.org/drawingml/2006/main">
              <a:ext uri="{FF2B5EF4-FFF2-40B4-BE49-F238E27FC236}">
                <a16:creationId xmlns:a16="http://schemas.microsoft.com/office/drawing/2014/main" id="{68A63B62-785D-4825-97B9-900B7467F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4010025"/>
            <a:ext cx="35242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933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9333A"/>
                </a:solidFill>
                <a:latin typeface="Microsoft YaHei"/>
                <a:ea typeface="Microsoft YaHei"/>
                <a:cs typeface="Microsoft YaHei"/>
              </a:rPr>
              <a:t>AI 帮人读懂材料和结果</a:t>
            </a:r>
          </a:p>
        </p:txBody>
      </p:sp>
      <p:sp>
        <p:nvSpPr>
          <p:cNvPr id="9" name="新情况加入案卷， 再生成新版本">
            <a:extLst xmlns:a="http://schemas.openxmlformats.org/drawingml/2006/main">
              <a:ext uri="{FF2B5EF4-FFF2-40B4-BE49-F238E27FC236}">
                <a16:creationId xmlns:a16="http://schemas.microsoft.com/office/drawing/2014/main" id="{F674E22D-46F9-47DD-B505-CF19B9C1B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5200650"/>
            <a:ext cx="3524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6F67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6F675B"/>
                </a:solidFill>
                <a:latin typeface="Microsoft YaHei"/>
                <a:ea typeface="Microsoft YaHei"/>
                <a:cs typeface="Microsoft YaHei"/>
              </a:rPr>
              <a:t>新情况加入案卷，</a:t>
            </a:r>
          </a:p>
          <a:p xmlns:a="http://schemas.openxmlformats.org/drawingml/2006/main">
            <a:pPr>
              <a:defRPr sz="2025" b="0">
                <a:solidFill>
                  <a:srgbClr val="6F67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6F675B"/>
                </a:solidFill>
                <a:latin typeface="Microsoft YaHei"/>
                <a:ea typeface="Microsoft YaHei"/>
                <a:cs typeface="Microsoft YaHei"/>
              </a:rPr>
              <a:t>再生成新版本</a:t>
            </a:r>
          </a:p>
        </p:txBody>
      </p:sp>
      <p:sp>
        <p:nvSpPr>
          <p:cNvPr id="10" name="虚构公司演示，基础答复的出处">
            <a:extLst xmlns:a="http://schemas.openxmlformats.org/drawingml/2006/main">
              <a:ext uri="{FF2B5EF4-FFF2-40B4-BE49-F238E27FC236}">
                <a16:creationId xmlns:a16="http://schemas.microsoft.com/office/drawing/2014/main" id="{79B95F4E-8200-4BE8-8FAB-67A252830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924550"/>
            <a:ext cx="704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6F67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F675B"/>
                </a:solidFill>
                <a:latin typeface="Microsoft YaHei"/>
                <a:ea typeface="Microsoft YaHei"/>
                <a:cs typeface="Microsoft YaHei"/>
              </a:rPr>
              <a:t>虚构公司演示，基础答复的出处</a:t>
            </a:r>
          </a:p>
        </p:txBody>
      </p:sp>
    </p:spTree>
    <p:extLst>
      <p:ext uri="{BB962C8B-B14F-4D97-AF65-F5344CB8AC3E}">
        <p14:creationId xmlns:p14="http://schemas.microsoft.com/office/powerpoint/2010/main" val="136898147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0E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新材料进入新版本">
            <a:extLst xmlns:a="http://schemas.openxmlformats.org/drawingml/2006/main">
              <a:ext uri="{FF2B5EF4-FFF2-40B4-BE49-F238E27FC236}">
                <a16:creationId xmlns:a16="http://schemas.microsoft.com/office/drawing/2014/main" id="{168D1699-7EF2-434D-9334-C6DC128DC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23875"/>
            <a:ext cx="108966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222E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222E39"/>
                </a:solidFill>
                <a:latin typeface="Microsoft YaHei"/>
                <a:ea typeface="Microsoft YaHei"/>
                <a:cs typeface="Microsoft YaHei"/>
              </a:rPr>
              <a:t>新材料进入新版本</a:t>
            </a:r>
          </a:p>
        </p:txBody>
      </p:sp>
      <p:sp>
        <p:nvSpPr>
          <p:cNvPr id="2" name="企er">
            <a:extLst xmlns:a="http://schemas.openxmlformats.org/drawingml/2006/main">
              <a:ext uri="{FF2B5EF4-FFF2-40B4-BE49-F238E27FC236}">
                <a16:creationId xmlns:a16="http://schemas.microsoft.com/office/drawing/2014/main" id="{76A0CD1E-17B5-4529-8309-39A41606A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4365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6F67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6F675B"/>
                </a:solidFill>
                <a:latin typeface="Microsoft YaHei"/>
                <a:ea typeface="Microsoft YaHei"/>
                <a:cs typeface="Microsoft YaHei"/>
              </a:rPr>
              <a:t>企er</a:t>
            </a:r>
          </a:p>
        </p:txBody>
      </p:sp>
      <p:sp>
        <p:nvSpPr>
          <p:cNvPr id="3" name="8">
            <a:extLst xmlns:a="http://schemas.openxmlformats.org/drawingml/2006/main">
              <a:ext uri="{FF2B5EF4-FFF2-40B4-BE49-F238E27FC236}">
                <a16:creationId xmlns:a16="http://schemas.microsoft.com/office/drawing/2014/main" id="{0DEFF2B8-E1D2-49BE-8A95-E14A3E465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343650"/>
            <a:ext cx="647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6F67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F675B"/>
                </a:solidFill>
                <a:latin typeface="Microsoft YaHei"/>
                <a:ea typeface="Microsoft YaHei"/>
                <a:cs typeface="Microsoft YaHei"/>
              </a:rPr>
              <a:t>8</a:t>
            </a:r>
          </a:p>
        </p:txBody>
      </p:sp>
      <p:sp>
        <p:nvSpPr>
          <p:cNvPr id="4" name="v1">
            <a:extLst xmlns:a="http://schemas.openxmlformats.org/drawingml/2006/main">
              <a:ext uri="{FF2B5EF4-FFF2-40B4-BE49-F238E27FC236}">
                <a16:creationId xmlns:a16="http://schemas.microsoft.com/office/drawing/2014/main" id="{0B17AD2E-1A2B-48F6-A400-4935F5A8F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1647825"/>
            <a:ext cx="187642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4800" b="1">
                <a:solidFill>
                  <a:srgbClr val="8A64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800" b="1">
                <a:solidFill>
                  <a:srgbClr val="8A641F"/>
                </a:solidFill>
                <a:latin typeface="Microsoft YaHei"/>
                <a:ea typeface="Microsoft YaHei"/>
                <a:cs typeface="Microsoft YaHei"/>
              </a:rPr>
              <a:t>v1</a:t>
            </a:r>
          </a:p>
        </p:txBody>
      </p:sp>
      <p:sp>
        <p:nvSpPr>
          <p:cNvPr id="5" name="原来的报告">
            <a:extLst xmlns:a="http://schemas.openxmlformats.org/drawingml/2006/main">
              <a:ext uri="{FF2B5EF4-FFF2-40B4-BE49-F238E27FC236}">
                <a16:creationId xmlns:a16="http://schemas.microsoft.com/office/drawing/2014/main" id="{9A41692D-466B-4DBB-ABDA-DECE045B0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1704975"/>
            <a:ext cx="79057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222E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925" b="1">
                <a:solidFill>
                  <a:srgbClr val="222E39"/>
                </a:solidFill>
                <a:latin typeface="Microsoft YaHei"/>
                <a:ea typeface="Microsoft YaHei"/>
                <a:cs typeface="Microsoft YaHei"/>
              </a:rPr>
              <a:t>原来的报告</a:t>
            </a:r>
          </a:p>
        </p:txBody>
      </p:sp>
      <p:sp>
        <p:nvSpPr>
          <p:cNvPr id="6" name="保留当时的材料、判断和出处">
            <a:extLst xmlns:a="http://schemas.openxmlformats.org/drawingml/2006/main">
              <a:ext uri="{FF2B5EF4-FFF2-40B4-BE49-F238E27FC236}">
                <a16:creationId xmlns:a16="http://schemas.microsoft.com/office/drawing/2014/main" id="{1C7EF2F3-C369-4CE5-B18C-E56616B68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325" y="2314575"/>
            <a:ext cx="83248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2933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9333A"/>
                </a:solidFill>
                <a:latin typeface="Microsoft YaHei"/>
                <a:ea typeface="Microsoft YaHei"/>
                <a:cs typeface="Microsoft YaHei"/>
              </a:rPr>
              <a:t>保留当时的材料、判断和出处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05898E-B4C5-4FF1-8D7E-8A1BB220F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3114675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9CCB4"/>
            </a:solidFill>
          </a:ln>
        </p:spPr>
      </p:sp>
      <p:sp>
        <p:nvSpPr>
          <p:cNvPr id="8" name="补充">
            <a:extLst xmlns:a="http://schemas.openxmlformats.org/drawingml/2006/main">
              <a:ext uri="{FF2B5EF4-FFF2-40B4-BE49-F238E27FC236}">
                <a16:creationId xmlns:a16="http://schemas.microsoft.com/office/drawing/2014/main" id="{D5FB46FD-B856-486B-8D78-FE504BA38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3400425"/>
            <a:ext cx="1876425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8A64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75" b="1">
                <a:solidFill>
                  <a:srgbClr val="8A641F"/>
                </a:solidFill>
                <a:latin typeface="Microsoft YaHei"/>
                <a:ea typeface="Microsoft YaHei"/>
                <a:cs typeface="Microsoft YaHei"/>
              </a:rPr>
              <a:t>补充</a:t>
            </a:r>
          </a:p>
        </p:txBody>
      </p:sp>
      <p:sp>
        <p:nvSpPr>
          <p:cNvPr id="9" name="新材料、对方回复，或修改需求">
            <a:extLst xmlns:a="http://schemas.openxmlformats.org/drawingml/2006/main">
              <a:ext uri="{FF2B5EF4-FFF2-40B4-BE49-F238E27FC236}">
                <a16:creationId xmlns:a16="http://schemas.microsoft.com/office/drawing/2014/main" id="{77064375-FCB6-4D7B-86F5-ED0C57392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325" y="3429000"/>
            <a:ext cx="88106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222E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222E39"/>
                </a:solidFill>
                <a:latin typeface="Microsoft YaHei"/>
                <a:ea typeface="Microsoft YaHei"/>
                <a:cs typeface="Microsoft YaHei"/>
              </a:rPr>
              <a:t>新材料、对方回复，或修改需求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E3C4BF3-44F6-45B7-830F-9E85BDB3E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4276725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9CCB4"/>
            </a:solidFill>
          </a:ln>
        </p:spPr>
      </p:sp>
      <p:sp>
        <p:nvSpPr>
          <p:cNvPr id="11" name="v2">
            <a:extLst xmlns:a="http://schemas.openxmlformats.org/drawingml/2006/main">
              <a:ext uri="{FF2B5EF4-FFF2-40B4-BE49-F238E27FC236}">
                <a16:creationId xmlns:a16="http://schemas.microsoft.com/office/drawing/2014/main" id="{016EA421-C404-4F71-8DA7-EE1164891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4562475"/>
            <a:ext cx="187642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4800" b="1">
                <a:solidFill>
                  <a:srgbClr val="8A64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800" b="1">
                <a:solidFill>
                  <a:srgbClr val="8A641F"/>
                </a:solidFill>
                <a:latin typeface="Microsoft YaHei"/>
                <a:ea typeface="Microsoft YaHei"/>
                <a:cs typeface="Microsoft YaHei"/>
              </a:rPr>
              <a:t>v2</a:t>
            </a:r>
          </a:p>
        </p:txBody>
      </p:sp>
      <p:sp>
        <p:nvSpPr>
          <p:cNvPr id="12" name="变了什么，为什么变">
            <a:extLst xmlns:a="http://schemas.openxmlformats.org/drawingml/2006/main">
              <a:ext uri="{FF2B5EF4-FFF2-40B4-BE49-F238E27FC236}">
                <a16:creationId xmlns:a16="http://schemas.microsoft.com/office/drawing/2014/main" id="{CF231831-2458-44D4-AA13-5B984BC5A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325" y="4562475"/>
            <a:ext cx="86487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222E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925" b="1">
                <a:solidFill>
                  <a:srgbClr val="222E39"/>
                </a:solidFill>
                <a:latin typeface="Microsoft YaHei"/>
                <a:ea typeface="Microsoft YaHei"/>
                <a:cs typeface="Microsoft YaHei"/>
              </a:rPr>
              <a:t>变了什么，为什么变</a:t>
            </a:r>
          </a:p>
        </p:txBody>
      </p:sp>
      <p:sp>
        <p:nvSpPr>
          <p:cNvPr id="13" name="没变的继续列出，旧引用仍回到旧版本">
            <a:extLst xmlns:a="http://schemas.openxmlformats.org/drawingml/2006/main">
              <a:ext uri="{FF2B5EF4-FFF2-40B4-BE49-F238E27FC236}">
                <a16:creationId xmlns:a16="http://schemas.microsoft.com/office/drawing/2014/main" id="{31F28D7E-782A-49C6-BADC-9B536B735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325" y="5229225"/>
            <a:ext cx="86487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2933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9333A"/>
                </a:solidFill>
                <a:latin typeface="Microsoft YaHei"/>
                <a:ea typeface="Microsoft YaHei"/>
                <a:cs typeface="Microsoft YaHei"/>
              </a:rPr>
              <a:t>没变的继续列出，旧引用仍回到旧版本</a:t>
            </a:r>
          </a:p>
        </p:txBody>
      </p:sp>
    </p:spTree>
    <p:extLst>
      <p:ext uri="{BB962C8B-B14F-4D97-AF65-F5344CB8AC3E}">
        <p14:creationId xmlns:p14="http://schemas.microsoft.com/office/powerpoint/2010/main" val="160550208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0E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一页报告，支持下一步核实">
            <a:extLst xmlns:a="http://schemas.openxmlformats.org/drawingml/2006/main">
              <a:ext uri="{FF2B5EF4-FFF2-40B4-BE49-F238E27FC236}">
                <a16:creationId xmlns:a16="http://schemas.microsoft.com/office/drawing/2014/main" id="{B4D89348-E14B-436C-B9C1-72C99521C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23875"/>
            <a:ext cx="108966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222E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222E39"/>
                </a:solidFill>
                <a:latin typeface="Microsoft YaHei"/>
                <a:ea typeface="Microsoft YaHei"/>
                <a:cs typeface="Microsoft YaHei"/>
              </a:rPr>
              <a:t>一页报告，支持下一步核实</a:t>
            </a:r>
          </a:p>
        </p:txBody>
      </p:sp>
      <p:sp>
        <p:nvSpPr>
          <p:cNvPr id="2" name="企er">
            <a:extLst xmlns:a="http://schemas.openxmlformats.org/drawingml/2006/main">
              <a:ext uri="{FF2B5EF4-FFF2-40B4-BE49-F238E27FC236}">
                <a16:creationId xmlns:a16="http://schemas.microsoft.com/office/drawing/2014/main" id="{E25BBDF2-D7A6-4596-8FC9-B7C6DB4B9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4365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6F67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6F675B"/>
                </a:solidFill>
                <a:latin typeface="Microsoft YaHei"/>
                <a:ea typeface="Microsoft YaHei"/>
                <a:cs typeface="Microsoft YaHei"/>
              </a:rPr>
              <a:t>企er</a:t>
            </a:r>
          </a:p>
        </p:txBody>
      </p:sp>
      <p:sp>
        <p:nvSpPr>
          <p:cNvPr id="3" name="9">
            <a:extLst xmlns:a="http://schemas.openxmlformats.org/drawingml/2006/main">
              <a:ext uri="{FF2B5EF4-FFF2-40B4-BE49-F238E27FC236}">
                <a16:creationId xmlns:a16="http://schemas.microsoft.com/office/drawing/2014/main" id="{31922341-9146-4980-8B45-ACA143E36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343650"/>
            <a:ext cx="647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6F67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F675B"/>
                </a:solidFill>
                <a:latin typeface="Microsoft YaHei"/>
                <a:ea typeface="Microsoft YaHei"/>
                <a:cs typeface="Microsoft YaHei"/>
              </a:rPr>
              <a:t>9</a:t>
            </a:r>
          </a:p>
        </p:txBody>
      </p:sp>
      <p:sp>
        <p:nvSpPr>
          <p:cNvPr id="4" name="已知的依据">
            <a:extLst xmlns:a="http://schemas.openxmlformats.org/drawingml/2006/main">
              <a:ext uri="{FF2B5EF4-FFF2-40B4-BE49-F238E27FC236}">
                <a16:creationId xmlns:a16="http://schemas.microsoft.com/office/drawing/2014/main" id="{33BE9470-AAEB-4EFD-B979-0ECFA5C3B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1666875"/>
            <a:ext cx="51530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22E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222E39"/>
                </a:solidFill>
                <a:latin typeface="Microsoft YaHei"/>
                <a:ea typeface="Microsoft YaHei"/>
                <a:cs typeface="Microsoft YaHei"/>
              </a:rPr>
              <a:t>已知的依据</a:t>
            </a:r>
          </a:p>
        </p:txBody>
      </p:sp>
      <p:sp>
        <p:nvSpPr>
          <p:cNvPr id="5" name="还缺的资料">
            <a:extLst xmlns:a="http://schemas.openxmlformats.org/drawingml/2006/main">
              <a:ext uri="{FF2B5EF4-FFF2-40B4-BE49-F238E27FC236}">
                <a16:creationId xmlns:a16="http://schemas.microsoft.com/office/drawing/2014/main" id="{FF26F08C-E896-40CF-B829-BEAA34E91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2619375"/>
            <a:ext cx="51530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22E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222E39"/>
                </a:solidFill>
                <a:latin typeface="Microsoft YaHei"/>
                <a:ea typeface="Microsoft YaHei"/>
                <a:cs typeface="Microsoft YaHei"/>
              </a:rPr>
              <a:t>还缺的资料</a:t>
            </a:r>
          </a:p>
        </p:txBody>
      </p:sp>
      <p:sp>
        <p:nvSpPr>
          <p:cNvPr id="6" name="该问的问题">
            <a:extLst xmlns:a="http://schemas.openxmlformats.org/drawingml/2006/main">
              <a:ext uri="{FF2B5EF4-FFF2-40B4-BE49-F238E27FC236}">
                <a16:creationId xmlns:a16="http://schemas.microsoft.com/office/drawing/2014/main" id="{2681E24C-EC7B-4D42-8BB9-7277254E4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3571875"/>
            <a:ext cx="51530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22E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222E39"/>
                </a:solidFill>
                <a:latin typeface="Microsoft YaHei"/>
                <a:ea typeface="Microsoft YaHei"/>
                <a:cs typeface="Microsoft YaHei"/>
              </a:rPr>
              <a:t>该问的问题</a:t>
            </a:r>
          </a:p>
        </p:txBody>
      </p:sp>
      <p:sp>
        <p:nvSpPr>
          <p:cNvPr id="7" name="带进下一次讨论">
            <a:extLst xmlns:a="http://schemas.openxmlformats.org/drawingml/2006/main">
              <a:ext uri="{FF2B5EF4-FFF2-40B4-BE49-F238E27FC236}">
                <a16:creationId xmlns:a16="http://schemas.microsoft.com/office/drawing/2014/main" id="{9A342B0A-04E0-43CF-8F52-6B48E95F3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1724025"/>
            <a:ext cx="48958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8A64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925" b="1">
                <a:solidFill>
                  <a:srgbClr val="8A641F"/>
                </a:solidFill>
                <a:latin typeface="Microsoft YaHei"/>
                <a:ea typeface="Microsoft YaHei"/>
                <a:cs typeface="Microsoft YaHei"/>
              </a:rPr>
              <a:t>带进下一次讨论</a:t>
            </a:r>
          </a:p>
        </p:txBody>
      </p:sp>
      <p:sp>
        <p:nvSpPr>
          <p:cNvPr id="8" name="个人与家人 一起看懂，再补充核实">
            <a:extLst xmlns:a="http://schemas.openxmlformats.org/drawingml/2006/main">
              <a:ext uri="{FF2B5EF4-FFF2-40B4-BE49-F238E27FC236}">
                <a16:creationId xmlns:a16="http://schemas.microsoft.com/office/drawing/2014/main" id="{3D0B0960-FBBB-4AB5-816A-3A162E6F4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781300"/>
            <a:ext cx="4886325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2933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9333A"/>
                </a:solidFill>
                <a:latin typeface="Microsoft YaHei"/>
                <a:ea typeface="Microsoft YaHei"/>
                <a:cs typeface="Microsoft YaHei"/>
              </a:rPr>
              <a:t>个人与家人</a:t>
            </a:r>
          </a:p>
          <a:p xmlns:a="http://schemas.openxmlformats.org/drawingml/2006/main">
            <a:pPr>
              <a:defRPr sz="2325" b="0">
                <a:solidFill>
                  <a:srgbClr val="2933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9333A"/>
                </a:solidFill>
                <a:latin typeface="Microsoft YaHei"/>
                <a:ea typeface="Microsoft YaHei"/>
                <a:cs typeface="Microsoft YaHei"/>
              </a:rPr>
              <a:t>一起看懂，再补充核实</a:t>
            </a:r>
          </a:p>
        </p:txBody>
      </p:sp>
      <p:sp>
        <p:nvSpPr>
          <p:cNvPr id="9" name="拟验证的网点场景 用提示单把待确认事项讲具体">
            <a:extLst xmlns:a="http://schemas.openxmlformats.org/drawingml/2006/main">
              <a:ext uri="{FF2B5EF4-FFF2-40B4-BE49-F238E27FC236}">
                <a16:creationId xmlns:a16="http://schemas.microsoft.com/office/drawing/2014/main" id="{668D47C4-AAAB-47FF-B97D-645E6FF01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333875"/>
            <a:ext cx="492442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2933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9333A"/>
                </a:solidFill>
                <a:latin typeface="Microsoft YaHei"/>
                <a:ea typeface="Microsoft YaHei"/>
                <a:cs typeface="Microsoft YaHei"/>
              </a:rPr>
              <a:t>拟验证的网点场景</a:t>
            </a:r>
          </a:p>
          <a:p xmlns:a="http://schemas.openxmlformats.org/drawingml/2006/main">
            <a:pPr>
              <a:defRPr sz="2175" b="0">
                <a:solidFill>
                  <a:srgbClr val="2933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9333A"/>
                </a:solidFill>
                <a:latin typeface="Microsoft YaHei"/>
                <a:ea typeface="Microsoft YaHei"/>
                <a:cs typeface="Microsoft YaHei"/>
              </a:rPr>
              <a:t>用提示单把待确认事项讲具体</a:t>
            </a:r>
          </a:p>
        </p:txBody>
      </p:sp>
      <p:sp>
        <p:nvSpPr>
          <p:cNvPr id="10" name="提供研究依据，最终决策由人作出">
            <a:extLst xmlns:a="http://schemas.openxmlformats.org/drawingml/2006/main">
              <a:ext uri="{FF2B5EF4-FFF2-40B4-BE49-F238E27FC236}">
                <a16:creationId xmlns:a16="http://schemas.microsoft.com/office/drawing/2014/main" id="{C20F2FFA-42D3-4C86-9F24-B82D2F34F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5514975"/>
            <a:ext cx="5238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6F67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6F675B"/>
                </a:solidFill>
                <a:latin typeface="Microsoft YaHei"/>
                <a:ea typeface="Microsoft YaHei"/>
                <a:cs typeface="Microsoft YaHei"/>
              </a:rPr>
              <a:t>提供研究依据，最终决策由人作出</a:t>
            </a:r>
          </a:p>
        </p:txBody>
      </p:sp>
    </p:spTree>
    <p:extLst>
      <p:ext uri="{BB962C8B-B14F-4D97-AF65-F5344CB8AC3E}">
        <p14:creationId xmlns:p14="http://schemas.microsoft.com/office/powerpoint/2010/main" val="180695111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192A3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c4315d0d0d64e73"/>
          <a:stretch xmlns:a="http://schemas.openxmlformats.org/drawingml/2006/main"/>
        </p:blipFill>
        <p:spPr>
          <a:xfrm xmlns:a="http://schemas.openxmlformats.org/drawingml/2006/main">
            <a:off x="6419880" y="0"/>
            <a:ext cx="5772089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企er">
            <a:extLst xmlns:a="http://schemas.openxmlformats.org/drawingml/2006/main">
              <a:ext uri="{FF2B5EF4-FFF2-40B4-BE49-F238E27FC236}">
                <a16:creationId xmlns:a16="http://schemas.microsoft.com/office/drawing/2014/main" id="{B8AD1E7B-F0F9-4E97-9DCE-D2C29897D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5143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5325" b="1">
                <a:solidFill>
                  <a:srgbClr val="F7F0E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325" b="1">
                <a:solidFill>
                  <a:srgbClr val="F7F0E0"/>
                </a:solidFill>
                <a:latin typeface="Microsoft YaHei"/>
                <a:ea typeface="Microsoft YaHei"/>
                <a:cs typeface="Microsoft YaHei"/>
              </a:rPr>
              <a:t>企er</a:t>
            </a:r>
          </a:p>
        </p:txBody>
      </p:sp>
      <p:sp>
        <p:nvSpPr>
          <p:cNvPr id="3" name="把钱或信任交出去前， 先把依据看清楚">
            <a:extLst xmlns:a="http://schemas.openxmlformats.org/drawingml/2006/main">
              <a:ext uri="{FF2B5EF4-FFF2-40B4-BE49-F238E27FC236}">
                <a16:creationId xmlns:a16="http://schemas.microsoft.com/office/drawing/2014/main" id="{0B6D2C15-F860-4895-9728-EFF797E69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0"/>
            <a:ext cx="5591175" cy="1609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75" b="1">
                <a:solidFill>
                  <a:srgbClr val="F7F0E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75" b="1">
                <a:solidFill>
                  <a:srgbClr val="F7F0E0"/>
                </a:solidFill>
                <a:latin typeface="Microsoft YaHei"/>
                <a:ea typeface="Microsoft YaHei"/>
                <a:cs typeface="Microsoft YaHei"/>
              </a:rPr>
              <a:t>把钱或信任交出去前，</a:t>
            </a:r>
          </a:p>
          <a:p xmlns:a="http://schemas.openxmlformats.org/drawingml/2006/main">
            <a:pPr>
              <a:defRPr sz="3375" b="1">
                <a:solidFill>
                  <a:srgbClr val="F7F0E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75" b="1">
                <a:solidFill>
                  <a:srgbClr val="F7F0E0"/>
                </a:solidFill>
                <a:latin typeface="Microsoft YaHei"/>
                <a:ea typeface="Microsoft YaHei"/>
                <a:cs typeface="Microsoft YaHei"/>
              </a:rPr>
              <a:t>先把依据看清楚</a:t>
            </a:r>
          </a:p>
        </p:txBody>
      </p:sp>
      <p:sp>
        <p:nvSpPr>
          <p:cNvPr id="4" name="有出处的企业研究助手">
            <a:extLst xmlns:a="http://schemas.openxmlformats.org/drawingml/2006/main">
              <a:ext uri="{FF2B5EF4-FFF2-40B4-BE49-F238E27FC236}">
                <a16:creationId xmlns:a16="http://schemas.microsoft.com/office/drawing/2014/main" id="{E4BDDB52-9E8A-48BF-BB39-761ACBDEE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905375"/>
            <a:ext cx="55149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E2BC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E2BC78"/>
                </a:solidFill>
                <a:latin typeface="Microsoft YaHei"/>
                <a:ea typeface="Microsoft YaHei"/>
                <a:cs typeface="Microsoft YaHei"/>
              </a:rPr>
              <a:t>有出处的企业研究助手</a:t>
            </a:r>
          </a:p>
        </p:txBody>
      </p:sp>
      <p:sp>
        <p:nvSpPr>
          <p:cNvPr id="5" name="基于公开资料，不作安全担保">
            <a:extLst xmlns:a="http://schemas.openxmlformats.org/drawingml/2006/main">
              <a:ext uri="{FF2B5EF4-FFF2-40B4-BE49-F238E27FC236}">
                <a16:creationId xmlns:a16="http://schemas.microsoft.com/office/drawing/2014/main" id="{6F687351-8263-4864-BA8D-973F2B3A0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972175"/>
            <a:ext cx="55149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F7F0E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7F0E0"/>
                </a:solidFill>
                <a:latin typeface="Microsoft YaHei"/>
                <a:ea typeface="Microsoft YaHei"/>
                <a:cs typeface="Microsoft YaHei"/>
              </a:rPr>
              <a:t>基于公开资料，不作安全担保</a:t>
            </a:r>
          </a:p>
        </p:txBody>
      </p:sp>
    </p:spTree>
    <p:extLst>
      <p:ext uri="{BB962C8B-B14F-4D97-AF65-F5344CB8AC3E}">
        <p14:creationId xmlns:p14="http://schemas.microsoft.com/office/powerpoint/2010/main" val="202648898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0E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产品边界与当前能力">
            <a:extLst xmlns:a="http://schemas.openxmlformats.org/drawingml/2006/main">
              <a:ext uri="{FF2B5EF4-FFF2-40B4-BE49-F238E27FC236}">
                <a16:creationId xmlns:a16="http://schemas.microsoft.com/office/drawing/2014/main" id="{0F674C63-3946-4165-9E1E-CB82F2465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23875"/>
            <a:ext cx="108966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222E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222E39"/>
                </a:solidFill>
                <a:latin typeface="Microsoft YaHei"/>
                <a:ea typeface="Microsoft YaHei"/>
                <a:cs typeface="Microsoft YaHei"/>
              </a:rPr>
              <a:t>产品边界与当前能力</a:t>
            </a:r>
          </a:p>
        </p:txBody>
      </p:sp>
      <p:sp>
        <p:nvSpPr>
          <p:cNvPr id="2" name="企er">
            <a:extLst xmlns:a="http://schemas.openxmlformats.org/drawingml/2006/main">
              <a:ext uri="{FF2B5EF4-FFF2-40B4-BE49-F238E27FC236}">
                <a16:creationId xmlns:a16="http://schemas.microsoft.com/office/drawing/2014/main" id="{001E4383-B2F0-4DEB-99F9-03754016A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4365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6F67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6F675B"/>
                </a:solidFill>
                <a:latin typeface="Microsoft YaHei"/>
                <a:ea typeface="Microsoft YaHei"/>
                <a:cs typeface="Microsoft YaHei"/>
              </a:rPr>
              <a:t>企er</a:t>
            </a:r>
          </a:p>
        </p:txBody>
      </p:sp>
      <p:sp>
        <p:nvSpPr>
          <p:cNvPr id="3" name="11">
            <a:extLst xmlns:a="http://schemas.openxmlformats.org/drawingml/2006/main">
              <a:ext uri="{FF2B5EF4-FFF2-40B4-BE49-F238E27FC236}">
                <a16:creationId xmlns:a16="http://schemas.microsoft.com/office/drawing/2014/main" id="{9B3BAEC5-02B4-4E4F-AA93-F77766111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343650"/>
            <a:ext cx="647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6F67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F675B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47700" y="1571625"/>
          <a:ext xmlns:a="http://schemas.openxmlformats.org/drawingml/2006/main" cx="10896600" cy="37433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476500"/>
                <a:gridCol w="8420100"/>
              </a:tblGrid>
              <a:tr h="748665">
                <a:tc>
                  <a:txBody>
                    <a:bodyPr lIns="171450" tIns="123825" rIns="171450" bIns="123825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7F0E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环节</a:t>
                      </a:r>
                    </a:p>
                  </a:txBody>
                  <a:tcPr marL="91440" marR="91440" marT="45720" marB="45720" anchor="ctr">
                    <a:solidFill>
                      <a:srgbClr val="222E39"/>
                    </a:solidFill>
                  </a:tcPr>
                </a:tc>
                <a:tc>
                  <a:txBody>
                    <a:bodyPr lIns="171450" tIns="123825" rIns="171450" bIns="123825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7F0E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当前承担的工作</a:t>
                      </a:r>
                    </a:p>
                  </a:txBody>
                  <a:tcPr marL="91440" marR="91440" marT="45720" marB="45720" anchor="ctr">
                    <a:solidFill>
                      <a:srgbClr val="222E39"/>
                    </a:solidFill>
                  </a:tcPr>
                </a:tc>
              </a:tr>
              <a:tr h="748665">
                <a:tc>
                  <a:txBody>
                    <a:bodyPr lIns="171450" tIns="123825" rIns="171450" bIns="123825">
                      <a:noAutofit/>
                    </a:bodyPr>
                    <a:lstStyle/>
                    <a:p>
                      <a:r>
                        <a:rPr sz="1950" b="1">
                          <a:solidFill>
                            <a:srgbClr val="2933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数据</a:t>
                      </a:r>
                    </a:p>
                  </a:txBody>
                  <a:tcPr marL="91440" marR="91440" marT="45720" marB="45720" anchor="ctr">
                    <a:solidFill>
                      <a:srgbClr val="F7F0E0"/>
                    </a:solidFill>
                  </a:tcPr>
                </a:tc>
                <a:tc>
                  <a:txBody>
                    <a:bodyPr lIns="171450" tIns="123825" rIns="171450" bIns="123825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2933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汇集公开记录与用户材料，保留来源和查询状态</a:t>
                      </a:r>
                    </a:p>
                  </a:txBody>
                  <a:tcPr marL="91440" marR="91440" marT="45720" marB="45720" anchor="ctr">
                    <a:solidFill>
                      <a:srgbClr val="F7F0E0"/>
                    </a:solidFill>
                  </a:tcPr>
                </a:tc>
              </a:tr>
              <a:tr h="748665">
                <a:tc>
                  <a:txBody>
                    <a:bodyPr lIns="171450" tIns="123825" rIns="171450" bIns="123825">
                      <a:noAutofit/>
                    </a:bodyPr>
                    <a:lstStyle/>
                    <a:p>
                      <a:r>
                        <a:rPr sz="1950" b="1">
                          <a:solidFill>
                            <a:srgbClr val="2933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确定性规则</a:t>
                      </a:r>
                    </a:p>
                  </a:txBody>
                  <a:tcPr marL="91440" marR="91440" marT="45720" marB="45720" anchor="ctr">
                    <a:solidFill>
                      <a:srgbClr val="EDE2CD"/>
                    </a:solidFill>
                  </a:tcPr>
                </a:tc>
                <a:tc>
                  <a:txBody>
                    <a:bodyPr lIns="171450" tIns="123825" rIns="171450" bIns="123825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2933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按已有记录与规则生成核验判定，逐项比对版本</a:t>
                      </a:r>
                    </a:p>
                  </a:txBody>
                  <a:tcPr marL="91440" marR="91440" marT="45720" marB="45720" anchor="ctr">
                    <a:solidFill>
                      <a:srgbClr val="EDE2CD"/>
                    </a:solidFill>
                  </a:tcPr>
                </a:tc>
              </a:tr>
              <a:tr h="748665">
                <a:tc>
                  <a:txBody>
                    <a:bodyPr lIns="171450" tIns="123825" rIns="171450" bIns="123825">
                      <a:noAutofit/>
                    </a:bodyPr>
                    <a:lstStyle/>
                    <a:p>
                      <a:r>
                        <a:rPr sz="1950" b="1">
                          <a:solidFill>
                            <a:srgbClr val="2933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AI</a:t>
                      </a:r>
                    </a:p>
                  </a:txBody>
                  <a:tcPr marL="91440" marR="91440" marT="45720" marB="45720" anchor="ctr">
                    <a:solidFill>
                      <a:srgbClr val="F7F0E0"/>
                    </a:solidFill>
                  </a:tcPr>
                </a:tc>
                <a:tc>
                  <a:txBody>
                    <a:bodyPr lIns="171450" tIns="123825" rIns="171450" bIns="123825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2933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识别需求、读取材料、解释报告、回答问题</a:t>
                      </a:r>
                    </a:p>
                  </a:txBody>
                  <a:tcPr marL="91440" marR="91440" marT="45720" marB="45720" anchor="ctr">
                    <a:solidFill>
                      <a:srgbClr val="F7F0E0"/>
                    </a:solidFill>
                  </a:tcPr>
                </a:tc>
              </a:tr>
              <a:tr h="748665">
                <a:tc>
                  <a:txBody>
                    <a:bodyPr lIns="171450" tIns="123825" rIns="171450" bIns="123825">
                      <a:noAutofit/>
                    </a:bodyPr>
                    <a:lstStyle/>
                    <a:p>
                      <a:r>
                        <a:rPr sz="1950" b="1">
                          <a:solidFill>
                            <a:srgbClr val="2933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用户</a:t>
                      </a:r>
                    </a:p>
                  </a:txBody>
                  <a:tcPr marL="91440" marR="91440" marT="45720" marB="45720" anchor="ctr">
                    <a:solidFill>
                      <a:srgbClr val="EDE2CD"/>
                    </a:solidFill>
                  </a:tcPr>
                </a:tc>
                <a:tc>
                  <a:txBody>
                    <a:bodyPr lIns="171450" tIns="123825" rIns="171450" bIns="123825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2933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核对缺口，补充信息，作出最终决定</a:t>
                      </a:r>
                    </a:p>
                  </a:txBody>
                  <a:tcPr marL="91440" marR="91440" marT="45720" marB="45720" anchor="ctr">
                    <a:solidFill>
                      <a:srgbClr val="EDE2CD"/>
                    </a:solidFill>
                  </a:tcPr>
                </a:tc>
              </a:tr>
            </a:tbl>
          </a:graphicData>
        </a:graphic>
      </p:graphicFrame>
      <p:sp>
        <p:nvSpPr>
          <p:cNvPr id="5" name="不打安全分，不作安全担保。联网资料受配置与覆盖范围限制">
            <a:extLst xmlns:a="http://schemas.openxmlformats.org/drawingml/2006/main">
              <a:ext uri="{FF2B5EF4-FFF2-40B4-BE49-F238E27FC236}">
                <a16:creationId xmlns:a16="http://schemas.microsoft.com/office/drawing/2014/main" id="{F9027636-4C7F-437F-85B3-DA6CAB22D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619750"/>
            <a:ext cx="108966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22E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22E39"/>
                </a:solidFill>
                <a:latin typeface="Microsoft YaHei"/>
                <a:ea typeface="Microsoft YaHei"/>
                <a:cs typeface="Microsoft YaHei"/>
              </a:rPr>
              <a:t>不打安全分，不作安全担保。联网资料受配置与覆盖范围限制</a:t>
            </a:r>
          </a:p>
        </p:txBody>
      </p:sp>
    </p:spTree>
    <p:extLst>
      <p:ext uri="{BB962C8B-B14F-4D97-AF65-F5344CB8AC3E}">
        <p14:creationId xmlns:p14="http://schemas.microsoft.com/office/powerpoint/2010/main" val="56786467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0E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答辩时的四个重点">
            <a:extLst xmlns:a="http://schemas.openxmlformats.org/drawingml/2006/main">
              <a:ext uri="{FF2B5EF4-FFF2-40B4-BE49-F238E27FC236}">
                <a16:creationId xmlns:a16="http://schemas.microsoft.com/office/drawing/2014/main" id="{35850B2B-8CDA-415B-A1E7-4FA84A2BF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23875"/>
            <a:ext cx="108966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222E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222E39"/>
                </a:solidFill>
                <a:latin typeface="Microsoft YaHei"/>
                <a:ea typeface="Microsoft YaHei"/>
                <a:cs typeface="Microsoft YaHei"/>
              </a:rPr>
              <a:t>答辩时的四个重点</a:t>
            </a:r>
          </a:p>
        </p:txBody>
      </p:sp>
      <p:sp>
        <p:nvSpPr>
          <p:cNvPr id="2" name="企er">
            <a:extLst xmlns:a="http://schemas.openxmlformats.org/drawingml/2006/main">
              <a:ext uri="{FF2B5EF4-FFF2-40B4-BE49-F238E27FC236}">
                <a16:creationId xmlns:a16="http://schemas.microsoft.com/office/drawing/2014/main" id="{E95CDE92-94A3-4DD8-85E1-FAE08AD1C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4365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6F67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6F675B"/>
                </a:solidFill>
                <a:latin typeface="Microsoft YaHei"/>
                <a:ea typeface="Microsoft YaHei"/>
                <a:cs typeface="Microsoft YaHei"/>
              </a:rPr>
              <a:t>企er</a:t>
            </a:r>
          </a:p>
        </p:txBody>
      </p:sp>
      <p:sp>
        <p:nvSpPr>
          <p:cNvPr id="3" name="12">
            <a:extLst xmlns:a="http://schemas.openxmlformats.org/drawingml/2006/main">
              <a:ext uri="{FF2B5EF4-FFF2-40B4-BE49-F238E27FC236}">
                <a16:creationId xmlns:a16="http://schemas.microsoft.com/office/drawing/2014/main" id="{3F849D92-4046-40F6-B997-E039EBA19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343650"/>
            <a:ext cx="647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6F67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F675B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  <p:sp>
        <p:nvSpPr>
          <p:cNvPr id="4" name="为什么不直接给安全分">
            <a:extLst xmlns:a="http://schemas.openxmlformats.org/drawingml/2006/main">
              <a:ext uri="{FF2B5EF4-FFF2-40B4-BE49-F238E27FC236}">
                <a16:creationId xmlns:a16="http://schemas.microsoft.com/office/drawing/2014/main" id="{0E42E263-700C-40BE-A24A-B676A954C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09725"/>
            <a:ext cx="50101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222E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22E39"/>
                </a:solidFill>
                <a:latin typeface="Microsoft YaHei"/>
                <a:ea typeface="Microsoft YaHei"/>
                <a:cs typeface="Microsoft YaHei"/>
              </a:rPr>
              <a:t>为什么不直接给安全分</a:t>
            </a:r>
          </a:p>
        </p:txBody>
      </p:sp>
      <p:sp>
        <p:nvSpPr>
          <p:cNvPr id="5" name="公开记录有范围与时间边界， 缺口不能折算成一个“安全”数字。">
            <a:extLst xmlns:a="http://schemas.openxmlformats.org/drawingml/2006/main">
              <a:ext uri="{FF2B5EF4-FFF2-40B4-BE49-F238E27FC236}">
                <a16:creationId xmlns:a16="http://schemas.microsoft.com/office/drawing/2014/main" id="{17D7A1D6-A144-4BC5-AF01-7135C645A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90750"/>
            <a:ext cx="50101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2933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333A"/>
                </a:solidFill>
                <a:latin typeface="Microsoft YaHei"/>
                <a:ea typeface="Microsoft YaHei"/>
                <a:cs typeface="Microsoft YaHei"/>
              </a:rPr>
              <a:t>公开记录有范围与时间边界，</a:t>
            </a:r>
          </a:p>
          <a:p xmlns:a="http://schemas.openxmlformats.org/drawingml/2006/main">
            <a:pPr>
              <a:defRPr sz="1950" b="0">
                <a:solidFill>
                  <a:srgbClr val="2933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333A"/>
                </a:solidFill>
                <a:latin typeface="Microsoft YaHei"/>
                <a:ea typeface="Microsoft YaHei"/>
                <a:cs typeface="Microsoft YaHei"/>
              </a:rPr>
              <a:t>缺口不能折算成一个“安全”数字。</a:t>
            </a:r>
          </a:p>
        </p:txBody>
      </p:sp>
      <p:sp>
        <p:nvSpPr>
          <p:cNvPr id="6" name="与普通搜索的区别">
            <a:extLst xmlns:a="http://schemas.openxmlformats.org/drawingml/2006/main">
              <a:ext uri="{FF2B5EF4-FFF2-40B4-BE49-F238E27FC236}">
                <a16:creationId xmlns:a16="http://schemas.microsoft.com/office/drawing/2014/main" id="{DD1C3217-6B35-4A06-AB64-1E448678B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1609725"/>
            <a:ext cx="49434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222E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22E39"/>
                </a:solidFill>
                <a:latin typeface="Microsoft YaHei"/>
                <a:ea typeface="Microsoft YaHei"/>
                <a:cs typeface="Microsoft YaHei"/>
              </a:rPr>
              <a:t>与普通搜索的区别</a:t>
            </a:r>
          </a:p>
        </p:txBody>
      </p:sp>
      <p:sp>
        <p:nvSpPr>
          <p:cNvPr id="7" name="围绕一次需求组织证据， 保留宣称对照、出处和版本变化。">
            <a:extLst xmlns:a="http://schemas.openxmlformats.org/drawingml/2006/main">
              <a:ext uri="{FF2B5EF4-FFF2-40B4-BE49-F238E27FC236}">
                <a16:creationId xmlns:a16="http://schemas.microsoft.com/office/drawing/2014/main" id="{4AF40F4A-DC3F-4DC5-873E-3913D0210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2190750"/>
            <a:ext cx="494347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2933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333A"/>
                </a:solidFill>
                <a:latin typeface="Microsoft YaHei"/>
                <a:ea typeface="Microsoft YaHei"/>
                <a:cs typeface="Microsoft YaHei"/>
              </a:rPr>
              <a:t>围绕一次需求组织证据，</a:t>
            </a:r>
          </a:p>
          <a:p xmlns:a="http://schemas.openxmlformats.org/drawingml/2006/main">
            <a:pPr>
              <a:defRPr sz="1950" b="0">
                <a:solidFill>
                  <a:srgbClr val="2933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333A"/>
                </a:solidFill>
                <a:latin typeface="Microsoft YaHei"/>
                <a:ea typeface="Microsoft YaHei"/>
                <a:cs typeface="Microsoft YaHei"/>
              </a:rPr>
              <a:t>保留宣称对照、出处和版本变化。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B3E247D-6511-471D-A55F-B137067EF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543300"/>
            <a:ext cx="10896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9CCB4"/>
            </a:solidFill>
          </a:ln>
        </p:spPr>
      </p:sp>
      <p:sp>
        <p:nvSpPr>
          <p:cNvPr id="9" name="数据不完整时怎么办">
            <a:extLst xmlns:a="http://schemas.openxmlformats.org/drawingml/2006/main">
              <a:ext uri="{FF2B5EF4-FFF2-40B4-BE49-F238E27FC236}">
                <a16:creationId xmlns:a16="http://schemas.microsoft.com/office/drawing/2014/main" id="{BDC8A38D-E134-4D8C-880A-BADC0E617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943350"/>
            <a:ext cx="50101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222E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22E39"/>
                </a:solidFill>
                <a:latin typeface="Microsoft YaHei"/>
                <a:ea typeface="Microsoft YaHei"/>
                <a:cs typeface="Microsoft YaHei"/>
              </a:rPr>
              <a:t>数据不完整时怎么办</a:t>
            </a:r>
          </a:p>
        </p:txBody>
      </p:sp>
      <p:sp>
        <p:nvSpPr>
          <p:cNvPr id="10" name="四类状态分开，列出待确认事项， 补材料后继续研究。">
            <a:extLst xmlns:a="http://schemas.openxmlformats.org/drawingml/2006/main">
              <a:ext uri="{FF2B5EF4-FFF2-40B4-BE49-F238E27FC236}">
                <a16:creationId xmlns:a16="http://schemas.microsoft.com/office/drawing/2014/main" id="{9BB8E6CD-D1DB-4F2D-95D3-36366EBA9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24375"/>
            <a:ext cx="50101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2933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333A"/>
                </a:solidFill>
                <a:latin typeface="Microsoft YaHei"/>
                <a:ea typeface="Microsoft YaHei"/>
                <a:cs typeface="Microsoft YaHei"/>
              </a:rPr>
              <a:t>四类状态分开，列出待确认事项，</a:t>
            </a:r>
          </a:p>
          <a:p xmlns:a="http://schemas.openxmlformats.org/drawingml/2006/main">
            <a:pPr>
              <a:defRPr sz="1950" b="0">
                <a:solidFill>
                  <a:srgbClr val="2933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333A"/>
                </a:solidFill>
                <a:latin typeface="Microsoft YaHei"/>
                <a:ea typeface="Microsoft YaHei"/>
                <a:cs typeface="Microsoft YaHei"/>
              </a:rPr>
              <a:t>补材料后继续研究。</a:t>
            </a:r>
          </a:p>
        </p:txBody>
      </p:sp>
      <p:sp>
        <p:nvSpPr>
          <p:cNvPr id="11" name="下一步先验证什么">
            <a:extLst xmlns:a="http://schemas.openxmlformats.org/drawingml/2006/main">
              <a:ext uri="{FF2B5EF4-FFF2-40B4-BE49-F238E27FC236}">
                <a16:creationId xmlns:a16="http://schemas.microsoft.com/office/drawing/2014/main" id="{572CAD56-43DE-4104-804D-841F81BD3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3943350"/>
            <a:ext cx="49434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222E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22E39"/>
                </a:solidFill>
                <a:latin typeface="Microsoft YaHei"/>
                <a:ea typeface="Microsoft YaHei"/>
                <a:cs typeface="Microsoft YaHei"/>
              </a:rPr>
              <a:t>下一步先验证什么</a:t>
            </a:r>
          </a:p>
        </p:txBody>
      </p:sp>
      <p:sp>
        <p:nvSpPr>
          <p:cNvPr id="12" name="在网点沟通中验证：用户能否读懂 依据与缺口，柜员能否说清下一步。">
            <a:extLst xmlns:a="http://schemas.openxmlformats.org/drawingml/2006/main">
              <a:ext uri="{FF2B5EF4-FFF2-40B4-BE49-F238E27FC236}">
                <a16:creationId xmlns:a16="http://schemas.microsoft.com/office/drawing/2014/main" id="{DB697A32-BED8-43B3-8ECE-14E665C35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4524375"/>
            <a:ext cx="494347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2933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333A"/>
                </a:solidFill>
                <a:latin typeface="Microsoft YaHei"/>
                <a:ea typeface="Microsoft YaHei"/>
                <a:cs typeface="Microsoft YaHei"/>
              </a:rPr>
              <a:t>在网点沟通中验证：用户能否读懂</a:t>
            </a:r>
          </a:p>
          <a:p xmlns:a="http://schemas.openxmlformats.org/drawingml/2006/main">
            <a:pPr>
              <a:defRPr sz="1950" b="0">
                <a:solidFill>
                  <a:srgbClr val="2933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333A"/>
                </a:solidFill>
                <a:latin typeface="Microsoft YaHei"/>
                <a:ea typeface="Microsoft YaHei"/>
                <a:cs typeface="Microsoft YaHei"/>
              </a:rPr>
              <a:t>依据与缺口，柜员能否说清下一步。</a:t>
            </a:r>
          </a:p>
        </p:txBody>
      </p:sp>
    </p:spTree>
    <p:extLst>
      <p:ext uri="{BB962C8B-B14F-4D97-AF65-F5344CB8AC3E}">
        <p14:creationId xmlns:p14="http://schemas.microsoft.com/office/powerpoint/2010/main" val="534257037"/>
      </p:ext>
    </p:extLst>
  </p:cSld>
</p:sld>
</file>

<file path=ppt/theme/theme1.xml><?xml version="1.0" encoding="utf-8"?>
<a:theme xmlns:a="http://schemas.openxmlformats.org/drawingml/2006/main" name="ChatGPT">
  <a:themeElements>
    <a:clrScheme name="企er 黄铜蓝柜">
      <a:dk1>
        <a:srgbClr val="29333A"/>
      </a:dk1>
      <a:lt1>
        <a:srgbClr val="F7F0E0"/>
      </a:lt1>
      <a:dk2>
        <a:srgbClr val="222E39"/>
      </a:dk2>
      <a:lt2>
        <a:srgbClr val="EDE2CD"/>
      </a:lt2>
      <a:accent1>
        <a:srgbClr val="B88B4C"/>
      </a:accent1>
      <a:accent2>
        <a:srgbClr val="E2BC78"/>
      </a:accent2>
      <a:accent3>
        <a:srgbClr val="527A80"/>
      </a:accent3>
      <a:accent4>
        <a:srgbClr val="A44738"/>
      </a:accent4>
      <a:accent5>
        <a:srgbClr val="506348"/>
      </a:accent5>
      <a:accent6>
        <a:srgbClr val="795037"/>
      </a:accent6>
      <a:hlink>
        <a:srgbClr val="527A80"/>
      </a:hlink>
      <a:folHlink>
        <a:srgbClr val="795037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企er 黄铜蓝柜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2026-10-02T22:33:43.6990000Z</dcterms:created>
  <dcterms:modified xsi:type="dcterms:W3CDTF">2026-10-02T22:33:43.6990000Z</dcterms:modified>
</coreProperties>
</file>