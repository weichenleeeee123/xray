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大家好，我们做的是企 er，一个有出处的企业研究助手。把钱或信任交给一家公司之前，它帮普通人把依据看清楚。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一位应届生输入：我收到杭州银行的 offer，想知道这家单位靠不靠谱。她手里只有招聘公告里的一段介绍。赛题问，把信任交给一家公司之前凭什么判断它靠得住；求职，交出去的就是信任和几年时间。今天用的是预先联网跑好的杭州银行案卷。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查杭州银行，工具能给你几千条记录：新闻 3425 条、裁判文书 1507 条、行政处罚 5 条。公司越大，记录越多。但求职者要问的只有三件事：它正不正规？发 offer、签合同、交社保的是不是同一家？那些处罚和官司跟我有没有关系？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入口很简单：公司全称加一句需求。小企识别为求职入职，把持牌名单、工商年报、财报、政府网站和新闻投诉汇成一个案卷，一共 61 条记录，再用规则做 35 项检查。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报告第一眼：五维轮廓和初步结论。经营资格、基本面、资金面都未见异常；风险稳定性因为 5 条行政处罚往里收，消息面待关注。雷达不打分，只让你看个大概。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第一问：发 offer 的和交社保的是不是同一家？它是持牌城商行，参保 7458 人，存续 30 年，当被告的劳动官司 0 条。结论是已查项暂未见异常。但这只说已查的部分，最后要看你自己的合同和社保缴费单位，系统也写了怎么核。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再把招聘公告里的说法和记录对照：200 余家分支机构，登记的是 336 家；2016 年上市、代码 600926，和上市记录一致。正规公司的说法大多能对上，这本身就是有用的结论。判定由规则给出，不是 AI 拍脑袋。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处罚和官司，企 er 不藏也不放大：2022 到 2024 年 5 条行政处罚、2023 年一份责令改正，都标上日期，能点开原文。系统不替你下结论，而是告诉你该问什么、去哪儿核。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最后落到行动：该问对方的 4 个问题，每个都写了怎么核。右边是一键打印的一页结论，给家人或给网点柜员。拿到劳动合同后补进案卷，系统出新版本，标出哪里变了。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看不懂，可以选中一条直接问小企。回答只依据这份案卷，关键事实都带出处。右边是真实公司杭州银行、联网查询、接了模型时的出处弹窗：来源、采集时间、数据截至日都在。程序还会校验每条引用，找不到依据的表述直接删掉并注明已省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方法上我们做了一个关键切分：结论来自记录和规则，AI 只负责读材料、说人话。规则对照记录、给出判定、比较版本，同样的输入永远是同样的结论；AI 负责识别需求、读图片和合同、回答追问；最后程序再校验每条引用。我们也守几条底线：不打安全分，没查到不等于没问题，不替用户做决定。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方法，换个需求就换个第一问：理财先问有没有资格收钱，签约先问签约收款干活是不是同一家。对杭州银行，网点劝阻、转账前透视收款方、校招和对公尽调，都能用同一份案卷，这些还要和业务方一起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 er 把一次查询，变成一份能追问、能补充、能回看的研究案卷。把钱或信任交出去之前，先把依据看清楚。网址是 qier.asia，现场就可以输入任意公司试一试。谢谢大家。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。同一套规则放在问题公司上是什么样？报告的第一眼是企业五维轮廓：经营资格、基本面、资金面、风险稳定性、消息面。它不打分，每一维只取查过的记录里最需要留意的一项，越往里越要当心。左边是虚构的满盈禾，五维都有异常记录，整个缩成一圈；右边是真实的杭州银行，资格、基本面、资金面都未见异常，只有行政处罚和负面新闻让两维往里收。两家公司差在哪，一眼就能看个大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答辩备用，用的是虚构示例满盈禾。判断不是一次就结束的。对方业务员回微信说：钱转到财务的个人账户，急用随时可以取。补进来，v2 马上标出新疑点：收款人是个人。再补一份认购协议，写着 12 个月封闭期、不得提前赎回，v3 就把“随时可取”从无法核验改成与记录不符。如果误传了一张停水通知，判断不会乱动。每个版本和旧回答的出处都保留。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答辩备用。每个来源的状态分四种：查到了、查了没有、没查、查询失败，分开展示，避免把没获取到记录误读成正常。产品不打安全分，不作法律定性，最终决定由人作出。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回响 48H 黑客松  ·  杭州银行「X-Ray 透视·真相」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企er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154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有出处的企业研究助手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把钱或信任交给一家公司之前，先把依据看清楚。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4754880"/>
            <a:ext cx="2483104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54880"/>
            <a:ext cx="248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每条结论都能点开原始记录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qier.asia</a:t>
            </a:r>
            <a:endParaRPr lang="en-US" sz="1500" dirty="0"/>
          </a:p>
        </p:txBody>
      </p:sp>
      <p:pic>
        <p:nvPicPr>
          <p:cNvPr id="9" name="Image 0" descr="小企拿放大镜的插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914400"/>
            <a:ext cx="537667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从一句话开始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“我收到杭州银行的 offer，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想知道这家单位靠不靠谱。”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手里只有招聘公告里的一段银行介绍。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该信多少？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805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赛题问：把储蓄、信任交给一家公司之前，凭什么判断它靠得住？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求职，交出去的是信任和几年时间。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914400"/>
            <a:ext cx="4050792" cy="4983480"/>
          </a:xfrm>
          <a:prstGeom prst="roundRect">
            <a:avLst>
              <a:gd name="adj" fmla="val 903"/>
            </a:avLst>
          </a:prstGeom>
          <a:solidFill>
            <a:srgbClr val="FFFFFF"/>
          </a:solidFill>
          <a:ln w="9525">
            <a:solidFill>
              <a:srgbClr val="DCD2C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52360" y="914400"/>
            <a:ext cx="4050792" cy="960120"/>
          </a:xfrm>
          <a:prstGeom prst="rect">
            <a:avLst/>
          </a:prstGeom>
          <a:solidFill>
            <a:srgbClr val="192A3D"/>
          </a:solidFill>
          <a:ln w="12700">
            <a:solidFill>
              <a:srgbClr val="192A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115568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杭州银行 2022 校园招聘公告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4630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里的银行介绍（摘录）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99832" y="214884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 1996 年 9 月，总部位于杭州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53528" y="2670048"/>
            <a:ext cx="45720" cy="329184"/>
          </a:xfrm>
          <a:prstGeom prst="rect">
            <a:avLst/>
          </a:prstGeom>
          <a:solidFill>
            <a:srgbClr val="A27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99832" y="27157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全行拥有 200 余家分支机构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53528" y="3236976"/>
            <a:ext cx="45720" cy="621792"/>
          </a:xfrm>
          <a:prstGeom prst="rect">
            <a:avLst/>
          </a:prstGeom>
          <a:solidFill>
            <a:srgbClr val="A275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99832" y="3282696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2016 年 10 月 27 日在上交所上市，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股票代码 600926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414223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2020 年末，总资产 11,692.57 亿元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470916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归属于上市公司股东净利润 71.36 亿元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99832" y="5276088"/>
            <a:ext cx="3410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《银行家》全球银行 1000 强，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5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按一级资本排名第 144 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6007608"/>
            <a:ext cx="2431288" cy="27432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52360" y="6007608"/>
            <a:ext cx="243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用户提供的材料 · 2026-10-02 摘录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演示用预制示例：真实公司，资料是 2026-10-03 04:55 预先联网查询的快照，现场不重新联网。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为什么需要企er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查得到，不等于看得懂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查询工具给你的：一家大银行的记录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EFE9DD"/>
          </a:solidFill>
          <a:ln w="9525">
            <a:solidFill>
              <a:srgbClr val="E2D9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新闻舆情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3,425 条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裁判文书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1,507 条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立案信息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1,164 条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开庭公告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条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行政许可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 条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工商变更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187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 次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股权出质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553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条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7D76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303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88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 哪些跟“去不去”有关？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她真正要问的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258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2951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它是不是正规单位？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63640" y="3227832"/>
            <a:ext cx="5239512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401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4381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发 offer、签合同、交社保的，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是不是同一家？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263640" y="4370832"/>
            <a:ext cx="5239512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5445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5811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那些处罚和官司，跟我有关吗？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企er 按需求排重点：</a:t>
            </a:r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求职先看用工；处罚和官司照实列出，每条都能点开出处。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产品入口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输入公司全称，再说一句你要做什么</a:t>
            </a:r>
            <a:endParaRPr lang="en-US" sz="3200" dirty="0"/>
          </a:p>
        </p:txBody>
      </p:sp>
      <p:pic>
        <p:nvPicPr>
          <p:cNvPr id="5" name="Image 0" descr="企er 首页：公司名称与研究需求输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7040880" cy="290865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18388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78308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读懂需求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167128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识别为：求职入职，替自己看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需求决定先查什么、先答什么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78892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汇集记录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172968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持牌名单、工商与年报、财报、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政府网站、新闻投诉：61 条记录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79476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对照规则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178808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2 条说法、35 项检查，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 8 条看得懂的短句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" y="5074920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330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463040" y="5303520"/>
            <a:ext cx="14102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63040" y="5303520"/>
            <a:ext cx="141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金融监管持牌名单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10408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0408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中基协私募公示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18076" y="5303520"/>
            <a:ext cx="14102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18076" y="5303520"/>
            <a:ext cx="141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企查查智能体数据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65444" y="5303520"/>
            <a:ext cx="11308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65444" y="5303520"/>
            <a:ext cx="113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巨潮资讯公告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33412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33412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监管与政府网站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41080" y="5303520"/>
            <a:ext cx="1270508" cy="274320"/>
          </a:xfrm>
          <a:prstGeom prst="roundRect">
            <a:avLst>
              <a:gd name="adj" fmla="val 20000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5303520"/>
            <a:ext cx="1270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用户上传的材料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报告第一眼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先看个大概：五维轮廓和初步结论</a:t>
            </a:r>
            <a:endParaRPr lang="en-US" sz="3200" dirty="0"/>
          </a:p>
        </p:txBody>
      </p:sp>
      <p:pic>
        <p:nvPicPr>
          <p:cNvPr id="5" name="Image 0" descr="杭州银行报告的企业五维轮廓与初步结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20095" cy="350296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" y="5350054"/>
            <a:ext cx="237744" cy="237744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3409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84" dirty="0"/>
          </a:p>
        </p:txBody>
      </p:sp>
      <p:sp>
        <p:nvSpPr>
          <p:cNvPr id="8" name="Text 5"/>
          <p:cNvSpPr txBox="1"/>
          <p:nvPr/>
        </p:nvSpPr>
        <p:spPr>
          <a:xfrm>
            <a:off x="996696" y="5331766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经营资格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5606086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7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96696" y="5862118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持牌城商行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行政许可 110 条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49819" y="5350054"/>
            <a:ext cx="237744" cy="237744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49819" y="53409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84" dirty="0"/>
          </a:p>
        </p:txBody>
      </p:sp>
      <p:sp>
        <p:nvSpPr>
          <p:cNvPr id="13" name="Text 10"/>
          <p:cNvSpPr txBox="1"/>
          <p:nvPr/>
        </p:nvSpPr>
        <p:spPr>
          <a:xfrm>
            <a:off x="3160715" y="5331766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160715" y="5606086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7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160715" y="5862118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存续 30 年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年报参保 7,458 人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13838" y="5350054"/>
            <a:ext cx="237744" cy="237744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13838" y="53409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84" dirty="0"/>
          </a:p>
        </p:txBody>
      </p:sp>
      <p:sp>
        <p:nvSpPr>
          <p:cNvPr id="18" name="Text 15"/>
          <p:cNvSpPr txBox="1"/>
          <p:nvPr/>
        </p:nvSpPr>
        <p:spPr>
          <a:xfrm>
            <a:off x="5324734" y="5331766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资金面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324734" y="5606086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7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324734" y="5862118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营收 387.99 亿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 190.29 亿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77857" y="5350054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77857" y="53409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23" name="Text 20"/>
          <p:cNvSpPr txBox="1"/>
          <p:nvPr/>
        </p:nvSpPr>
        <p:spPr>
          <a:xfrm>
            <a:off x="7488753" y="5331766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风险稳定性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88753" y="5606086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4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488753" y="5862118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 5 条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政府网站点名 1 份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41876" y="5350054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41876" y="53409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884" dirty="0"/>
          </a:p>
        </p:txBody>
      </p:sp>
      <p:sp>
        <p:nvSpPr>
          <p:cNvPr id="28" name="Text 25"/>
          <p:cNvSpPr txBox="1"/>
          <p:nvPr/>
        </p:nvSpPr>
        <p:spPr>
          <a:xfrm>
            <a:off x="9652772" y="5331766"/>
            <a:ext cx="1798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消息面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652772" y="5606086"/>
            <a:ext cx="1798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67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有待关注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652772" y="5862118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近一年负面新闻 2 条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网上投诉 1 条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实拍：预制示例在本地运行当前版本。雷达是定性示意，不设评分；每一维取查过的记录里最需关注的一项。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发 offer 的和交社保的，是不是同一家？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658368" cy="658368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448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4F7A6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已查项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4F7A6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暂未见异常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先看和求职最相关的记录：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它是持牌银行，参保 7,458 人，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当被告的劳动官司 0 条。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“暂未见异常”只说已查的部分。最后一步要看你自己的劳动合同和社保缴费单位。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1783080"/>
            <a:ext cx="6156655" cy="777240"/>
          </a:xfrm>
          <a:prstGeom prst="roundRect">
            <a:avLst>
              <a:gd name="adj" fmla="val 9412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0408" y="1911096"/>
            <a:ext cx="274320" cy="274320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5040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5971032" y="1892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持牌机构名单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19311" y="1901952"/>
            <a:ext cx="2203704" cy="246888"/>
          </a:xfrm>
          <a:prstGeom prst="roundRect">
            <a:avLst>
              <a:gd name="adj" fmla="val 22222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19311" y="1901952"/>
            <a:ext cx="2203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金融监管总局 2025-06-30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222199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银行业金融机构法人名单已收录：城市商业银行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49240" y="2697480"/>
            <a:ext cx="6156655" cy="777240"/>
          </a:xfrm>
          <a:prstGeom prst="roundRect">
            <a:avLst>
              <a:gd name="adj" fmla="val 9412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0408" y="2825496"/>
            <a:ext cx="274320" cy="274320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040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5971032" y="2807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参保人数 · 登记状态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41865" y="2816352"/>
            <a:ext cx="1581150" cy="246888"/>
          </a:xfrm>
          <a:prstGeom prst="roundRect">
            <a:avLst>
              <a:gd name="adj" fmla="val 22222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41865" y="2816352"/>
            <a:ext cx="15811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企查查工商数据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971032" y="313639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年报参保 7,458 人；存续 30 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49240" y="3611880"/>
            <a:ext cx="6156655" cy="777240"/>
          </a:xfrm>
          <a:prstGeom prst="roundRect">
            <a:avLst>
              <a:gd name="adj" fmla="val 9412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0408" y="3739896"/>
            <a:ext cx="274320" cy="274320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50408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971032" y="3721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劳动纠纷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741865" y="3730752"/>
            <a:ext cx="1581150" cy="246888"/>
          </a:xfrm>
          <a:prstGeom prst="roundRect">
            <a:avLst>
              <a:gd name="adj" fmla="val 22222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41865" y="3730752"/>
            <a:ext cx="15811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企查查涉诉数据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71032" y="405079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劳动仲裁 4 条，当被告的劳动官司 0 条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49240" y="4526280"/>
            <a:ext cx="6156655" cy="777240"/>
          </a:xfrm>
          <a:prstGeom prst="roundRect">
            <a:avLst>
              <a:gd name="adj" fmla="val 9412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0408" y="4654296"/>
            <a:ext cx="274320" cy="274320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50408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5971032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9741865" y="4645152"/>
            <a:ext cx="1581150" cy="246888"/>
          </a:xfrm>
          <a:prstGeom prst="roundRect">
            <a:avLst>
              <a:gd name="adj" fmla="val 22222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41865" y="4645152"/>
            <a:ext cx="15811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 · 企查查招聘数据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971032" y="496519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 条，最近 2026-01-14；月薪如 12-20K、7-12K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49240" y="5468112"/>
            <a:ext cx="6156655" cy="566928"/>
          </a:xfrm>
          <a:prstGeom prst="roundRect">
            <a:avLst>
              <a:gd name="adj" fmla="val 12903"/>
            </a:avLst>
          </a:prstGeom>
          <a:solidFill>
            <a:srgbClr val="EDE5D5"/>
          </a:solidFill>
          <a:ln w="9525">
            <a:solidFill>
              <a:srgbClr val="EDE5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77840" y="5577840"/>
            <a:ext cx="5699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</a:t>
            </a:r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入职后在社保 App 或当地社保查询里，看缴费单位名称。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逐条对照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它说的，和记录里的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招聘公告上说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记录里查到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规则判定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40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全行拥有 200 余家分支机构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128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336 家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登记的分支机构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登记的规模和宣传大致相符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64040" y="23500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64040" y="2350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与记录相符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2016 年上交所上市，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股票代码 600926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3558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600926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429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上交所主板，上市日期 2016-10-27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和宣传说的一致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34930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3493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与记录相符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15968"/>
            <a:ext cx="10820095" cy="0"/>
          </a:xfrm>
          <a:prstGeom prst="line">
            <a:avLst/>
          </a:prstGeom>
          <a:noFill/>
          <a:ln w="9525">
            <a:solidFill>
              <a:srgbClr val="3A48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720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正规公司的说法，大部分能对上。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这本身就是一个有用的结论。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572000"/>
            <a:ext cx="3685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这次材料里抽出 2 条可对照的说法。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同一套规则用在问题公司上，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会标出“与记录不符”“不合规承诺”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（见备用页）。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对方的每条说法，都拿官方记录和法规对一遍。判定由固定规则给出，不由 AI 决定。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记录照实列出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处罚和官司不藏也不放大，标上日期和出处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6675120" cy="2926080"/>
          </a:xfrm>
          <a:prstGeom prst="roundRect">
            <a:avLst>
              <a:gd name="adj" fmla="val 2500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1996 — 2026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按事件顺序排列 · 非等距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5943600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" y="2807208"/>
            <a:ext cx="146304" cy="146304"/>
          </a:xfrm>
          <a:prstGeom prst="ellipse">
            <a:avLst/>
          </a:prstGeom>
          <a:solidFill>
            <a:srgbClr val="A275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09-25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公司成立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89166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7494" y="2807208"/>
            <a:ext cx="146304" cy="146304"/>
          </a:xfrm>
          <a:prstGeom prst="ellipse">
            <a:avLst/>
          </a:prstGeom>
          <a:solidFill>
            <a:srgbClr val="A275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9166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07-05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43446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 / 批复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338251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6579" y="2807208"/>
            <a:ext cx="146304" cy="146304"/>
          </a:xfrm>
          <a:prstGeom prst="ellipse">
            <a:avLst/>
          </a:prstGeom>
          <a:solidFill>
            <a:srgbClr val="B043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38251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05-23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292531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人行杭州中支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 580 万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187337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5665" y="2807208"/>
            <a:ext cx="146304" cy="146304"/>
          </a:xfrm>
          <a:prstGeom prst="ellipse">
            <a:avLst/>
          </a:prstGeom>
          <a:solidFill>
            <a:srgbClr val="B043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87337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07-21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141617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浙江证监局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责令改正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036423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74751" y="2807208"/>
            <a:ext cx="146304" cy="146304"/>
          </a:xfrm>
          <a:prstGeom prst="ellipse">
            <a:avLst/>
          </a:prstGeom>
          <a:solidFill>
            <a:srgbClr val="B043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36423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01-09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990703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浙江金融监管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 210 万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85509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23837" y="2807208"/>
            <a:ext cx="146304" cy="146304"/>
          </a:xfrm>
          <a:prstGeom prst="ellipse">
            <a:avLst/>
          </a:prstGeom>
          <a:solidFill>
            <a:srgbClr val="B043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85509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39789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浙江金融监管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 110 万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734594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72922" y="2807208"/>
            <a:ext cx="146304" cy="146304"/>
          </a:xfrm>
          <a:prstGeom prst="ellipse">
            <a:avLst/>
          </a:prstGeom>
          <a:solidFill>
            <a:srgbClr val="B043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34594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11-25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688874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外汇局浙江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22008" y="2807208"/>
            <a:ext cx="146304" cy="146304"/>
          </a:xfrm>
          <a:prstGeom prst="ellipse">
            <a:avLst/>
          </a:prstGeom>
          <a:solidFill>
            <a:srgbClr val="B67F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3044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11-07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网上投诉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41605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1 条罚款 975 万元（浙江金融监管局，日期未公示）。每个节点在报告里都能点开原文。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89204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EDE5D5"/>
          </a:solidFill>
          <a:ln w="9525">
            <a:solidFill>
              <a:srgbClr val="EDE5D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0120" y="5029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系统建议你问对方的第一个问题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60120" y="53218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“监管点名的事项，处理完了吗？”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" y="57332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怎么核：点开原始数据里的原文链接，看处罚或通报的内容和日期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772400" y="1755648"/>
            <a:ext cx="256032" cy="256032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0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952" dirty="0"/>
          </a:p>
        </p:txBody>
      </p:sp>
      <p:sp>
        <p:nvSpPr>
          <p:cNvPr id="48" name="Text 46"/>
          <p:cNvSpPr txBox="1"/>
          <p:nvPr/>
        </p:nvSpPr>
        <p:spPr>
          <a:xfrm>
            <a:off x="8138160" y="17373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 5 条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2066544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2022—2024 年，人行杭州中支、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金融监管总局浙江监管局等；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 110 万至 975 万元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772400" y="2834640"/>
            <a:ext cx="256032" cy="256032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952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2816352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政府网站点名 1 份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8138160" y="3145536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2023-07-21 证监会浙江监管局：责令改正措施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772400" y="3913632"/>
            <a:ext cx="256032" cy="256032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7240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52" dirty="0"/>
          </a:p>
        </p:txBody>
      </p:sp>
      <p:sp>
        <p:nvSpPr>
          <p:cNvPr id="56" name="Text 54"/>
          <p:cNvSpPr txBox="1"/>
          <p:nvPr/>
        </p:nvSpPr>
        <p:spPr>
          <a:xfrm>
            <a:off x="8138160" y="3895344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近一年负面新闻 2 条</a:t>
            </a:r>
            <a:endParaRPr lang="en-US" sz="1450" dirty="0"/>
          </a:p>
        </p:txBody>
      </p:sp>
      <p:sp>
        <p:nvSpPr>
          <p:cNvPr id="57" name="Text 55"/>
          <p:cNvSpPr txBox="1"/>
          <p:nvPr/>
        </p:nvSpPr>
        <p:spPr>
          <a:xfrm>
            <a:off x="8138160" y="4224528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最近一条 2026-09-30，报道罚款 975 万元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772400" y="4992624"/>
            <a:ext cx="256032" cy="256032"/>
          </a:xfrm>
          <a:prstGeom prst="ellipse">
            <a:avLst/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72400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52" dirty="0"/>
          </a:p>
        </p:txBody>
      </p:sp>
      <p:sp>
        <p:nvSpPr>
          <p:cNvPr id="60" name="Text 58"/>
          <p:cNvSpPr txBox="1"/>
          <p:nvPr/>
        </p:nvSpPr>
        <p:spPr>
          <a:xfrm>
            <a:off x="8138160" y="4974336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劳动纠纷</a:t>
            </a:r>
            <a:endParaRPr lang="en-US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8138160" y="530352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劳动仲裁 4 条，当被告的劳动官司 0 条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资料截至 2026-10-02；只列查到的事，没查到不代表没发生。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带着问题去签约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该问对方的 4 个问题，和一页结论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监管点名的事项，处理完了吗？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305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怎么核：点开原文链接，看处罚或通报的内容和日期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523744"/>
            <a:ext cx="5943600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700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 offer 的、签劳动合同的、交社保的，是不是同一家？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44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怎么核：入职后在社保 App 里看缴费单位名称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438144"/>
            <a:ext cx="5943600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84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入职前要不要交任何费用？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59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怎么核：正规单位不收；被要求交钱可向人社部门举报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4352544"/>
            <a:ext cx="5943600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98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试用期多长、工资多少，写进劳动合同了吗？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73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怎么核：看合同原文；试用期上限见《劳动合同法》第十九条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440680"/>
            <a:ext cx="6537960" cy="640080"/>
          </a:xfrm>
          <a:prstGeom prst="roundRect">
            <a:avLst>
              <a:gd name="adj" fmla="val 11429"/>
            </a:avLst>
          </a:prstGeom>
          <a:solidFill>
            <a:srgbClr val="EDE5D5"/>
          </a:solidFill>
          <a:ln w="9525">
            <a:solidFill>
              <a:srgbClr val="EDE5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577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 offer 或劳动合同？</a:t>
            </a:r>
            <a:pPr indent="0" marL="0">
              <a:buNone/>
            </a:pPr>
            <a:r>
              <a:rPr lang="en-US" sz="13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补进同一个案卷，出新版本，标出哪里变了、为什么。</a:t>
            </a:r>
            <a:endParaRPr lang="en-US" sz="1300" dirty="0"/>
          </a:p>
        </p:txBody>
      </p:sp>
      <p:pic>
        <p:nvPicPr>
          <p:cNvPr id="22" name="Image 0" descr="杭州银行案卷的一页结论打印预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478" y="1463040"/>
            <a:ext cx="3613417" cy="45262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23" name="Shape 20"/>
          <p:cNvSpPr/>
          <p:nvPr/>
        </p:nvSpPr>
        <p:spPr>
          <a:xfrm>
            <a:off x="8636203" y="6062472"/>
            <a:ext cx="2869692" cy="237744"/>
          </a:xfrm>
          <a:prstGeom prst="roundRect">
            <a:avLst>
              <a:gd name="adj" fmla="val 23077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36203" y="6062472"/>
            <a:ext cx="28696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 · 一页结论，可切换给家人 / 给网点柜员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追问与出处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看不懂就问，每句回答都能点开原文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110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选中报告里的一条，问小企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回答只依据这份案卷查到的记录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1455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关键事实带出处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来源、采集时间、数据截至日一起保留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37997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程序校验每条引用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找不到依据的表述会被删掉，并注明“已省略”</a:t>
            </a:r>
            <a:endParaRPr lang="en-US" sz="1400" dirty="0"/>
          </a:p>
        </p:txBody>
      </p:sp>
      <p:pic>
        <p:nvPicPr>
          <p:cNvPr id="14" name="Image 0" descr="杭州银行案卷的原文出处弹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777" y="1691640"/>
            <a:ext cx="3453118" cy="4069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8104327" y="5897880"/>
            <a:ext cx="3401568" cy="27432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A2753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4327" y="58978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 · 杭州银行（真实公司）· 联网查询 · 已接模型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结论来自记录和规则，AI 只负责读材料、说人话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汇集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公开记录 + 用户材料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持牌名单、工商年报、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财报、司法舆情；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招聘公告、合同、截图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00018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19050">
            <a:solidFill>
              <a:srgbClr val="D8B5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8618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规则核验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8618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对照 · 判定 · 比版本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728618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固定规则，每条写明法规出处；同样的输入，同样的结论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0610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14237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2837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AI 解读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42837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识需求 · 读材料 · 答追问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42837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识别场景，读图片和合同，把结果翻译成人话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64829" y="3314700"/>
            <a:ext cx="290474" cy="0"/>
          </a:xfrm>
          <a:prstGeom prst="line">
            <a:avLst/>
          </a:prstGeom>
          <a:noFill/>
          <a:ln w="15875">
            <a:solidFill>
              <a:srgbClr val="D8B57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28455" y="192024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23364A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7055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引用校验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57055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每句回到原文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57055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引用不到原文的表述，删掉并注明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285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5257800"/>
            <a:ext cx="10546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71600" y="5257800"/>
            <a:ext cx="105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不打安全分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90800" y="5257800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90800" y="5257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没查到不等于没问题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19600" y="5257800"/>
            <a:ext cx="31882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19600" y="5257800"/>
            <a:ext cx="318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“查了没有”“没查”“查询失败”分开写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5257800"/>
            <a:ext cx="1359408" cy="329184"/>
          </a:xfrm>
          <a:prstGeom prst="roundRect">
            <a:avLst>
              <a:gd name="adj" fmla="val 1666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5257800"/>
            <a:ext cx="135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不替用户做决定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同一套方法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换一个需求，换一个第一问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192A3D"/>
          </a:solidFill>
          <a:ln w="9525">
            <a:solidFill>
              <a:srgbClr val="192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87452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求职入职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85160" y="1892808"/>
            <a:ext cx="895858" cy="237744"/>
          </a:xfrm>
          <a:prstGeom prst="roundRect">
            <a:avLst>
              <a:gd name="adj" fmla="val 23077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5160" y="1892808"/>
            <a:ext cx="895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今天的示例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28600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第一问：发 offer 的和交社保的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3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是不是同一家；有没有让你先交钱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9992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交出去的：时间和信任，有时还有押金、培训费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3938" y="169164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9970" y="187452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存钱 / 理财 / 投资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9970" y="228600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第一问：它有没有资格收这笔钱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39970" y="29992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交出去的：储蓄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2077" y="169164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8109" y="187452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合作签约 / 付款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8109" y="228600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第一问：签约方、收款方、干活的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是不是同一家，有没有所需资质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8109" y="29992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交出去的：货款、定金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61188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379476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预付消费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420624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第一问：收钱的是不是跟你签约、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给你服务的那家公司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491947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交出去的：预付款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3938" y="361188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39970" y="379476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接手 / 入股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639970" y="420624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第一问：股权干不干净（出质、冻结）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有没有对外担保和欠税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39970" y="491947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交出去的：资金和经营责任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82077" y="361188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8109" y="3794760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其他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38109" y="4206240"/>
            <a:ext cx="2911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第一问：它是不是它说的那家公司，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记录和说法对不对得上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38109" y="491947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交出去的：钱或信任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6235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对杭州银行：</a:t>
            </a:r>
            <a:pPr indent="0" marL="0">
              <a:buNone/>
            </a:pPr>
            <a:r>
              <a:rPr lang="en-US" sz="14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网点劝阻客户、手机银行转账前“透视收款方”、校招与对公客户尽调，用的都是同一份案卷。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落地场景为设想，待与杭州银行业务方共同验证。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把钱或信任交出去之前，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先把依据看清楚。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企er · 有出处的企业研究助手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8B57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qier.asia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532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A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现场可试：输入任意公司全称，再加一句需求。</a:t>
            </a:r>
            <a:endParaRPr lang="en-US" sz="1400" dirty="0"/>
          </a:p>
        </p:txBody>
      </p:sp>
      <p:pic>
        <p:nvPicPr>
          <p:cNvPr id="7" name="Image 0" descr="小企在办公室阅读报告的插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822960"/>
            <a:ext cx="4416552" cy="52486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答辩备用 · 问题公司长什么样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同一把尺子：问题公司和杭州银行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92A3D"/>
          </a:solidFill>
          <a:ln w="9525">
            <a:solidFill>
              <a:srgbClr val="192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杭州满盈禾康养健康咨询有限公司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6832" y="1883664"/>
            <a:ext cx="1552448" cy="256032"/>
          </a:xfrm>
          <a:prstGeom prst="roundRect">
            <a:avLst>
              <a:gd name="adj" fmla="val 21429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6832" y="1883664"/>
            <a:ext cx="15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 · 存 20 万理财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4677" y="3595878"/>
            <a:ext cx="500046" cy="475572"/>
          </a:xfrm>
          <a:custGeom>
            <a:avLst/>
            <a:gdLst/>
            <a:ahLst/>
            <a:cxnLst/>
            <a:rect l="l" t="t" r="r" b="b"/>
            <a:pathLst>
              <a:path w="500046" h="475572">
                <a:moveTo>
                  <a:pt x="250023" y="0"/>
                </a:moveTo>
                <a:lnTo>
                  <a:pt x="500046" y="181653"/>
                </a:lnTo>
                <a:lnTo>
                  <a:pt x="404546" y="475572"/>
                </a:lnTo>
                <a:lnTo>
                  <a:pt x="95500" y="475572"/>
                </a:lnTo>
                <a:lnTo>
                  <a:pt x="0" y="181653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4654" y="3332988"/>
            <a:ext cx="1000093" cy="951145"/>
          </a:xfrm>
          <a:custGeom>
            <a:avLst/>
            <a:gdLst/>
            <a:ahLst/>
            <a:cxnLst/>
            <a:rect l="l" t="t" r="r" b="b"/>
            <a:pathLst>
              <a:path w="1000093" h="951145">
                <a:moveTo>
                  <a:pt x="500046" y="0"/>
                </a:moveTo>
                <a:lnTo>
                  <a:pt x="1000093" y="363305"/>
                </a:lnTo>
                <a:lnTo>
                  <a:pt x="809092" y="951145"/>
                </a:lnTo>
                <a:lnTo>
                  <a:pt x="191001" y="951145"/>
                </a:lnTo>
                <a:lnTo>
                  <a:pt x="0" y="363305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4630" y="3070098"/>
            <a:ext cx="1500139" cy="1426717"/>
          </a:xfrm>
          <a:custGeom>
            <a:avLst/>
            <a:gdLst/>
            <a:ahLst/>
            <a:cxnLst/>
            <a:rect l="l" t="t" r="r" b="b"/>
            <a:pathLst>
              <a:path w="1500139" h="1426717">
                <a:moveTo>
                  <a:pt x="750070" y="0"/>
                </a:moveTo>
                <a:lnTo>
                  <a:pt x="1500139" y="544958"/>
                </a:lnTo>
                <a:lnTo>
                  <a:pt x="1213638" y="1426717"/>
                </a:lnTo>
                <a:lnTo>
                  <a:pt x="286501" y="1426717"/>
                </a:lnTo>
                <a:lnTo>
                  <a:pt x="0" y="544958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14607" y="2807208"/>
            <a:ext cx="2000186" cy="1902290"/>
          </a:xfrm>
          <a:custGeom>
            <a:avLst/>
            <a:gdLst/>
            <a:ahLst/>
            <a:cxnLst/>
            <a:rect l="l" t="t" r="r" b="b"/>
            <a:pathLst>
              <a:path w="2000186" h="1902290">
                <a:moveTo>
                  <a:pt x="1000093" y="0"/>
                </a:moveTo>
                <a:lnTo>
                  <a:pt x="2000186" y="726610"/>
                </a:lnTo>
                <a:lnTo>
                  <a:pt x="1618184" y="1902290"/>
                </a:lnTo>
                <a:lnTo>
                  <a:pt x="382002" y="1902290"/>
                </a:lnTo>
                <a:lnTo>
                  <a:pt x="0" y="726610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2807208"/>
            <a:ext cx="9144" cy="1051560"/>
          </a:xfrm>
          <a:custGeom>
            <a:avLst/>
            <a:gdLst/>
            <a:ahLst/>
            <a:cxnLst/>
            <a:rect l="l" t="t" r="r" b="b"/>
            <a:pathLst>
              <a:path w="9144" h="1051560">
                <a:moveTo>
                  <a:pt x="0" y="105156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0" y="324950"/>
                </a:moveTo>
                <a:lnTo>
                  <a:pt x="1000093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4700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0" y="0"/>
                </a:moveTo>
                <a:lnTo>
                  <a:pt x="618091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6609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618091" y="0"/>
                </a:moveTo>
                <a:lnTo>
                  <a:pt x="0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4607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1000093" y="32495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6183" y="3492315"/>
            <a:ext cx="697035" cy="662919"/>
          </a:xfrm>
          <a:custGeom>
            <a:avLst/>
            <a:gdLst/>
            <a:ahLst/>
            <a:cxnLst/>
            <a:rect l="l" t="t" r="r" b="b"/>
            <a:pathLst>
              <a:path w="697035" h="662919">
                <a:moveTo>
                  <a:pt x="348517" y="0"/>
                </a:moveTo>
                <a:lnTo>
                  <a:pt x="697035" y="253213"/>
                </a:lnTo>
                <a:lnTo>
                  <a:pt x="563913" y="662919"/>
                </a:lnTo>
                <a:lnTo>
                  <a:pt x="133122" y="662919"/>
                </a:lnTo>
                <a:lnTo>
                  <a:pt x="0" y="253213"/>
                </a:lnTo>
                <a:close/>
              </a:path>
            </a:pathLst>
          </a:custGeom>
          <a:solidFill>
            <a:srgbClr val="D8B574">
              <a:alpha val="20000"/>
            </a:srgbClr>
          </a:solidFill>
          <a:ln w="19050">
            <a:solidFill>
              <a:srgbClr val="DFB4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3451167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0" name="Shape 18"/>
          <p:cNvSpPr/>
          <p:nvPr/>
        </p:nvSpPr>
        <p:spPr>
          <a:xfrm>
            <a:off x="3622069" y="370438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1" name="Shape 19"/>
          <p:cNvSpPr/>
          <p:nvPr/>
        </p:nvSpPr>
        <p:spPr>
          <a:xfrm>
            <a:off x="3488948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2" name="Shape 20"/>
          <p:cNvSpPr/>
          <p:nvPr/>
        </p:nvSpPr>
        <p:spPr>
          <a:xfrm>
            <a:off x="3058156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5035" y="370438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28900" y="2240737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经营资格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628900" y="2487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024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59024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450962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资金面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450962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06838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风险稳定性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806838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98776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消息面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298776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6875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五维都有异常记录：没有资格、实缴 0 元、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 股权出质、虚假广告被罚、投诉集中在到期不兑付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8095" y="16459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92A3D"/>
          </a:solidFill>
          <a:ln w="9525">
            <a:solidFill>
              <a:srgbClr val="192A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22415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CD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杭州银行股份有限公司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963607" y="1883664"/>
            <a:ext cx="1267968" cy="256032"/>
          </a:xfrm>
          <a:prstGeom prst="roundRect">
            <a:avLst>
              <a:gd name="adj" fmla="val 21429"/>
            </a:avLst>
          </a:prstGeom>
          <a:solidFill>
            <a:srgbClr val="23364A"/>
          </a:solidFill>
          <a:ln w="9525">
            <a:solidFill>
              <a:srgbClr val="D8B57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63607" y="1883664"/>
            <a:ext cx="1267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· 求职入职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26972" y="3595878"/>
            <a:ext cx="500046" cy="475572"/>
          </a:xfrm>
          <a:custGeom>
            <a:avLst/>
            <a:gdLst/>
            <a:ahLst/>
            <a:cxnLst/>
            <a:rect l="l" t="t" r="r" b="b"/>
            <a:pathLst>
              <a:path w="500046" h="475572">
                <a:moveTo>
                  <a:pt x="250023" y="0"/>
                </a:moveTo>
                <a:lnTo>
                  <a:pt x="500046" y="181653"/>
                </a:lnTo>
                <a:lnTo>
                  <a:pt x="404546" y="475572"/>
                </a:lnTo>
                <a:lnTo>
                  <a:pt x="95500" y="475572"/>
                </a:lnTo>
                <a:lnTo>
                  <a:pt x="0" y="181653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6949" y="3332988"/>
            <a:ext cx="1000093" cy="951145"/>
          </a:xfrm>
          <a:custGeom>
            <a:avLst/>
            <a:gdLst/>
            <a:ahLst/>
            <a:cxnLst/>
            <a:rect l="l" t="t" r="r" b="b"/>
            <a:pathLst>
              <a:path w="1000093" h="951145">
                <a:moveTo>
                  <a:pt x="500046" y="0"/>
                </a:moveTo>
                <a:lnTo>
                  <a:pt x="1000093" y="363305"/>
                </a:lnTo>
                <a:lnTo>
                  <a:pt x="809092" y="951145"/>
                </a:lnTo>
                <a:lnTo>
                  <a:pt x="191001" y="951145"/>
                </a:lnTo>
                <a:lnTo>
                  <a:pt x="0" y="363305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26925" y="3070098"/>
            <a:ext cx="1500139" cy="1426717"/>
          </a:xfrm>
          <a:custGeom>
            <a:avLst/>
            <a:gdLst/>
            <a:ahLst/>
            <a:cxnLst/>
            <a:rect l="l" t="t" r="r" b="b"/>
            <a:pathLst>
              <a:path w="1500139" h="1426717">
                <a:moveTo>
                  <a:pt x="750070" y="0"/>
                </a:moveTo>
                <a:lnTo>
                  <a:pt x="1500139" y="544958"/>
                </a:lnTo>
                <a:lnTo>
                  <a:pt x="1213638" y="1426717"/>
                </a:lnTo>
                <a:lnTo>
                  <a:pt x="286501" y="1426717"/>
                </a:lnTo>
                <a:lnTo>
                  <a:pt x="0" y="544958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76902" y="2807208"/>
            <a:ext cx="2000186" cy="1902290"/>
          </a:xfrm>
          <a:custGeom>
            <a:avLst/>
            <a:gdLst/>
            <a:ahLst/>
            <a:cxnLst/>
            <a:rect l="l" t="t" r="r" b="b"/>
            <a:pathLst>
              <a:path w="2000186" h="1902290">
                <a:moveTo>
                  <a:pt x="1000093" y="0"/>
                </a:moveTo>
                <a:lnTo>
                  <a:pt x="2000186" y="726610"/>
                </a:lnTo>
                <a:lnTo>
                  <a:pt x="1618184" y="1902290"/>
                </a:lnTo>
                <a:lnTo>
                  <a:pt x="382002" y="1902290"/>
                </a:lnTo>
                <a:lnTo>
                  <a:pt x="0" y="726610"/>
                </a:lnTo>
                <a:close/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76995" y="2807208"/>
            <a:ext cx="9144" cy="1051560"/>
          </a:xfrm>
          <a:custGeom>
            <a:avLst/>
            <a:gdLst/>
            <a:ahLst/>
            <a:cxnLst/>
            <a:rect l="l" t="t" r="r" b="b"/>
            <a:pathLst>
              <a:path w="9144" h="1051560">
                <a:moveTo>
                  <a:pt x="0" y="105156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76995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0" y="324950"/>
                </a:moveTo>
                <a:lnTo>
                  <a:pt x="1000093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76995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0" y="0"/>
                </a:moveTo>
                <a:lnTo>
                  <a:pt x="618091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8904" y="3858768"/>
            <a:ext cx="618091" cy="850730"/>
          </a:xfrm>
          <a:custGeom>
            <a:avLst/>
            <a:gdLst/>
            <a:ahLst/>
            <a:cxnLst/>
            <a:rect l="l" t="t" r="r" b="b"/>
            <a:pathLst>
              <a:path w="618091" h="850730">
                <a:moveTo>
                  <a:pt x="618091" y="0"/>
                </a:moveTo>
                <a:lnTo>
                  <a:pt x="0" y="85073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76902" y="3533818"/>
            <a:ext cx="1000093" cy="324950"/>
          </a:xfrm>
          <a:custGeom>
            <a:avLst/>
            <a:gdLst/>
            <a:ahLst/>
            <a:cxnLst/>
            <a:rect l="l" t="t" r="r" b="b"/>
            <a:pathLst>
              <a:path w="1000093" h="324950">
                <a:moveTo>
                  <a:pt x="1000093" y="324950"/>
                </a:moveTo>
                <a:lnTo>
                  <a:pt x="0" y="0"/>
                </a:lnTo>
              </a:path>
            </a:pathLst>
          </a:custGeom>
          <a:ln w="7620">
            <a:solidFill>
              <a:srgbClr val="6E64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86031" y="2942636"/>
            <a:ext cx="1462257" cy="1657298"/>
          </a:xfrm>
          <a:custGeom>
            <a:avLst/>
            <a:gdLst/>
            <a:ahLst/>
            <a:cxnLst/>
            <a:rect l="l" t="t" r="r" b="b"/>
            <a:pathLst>
              <a:path w="1462257" h="1657298">
                <a:moveTo>
                  <a:pt x="590964" y="0"/>
                </a:moveTo>
                <a:lnTo>
                  <a:pt x="1462257" y="633032"/>
                </a:lnTo>
                <a:lnTo>
                  <a:pt x="1129453" y="1657298"/>
                </a:lnTo>
                <a:lnTo>
                  <a:pt x="375569" y="1212598"/>
                </a:lnTo>
                <a:lnTo>
                  <a:pt x="0" y="724116"/>
                </a:lnTo>
                <a:close/>
              </a:path>
            </a:pathLst>
          </a:custGeom>
          <a:solidFill>
            <a:srgbClr val="D8B574">
              <a:alpha val="20000"/>
            </a:srgbClr>
          </a:solidFill>
          <a:ln w="19050">
            <a:solidFill>
              <a:srgbClr val="DFB47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35847" y="2901488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0" name="Shape 48"/>
          <p:cNvSpPr/>
          <p:nvPr/>
        </p:nvSpPr>
        <p:spPr>
          <a:xfrm>
            <a:off x="9707140" y="3534520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1" name="Shape 49"/>
          <p:cNvSpPr/>
          <p:nvPr/>
        </p:nvSpPr>
        <p:spPr>
          <a:xfrm>
            <a:off x="9374336" y="45587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2" name="Shape 50"/>
          <p:cNvSpPr/>
          <p:nvPr/>
        </p:nvSpPr>
        <p:spPr>
          <a:xfrm>
            <a:off x="8620452" y="4114086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3" name="Shape 51"/>
          <p:cNvSpPr/>
          <p:nvPr/>
        </p:nvSpPr>
        <p:spPr>
          <a:xfrm>
            <a:off x="8244883" y="3625604"/>
            <a:ext cx="82296" cy="82296"/>
          </a:xfrm>
          <a:prstGeom prst="ellipse">
            <a:avLst/>
          </a:prstGeom>
          <a:solidFill>
            <a:srgbClr val="F1CD9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191195" y="2240737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经营资格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191195" y="248762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521319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521319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013257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资金面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9013257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未见异常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69134" y="477078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风险稳定性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7369134" y="50176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9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有异常记录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861072" y="32071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消息面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6861072" y="345401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有待关注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248095" y="56875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资格、基本面、资金面未见异常；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行政处罚让风险稳定性往里收，消息面待关注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85800" y="6382512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定性示意，不设评分：每一维取查过的记录里最需关注的一项，越往里越需要留意；位置不表示问题数量。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答辩备用 · 补充材料（虚构示例）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有了新材料，判断跟着更新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首次分析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新材料：宣传单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保本保息 · 年化 9%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国资背景 · 银行存管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注册资本 5000 万 · 30 家门店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条不符或不合规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809744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884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条有误导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5193792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184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884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515721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条无法核验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057400"/>
            <a:ext cx="344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95064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9384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v2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492344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对方回复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69384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新材料：业务员的微信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9384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6544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“钱转到我们财务的个人账户就行”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“到期前急用也没事，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随时可以取出来。”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9384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9384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29" name="Text 27"/>
          <p:cNvSpPr txBox="1"/>
          <p:nvPr/>
        </p:nvSpPr>
        <p:spPr>
          <a:xfrm>
            <a:off x="5016856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新疑点：收款人是个人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9384" y="4809744"/>
            <a:ext cx="237744" cy="237744"/>
          </a:xfrm>
          <a:prstGeom prst="ellipse">
            <a:avLst/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9384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884" dirty="0"/>
          </a:p>
        </p:txBody>
      </p:sp>
      <p:sp>
        <p:nvSpPr>
          <p:cNvPr id="32" name="Text 30"/>
          <p:cNvSpPr txBox="1"/>
          <p:nvPr/>
        </p:nvSpPr>
        <p:spPr>
          <a:xfrm>
            <a:off x="5016856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新增：“随时可取”无法核验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778344" y="2057400"/>
            <a:ext cx="344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04327" y="1783080"/>
            <a:ext cx="3401568" cy="3886200"/>
          </a:xfrm>
          <a:prstGeom prst="roundRect">
            <a:avLst>
              <a:gd name="adj" fmla="val 2151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78647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v3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9201607" y="211226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补充材料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378647" y="2697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新材料：认购协议节选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78647" y="3017520"/>
            <a:ext cx="2852928" cy="1143000"/>
          </a:xfrm>
          <a:prstGeom prst="rect">
            <a:avLst/>
          </a:prstGeom>
          <a:solidFill>
            <a:srgbClr val="EDE5D5"/>
          </a:solidFill>
          <a:ln w="12700">
            <a:solidFill>
              <a:srgbClr val="EDE5D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15807" y="310896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“第五条 认购期限为 12 个月，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2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期间为封闭期，不得提前赎回。”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78647" y="4425696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78647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42" name="Text 40"/>
          <p:cNvSpPr txBox="1"/>
          <p:nvPr/>
        </p:nvSpPr>
        <p:spPr>
          <a:xfrm>
            <a:off x="8726119" y="4389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“随时可取” → 与记录不符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378647" y="4809744"/>
            <a:ext cx="237744" cy="237744"/>
          </a:xfrm>
          <a:prstGeom prst="ellipse">
            <a:avLst/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78647" y="4800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884" dirty="0"/>
          </a:p>
        </p:txBody>
      </p:sp>
      <p:sp>
        <p:nvSpPr>
          <p:cNvPr id="45" name="Text 43"/>
          <p:cNvSpPr txBox="1"/>
          <p:nvPr/>
        </p:nvSpPr>
        <p:spPr>
          <a:xfrm>
            <a:off x="8726119" y="47731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提前退出扣本金 20%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误传一张小区停水通知？</a:t>
            </a:r>
            <a:pPr indent="0" marL="0">
              <a:buNone/>
            </a:pPr>
            <a:r>
              <a:rPr lang="en-US" sz="135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v4 判断不变：35 项都和上一版一样。旧版本和旧回答的出处都保留，随时回看。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572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38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75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答辩备用 · 资料覆盖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498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2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查询状态分开写，没查到不当成正常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568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F7A62"/>
          </a:solidFill>
          <a:ln w="12700">
            <a:solidFill>
              <a:srgbClr val="4F7A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查到了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这个来源里有匹配记录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254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A8478"/>
          </a:solidFill>
          <a:ln w="12700">
            <a:solidFill>
              <a:srgbClr val="8A84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25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查了没有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本次查询范围内没有匹配记录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9417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67F24"/>
          </a:solidFill>
          <a:ln w="12700">
            <a:solidFill>
              <a:srgbClr val="B67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数据源没覆盖，或本次没执行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9525">
            <a:solidFill>
              <a:srgbClr val="DCD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6285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0432E"/>
          </a:solidFill>
          <a:ln w="12700">
            <a:solidFill>
              <a:srgbClr val="B043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查询失败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请求没有成功，会提示重试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178308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275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边界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33172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不打安全分，不作法律定性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83464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297180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每条资料写明采集时间和数据截至日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0" y="347472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361188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公开记录有覆盖与时间边界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55280" y="411480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425196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最终决定由人作出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55280" y="4754880"/>
            <a:ext cx="3550615" cy="0"/>
          </a:xfrm>
          <a:prstGeom prst="line">
            <a:avLst/>
          </a:prstGeom>
          <a:noFill/>
          <a:ln w="9525">
            <a:solidFill>
              <a:srgbClr val="DCD2C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企er · 有出处的企业研究助手</dc:title>
  <dc:subject>PptxGenJS Presentation</dc:subject>
  <dc:creator>企er 团队</dc:creator>
  <cp:lastModifiedBy>企er 团队</cp:lastModifiedBy>
  <cp:revision>1</cp:revision>
  <dcterms:created xsi:type="dcterms:W3CDTF">2026-10-03T05:36:09Z</dcterms:created>
  <dcterms:modified xsi:type="dcterms:W3CDTF">2026-10-03T05:36:09Z</dcterms:modified>
</cp:coreProperties>
</file>