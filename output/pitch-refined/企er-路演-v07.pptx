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大家好，我们做的是企 er，一个有出处的企业研究助手。把钱或信任交给一家公司之前，它帮普通人把依据看清楚。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先看一个场景。一位用户输入：我妈想在这家公司存 20 万理财，最怕急用时取不出来。她手里只有一张宣传单：保本保息、年化 9%、国资背景、银行存管、30 家门店。赛题问的就是这件事：你凭什么判断它靠得住？说明一下，这家公司是我们虚构的演示案例，但后面用来对照的持牌名单、私募公示都是真实的公开数据。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查一家公司不难，企查查、公示系统都能查到一大串字段。但普通人真正要问的只有三件事：它有资格收这笔钱吗？它说的和记录对得上吗？急用时钱拿得回来吗？从一串字段走到这三个答案，中间的核对工作没人替她做。企 er 不打分，而是把每个说法和官方记录逐条对照，给出能点开出处的判断。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入口很简单：输入公司全称，再说一句你要做什么。小企先读懂需求，比如这里识别为存钱理财、20 万、替妈妈看；然后把持牌名单、私募公示、工商年报、司法和舆情，还有用户自己的材料，汇到同一个案卷里。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打开，第一眼是企业五维轮廓：经营资格、基本面、资金面、风险稳定性、消息面。它不打分，每一维只取查过的记录里最需要留意的一项，越往里越要当心。左边是虚构的满盈禾，五维都有异常记录，整个缩成一圈；右边是真实的杭州银行，资格、基本面、资金面都未见异常，只有行政处罚和负面新闻让两维往里收。两家公司差在哪，一眼就能看个大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报告打开，先回答第一问：它有资格收这笔钱吗？答案是有问题。我们查了银行、保险、期货、支付 4 份持牌名单，还有中基协 18,396 家私募管理人，都没有它；它的经营范围里也没有任何金融业务。每一条右边都标着出处，点开就是原始记录。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接着把宣传单上的每个说法拿来对照。保本保息、年化 9%：资管新规不允许承诺保本，9% 是一年期定存的 8.2 倍。国资背景：两个股东都是自然人。注册资本 5000 万：实际交了 0 元。30 家门店：登记的分支机构 0 家，年报里只有 4 个人参保。这些判定由固定规则给出，不是 AI 拍脑袋。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看不懂，可以选中一条直接问小企。回答只依据这份案卷，关键事实都带出处。右边是真实公司杭州银行、联网查询、接了模型时的出处弹窗：来源、采集时间、数据截至日都在。程序还会校验每条引用，找不到依据的表述直接删掉并注明已省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判断不是一次就结束的。对方业务员回微信说：钱转到财务的个人账户，急用随时可以取。补进来，v2 马上标出新疑点：收款人是个人。再补一份认购协议，写着 12 个月封闭期、不得提前赎回，v3 就把“随时可取”从无法核验改成与记录不符。如果误传了一张停水通知，判断不会乱动。每个版本和旧回答的出处都保留。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方法上我们做了一个关键切分：结论来自记录和规则，AI 只负责读材料、说人话。规则对照记录、给出判定、比较版本，同样的输入永远是同样的结论；AI 负责识别需求、读图片和合同、回答追问；最后程序再校验每条引用。我们也守几条底线：不打安全分，没查到不等于没问题，不替用户做决定。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的结果最后要能拿去用。产品能生成两种一页结论：家人版，一起看依据、明确还缺什么；柜员版的网点提示单，列出对不上的地方和建议客户先核实的三件事。我们设想的落地场景是：老人大额取现说要去投资，柜员查一下，拿着提示单劝阻，有依据，不只靠嘴说。防范非法集资本来就是银行的日常工作，这些还需要和杭州银行一起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 er 把一次查询，变成一份能追问、能补充、能回看的研究案卷。把钱或信任交出去之前，先把依据看清楚。网址是 qier.asia，现场就可以输入任意公司试一试。谢谢大家。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答辩备用。真实公司实时联网也能跑：杭州银行，求职场景，60 条来源记录，接了模型。报告按求职需求排重点，比如签约主体、用工信息，同时列出还没覆盖的资料。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答辩备用。每个来源的状态分四种：查到了、查了没有、没查、查询失败，分开展示，避免把没获取到记录误读成正常。产品不打安全分，不作法律定性，最终决定由人作出。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回响 48H 黑客松  ·  杭州银行「X-Ray 透视·真相」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企er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154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有出处的企业研究助手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把钱或信任交给一家公司之前，先把依据看清楚。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4754880"/>
            <a:ext cx="2483104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54880"/>
            <a:ext cx="248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每条结论都能点开原始记录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qier.asia</a:t>
            </a:r>
            <a:endParaRPr lang="en-US" sz="1500" dirty="0"/>
          </a:p>
        </p:txBody>
      </p:sp>
      <p:pic>
        <p:nvPicPr>
          <p:cNvPr id="9" name="Image 0" descr="小企拿放大镜的插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914400"/>
            <a:ext cx="537667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从一句话开始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“我妈想在这家公司存 20 万理财，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最怕急用时取不出来。”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她手里只有一张宣传单。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她该信吗？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572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赛题原话：家人要把储蓄交给一家公司，你凭什么判断它靠得住？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914400"/>
            <a:ext cx="3867912" cy="5212080"/>
          </a:xfrm>
          <a:prstGeom prst="roundRect">
            <a:avLst>
              <a:gd name="adj" fmla="val 946"/>
            </a:avLst>
          </a:prstGeom>
          <a:solidFill>
            <a:srgbClr val="FFFFFF"/>
          </a:solidFill>
          <a:ln w="9525">
            <a:solidFill>
              <a:srgbClr val="DCD2C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35240" y="914400"/>
            <a:ext cx="3867912" cy="1143000"/>
          </a:xfrm>
          <a:prstGeom prst="rect">
            <a:avLst/>
          </a:prstGeom>
          <a:solidFill>
            <a:srgbClr val="7A2E22"/>
          </a:solidFill>
          <a:ln w="12700">
            <a:solidFill>
              <a:srgbClr val="7A2E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14300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E7C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满盈禾 康养·财富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57276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颐养天年 财富无忧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28600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2E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保本保息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74320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23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年化 9%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61188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正规理财 · 安全稳健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97764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国资背景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34340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某大型银行 资金存管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0916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注册资本 5000 万 · 实力雄厚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507492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3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 30 家门店 · 10 万会员的信赖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553212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3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名额有限 · 先到先得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35240" y="530352"/>
            <a:ext cx="1181608" cy="274320"/>
          </a:xfrm>
          <a:prstGeom prst="roundRect">
            <a:avLst>
              <a:gd name="adj" fmla="val 20000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530352"/>
            <a:ext cx="118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宣传单（虚构）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演示案例：杭州满盈禾康养健康咨询有限公司为虚构公司，资料为预制快照；持牌名单、私募公示为真实公开数据。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为什么需要企er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查得到，不等于看得懂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查询工具给你的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EFE9DD"/>
          </a:solidFill>
          <a:ln w="9525">
            <a:solidFill>
              <a:srgbClr val="E2D9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统一社会信用代码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3591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91330106MA2H******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成立日期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7249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2025-02-18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注册资本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090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 万元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经营范围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4564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健康管理咨询；养老服务；日用百货……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22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8221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张某明 70%，李某华 30%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股权出质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187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553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行政处罚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553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19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参保人数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 还有几十项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她真正要问的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304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3591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它有资格收这笔钱吗？</a:t>
            </a:r>
            <a:endParaRPr lang="en-US" sz="2500" dirty="0"/>
          </a:p>
        </p:txBody>
      </p:sp>
      <p:sp>
        <p:nvSpPr>
          <p:cNvPr id="27" name="Shape 25"/>
          <p:cNvSpPr/>
          <p:nvPr/>
        </p:nvSpPr>
        <p:spPr>
          <a:xfrm>
            <a:off x="6263640" y="3200400"/>
            <a:ext cx="5239512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447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5021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它说的，和记录对得上吗？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6263640" y="4343400"/>
            <a:ext cx="5239512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590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6451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急用时，钱拿得回来吗？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8978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企er 不打分，</a:t>
            </a:r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把每个说法和官方记录逐条对照，给出能点开出处的判断。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产品入口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输入公司全称，再说一句你要做什么</a:t>
            </a:r>
            <a:endParaRPr lang="en-US" sz="3200" dirty="0"/>
          </a:p>
        </p:txBody>
      </p:sp>
      <p:pic>
        <p:nvPicPr>
          <p:cNvPr id="5" name="Image 0" descr="企er 首页：公司名称与研究需求输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7040880" cy="290865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18388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78308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读懂需求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167128"/>
            <a:ext cx="2819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识别为：存钱理财、20 万、替妈妈看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需求决定先查什么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78892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汇集记录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3172968"/>
            <a:ext cx="2819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持牌名单、私募公示、工商年报、司法舆情、用户材料，收进一个案卷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79476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交出报告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178808"/>
            <a:ext cx="2819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按需求排好重点，每条结论都带出处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" y="5074920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5330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463040" y="5303520"/>
            <a:ext cx="14102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63040" y="5303520"/>
            <a:ext cx="141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金融监管持牌名单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10408" y="5303520"/>
            <a:ext cx="12705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0408" y="5303520"/>
            <a:ext cx="1270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中基协私募公示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18076" y="5303520"/>
            <a:ext cx="14102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18076" y="5303520"/>
            <a:ext cx="141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企查查智能体数据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65444" y="5303520"/>
            <a:ext cx="11308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65444" y="5303520"/>
            <a:ext cx="113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巨潮资讯公告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33412" y="5303520"/>
            <a:ext cx="12705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33412" y="5303520"/>
            <a:ext cx="1270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监管与政府网站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41080" y="5303520"/>
            <a:ext cx="12705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5303520"/>
            <a:ext cx="1270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用户上传的材料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报告第一眼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先看个大概：企业五维轮廓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192A3D"/>
          </a:solidFill>
          <a:ln w="9525">
            <a:solidFill>
              <a:srgbClr val="192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杭州满盈禾康养健康咨询有限公司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6832" y="1883664"/>
            <a:ext cx="1552448" cy="256032"/>
          </a:xfrm>
          <a:prstGeom prst="roundRect">
            <a:avLst>
              <a:gd name="adj" fmla="val 21429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6832" y="1883664"/>
            <a:ext cx="155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 · 存 20 万理财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4677" y="3595878"/>
            <a:ext cx="500046" cy="475572"/>
          </a:xfrm>
          <a:custGeom>
            <a:avLst/>
            <a:gdLst/>
            <a:ahLst/>
            <a:cxnLst/>
            <a:rect l="l" t="t" r="r" b="b"/>
            <a:pathLst>
              <a:path w="500046" h="475572">
                <a:moveTo>
                  <a:pt x="250023" y="0"/>
                </a:moveTo>
                <a:lnTo>
                  <a:pt x="500046" y="181653"/>
                </a:lnTo>
                <a:lnTo>
                  <a:pt x="404546" y="475572"/>
                </a:lnTo>
                <a:lnTo>
                  <a:pt x="95500" y="475572"/>
                </a:lnTo>
                <a:lnTo>
                  <a:pt x="0" y="181653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4654" y="3332988"/>
            <a:ext cx="1000093" cy="951145"/>
          </a:xfrm>
          <a:custGeom>
            <a:avLst/>
            <a:gdLst/>
            <a:ahLst/>
            <a:cxnLst/>
            <a:rect l="l" t="t" r="r" b="b"/>
            <a:pathLst>
              <a:path w="1000093" h="951145">
                <a:moveTo>
                  <a:pt x="500046" y="0"/>
                </a:moveTo>
                <a:lnTo>
                  <a:pt x="1000093" y="363305"/>
                </a:lnTo>
                <a:lnTo>
                  <a:pt x="809092" y="951145"/>
                </a:lnTo>
                <a:lnTo>
                  <a:pt x="191001" y="951145"/>
                </a:lnTo>
                <a:lnTo>
                  <a:pt x="0" y="363305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4630" y="3070098"/>
            <a:ext cx="1500139" cy="1426717"/>
          </a:xfrm>
          <a:custGeom>
            <a:avLst/>
            <a:gdLst/>
            <a:ahLst/>
            <a:cxnLst/>
            <a:rect l="l" t="t" r="r" b="b"/>
            <a:pathLst>
              <a:path w="1500139" h="1426717">
                <a:moveTo>
                  <a:pt x="750070" y="0"/>
                </a:moveTo>
                <a:lnTo>
                  <a:pt x="1500139" y="544958"/>
                </a:lnTo>
                <a:lnTo>
                  <a:pt x="1213638" y="1426717"/>
                </a:lnTo>
                <a:lnTo>
                  <a:pt x="286501" y="1426717"/>
                </a:lnTo>
                <a:lnTo>
                  <a:pt x="0" y="544958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14607" y="2807208"/>
            <a:ext cx="2000186" cy="1902290"/>
          </a:xfrm>
          <a:custGeom>
            <a:avLst/>
            <a:gdLst/>
            <a:ahLst/>
            <a:cxnLst/>
            <a:rect l="l" t="t" r="r" b="b"/>
            <a:pathLst>
              <a:path w="2000186" h="1902290">
                <a:moveTo>
                  <a:pt x="1000093" y="0"/>
                </a:moveTo>
                <a:lnTo>
                  <a:pt x="2000186" y="726610"/>
                </a:lnTo>
                <a:lnTo>
                  <a:pt x="1618184" y="1902290"/>
                </a:lnTo>
                <a:lnTo>
                  <a:pt x="382002" y="1902290"/>
                </a:lnTo>
                <a:lnTo>
                  <a:pt x="0" y="726610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2807208"/>
            <a:ext cx="9144" cy="1051560"/>
          </a:xfrm>
          <a:custGeom>
            <a:avLst/>
            <a:gdLst/>
            <a:ahLst/>
            <a:cxnLst/>
            <a:rect l="l" t="t" r="r" b="b"/>
            <a:pathLst>
              <a:path w="9144" h="1051560">
                <a:moveTo>
                  <a:pt x="0" y="105156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0" y="324950"/>
                </a:moveTo>
                <a:lnTo>
                  <a:pt x="1000093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4700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0" y="0"/>
                </a:moveTo>
                <a:lnTo>
                  <a:pt x="618091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6609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618091" y="0"/>
                </a:moveTo>
                <a:lnTo>
                  <a:pt x="0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4607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1000093" y="32495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66183" y="3492315"/>
            <a:ext cx="697035" cy="662919"/>
          </a:xfrm>
          <a:custGeom>
            <a:avLst/>
            <a:gdLst/>
            <a:ahLst/>
            <a:cxnLst/>
            <a:rect l="l" t="t" r="r" b="b"/>
            <a:pathLst>
              <a:path w="697035" h="662919">
                <a:moveTo>
                  <a:pt x="348517" y="0"/>
                </a:moveTo>
                <a:lnTo>
                  <a:pt x="697035" y="253213"/>
                </a:lnTo>
                <a:lnTo>
                  <a:pt x="563913" y="662919"/>
                </a:lnTo>
                <a:lnTo>
                  <a:pt x="133122" y="662919"/>
                </a:lnTo>
                <a:lnTo>
                  <a:pt x="0" y="253213"/>
                </a:lnTo>
                <a:close/>
              </a:path>
            </a:pathLst>
          </a:custGeom>
          <a:solidFill>
            <a:srgbClr val="D8B574">
              <a:alpha val="20000"/>
            </a:srgbClr>
          </a:solidFill>
          <a:ln w="19050">
            <a:solidFill>
              <a:srgbClr val="DFB4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3451167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0" name="Shape 18"/>
          <p:cNvSpPr/>
          <p:nvPr/>
        </p:nvSpPr>
        <p:spPr>
          <a:xfrm>
            <a:off x="3622069" y="3704380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1" name="Shape 19"/>
          <p:cNvSpPr/>
          <p:nvPr/>
        </p:nvSpPr>
        <p:spPr>
          <a:xfrm>
            <a:off x="3488948" y="41140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2" name="Shape 20"/>
          <p:cNvSpPr/>
          <p:nvPr/>
        </p:nvSpPr>
        <p:spPr>
          <a:xfrm>
            <a:off x="3058156" y="41140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5035" y="3704380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28900" y="2240737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经营资格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628900" y="248762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024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基本面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959024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450962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资金面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450962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806838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风险稳定性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806838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298776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消息面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298776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68756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五维都有异常记录：没有资格、实缴 0 元、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 股权出质、虚假广告被罚、投诉集中在到期不兑付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8095" y="164592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192A3D"/>
          </a:solidFill>
          <a:ln w="9525">
            <a:solidFill>
              <a:srgbClr val="192A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22415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杭州银行股份有限公司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963607" y="1883664"/>
            <a:ext cx="1267968" cy="256032"/>
          </a:xfrm>
          <a:prstGeom prst="roundRect">
            <a:avLst>
              <a:gd name="adj" fmla="val 21429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63607" y="1883664"/>
            <a:ext cx="1267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· 求职入职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26972" y="3595878"/>
            <a:ext cx="500046" cy="475572"/>
          </a:xfrm>
          <a:custGeom>
            <a:avLst/>
            <a:gdLst/>
            <a:ahLst/>
            <a:cxnLst/>
            <a:rect l="l" t="t" r="r" b="b"/>
            <a:pathLst>
              <a:path w="500046" h="475572">
                <a:moveTo>
                  <a:pt x="250023" y="0"/>
                </a:moveTo>
                <a:lnTo>
                  <a:pt x="500046" y="181653"/>
                </a:lnTo>
                <a:lnTo>
                  <a:pt x="404546" y="475572"/>
                </a:lnTo>
                <a:lnTo>
                  <a:pt x="95500" y="475572"/>
                </a:lnTo>
                <a:lnTo>
                  <a:pt x="0" y="181653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6949" y="3332988"/>
            <a:ext cx="1000093" cy="951145"/>
          </a:xfrm>
          <a:custGeom>
            <a:avLst/>
            <a:gdLst/>
            <a:ahLst/>
            <a:cxnLst/>
            <a:rect l="l" t="t" r="r" b="b"/>
            <a:pathLst>
              <a:path w="1000093" h="951145">
                <a:moveTo>
                  <a:pt x="500046" y="0"/>
                </a:moveTo>
                <a:lnTo>
                  <a:pt x="1000093" y="363305"/>
                </a:lnTo>
                <a:lnTo>
                  <a:pt x="809092" y="951145"/>
                </a:lnTo>
                <a:lnTo>
                  <a:pt x="191001" y="951145"/>
                </a:lnTo>
                <a:lnTo>
                  <a:pt x="0" y="363305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26925" y="3070098"/>
            <a:ext cx="1500139" cy="1426717"/>
          </a:xfrm>
          <a:custGeom>
            <a:avLst/>
            <a:gdLst/>
            <a:ahLst/>
            <a:cxnLst/>
            <a:rect l="l" t="t" r="r" b="b"/>
            <a:pathLst>
              <a:path w="1500139" h="1426717">
                <a:moveTo>
                  <a:pt x="750070" y="0"/>
                </a:moveTo>
                <a:lnTo>
                  <a:pt x="1500139" y="544958"/>
                </a:lnTo>
                <a:lnTo>
                  <a:pt x="1213638" y="1426717"/>
                </a:lnTo>
                <a:lnTo>
                  <a:pt x="286501" y="1426717"/>
                </a:lnTo>
                <a:lnTo>
                  <a:pt x="0" y="544958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76902" y="2807208"/>
            <a:ext cx="2000186" cy="1902290"/>
          </a:xfrm>
          <a:custGeom>
            <a:avLst/>
            <a:gdLst/>
            <a:ahLst/>
            <a:cxnLst/>
            <a:rect l="l" t="t" r="r" b="b"/>
            <a:pathLst>
              <a:path w="2000186" h="1902290">
                <a:moveTo>
                  <a:pt x="1000093" y="0"/>
                </a:moveTo>
                <a:lnTo>
                  <a:pt x="2000186" y="726610"/>
                </a:lnTo>
                <a:lnTo>
                  <a:pt x="1618184" y="1902290"/>
                </a:lnTo>
                <a:lnTo>
                  <a:pt x="382002" y="1902290"/>
                </a:lnTo>
                <a:lnTo>
                  <a:pt x="0" y="726610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76995" y="2807208"/>
            <a:ext cx="9144" cy="1051560"/>
          </a:xfrm>
          <a:custGeom>
            <a:avLst/>
            <a:gdLst/>
            <a:ahLst/>
            <a:cxnLst/>
            <a:rect l="l" t="t" r="r" b="b"/>
            <a:pathLst>
              <a:path w="9144" h="1051560">
                <a:moveTo>
                  <a:pt x="0" y="105156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76995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0" y="324950"/>
                </a:moveTo>
                <a:lnTo>
                  <a:pt x="1000093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76995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0" y="0"/>
                </a:moveTo>
                <a:lnTo>
                  <a:pt x="618091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8904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618091" y="0"/>
                </a:moveTo>
                <a:lnTo>
                  <a:pt x="0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76902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1000093" y="32495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86031" y="2942636"/>
            <a:ext cx="1462257" cy="1657298"/>
          </a:xfrm>
          <a:custGeom>
            <a:avLst/>
            <a:gdLst/>
            <a:ahLst/>
            <a:cxnLst/>
            <a:rect l="l" t="t" r="r" b="b"/>
            <a:pathLst>
              <a:path w="1462257" h="1657298">
                <a:moveTo>
                  <a:pt x="590964" y="0"/>
                </a:moveTo>
                <a:lnTo>
                  <a:pt x="1462257" y="633032"/>
                </a:lnTo>
                <a:lnTo>
                  <a:pt x="1129453" y="1657298"/>
                </a:lnTo>
                <a:lnTo>
                  <a:pt x="375569" y="1212598"/>
                </a:lnTo>
                <a:lnTo>
                  <a:pt x="0" y="724116"/>
                </a:lnTo>
                <a:close/>
              </a:path>
            </a:pathLst>
          </a:custGeom>
          <a:solidFill>
            <a:srgbClr val="D8B574">
              <a:alpha val="20000"/>
            </a:srgbClr>
          </a:solidFill>
          <a:ln w="19050">
            <a:solidFill>
              <a:srgbClr val="DFB47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35847" y="2901488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0" name="Shape 48"/>
          <p:cNvSpPr/>
          <p:nvPr/>
        </p:nvSpPr>
        <p:spPr>
          <a:xfrm>
            <a:off x="9707140" y="3534520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1" name="Shape 49"/>
          <p:cNvSpPr/>
          <p:nvPr/>
        </p:nvSpPr>
        <p:spPr>
          <a:xfrm>
            <a:off x="9374336" y="45587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2" name="Shape 50"/>
          <p:cNvSpPr/>
          <p:nvPr/>
        </p:nvSpPr>
        <p:spPr>
          <a:xfrm>
            <a:off x="8620452" y="41140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3" name="Shape 51"/>
          <p:cNvSpPr/>
          <p:nvPr/>
        </p:nvSpPr>
        <p:spPr>
          <a:xfrm>
            <a:off x="8244883" y="3625604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191195" y="2240737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经营资格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8191195" y="248762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521319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基本面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9521319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9013257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资金面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9013257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369134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风险稳定性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7369134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861072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消息面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6861072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有待关注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248095" y="568756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资格、基本面、资金面未见异常；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行政处罚让风险稳定性往里收，消息面待关注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定性示意，不设评分：每一维取查过的记录里最需关注的一项，越往里越需要留意；位置不表示问题数量。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它有资格收这笔钱吗？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749808" cy="749808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568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8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2788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83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B0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有问题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份持牌名单、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18,396 家私募管理人，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都查不到它。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434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先回答和这笔钱最相关的问题，依据就在旁边。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49240" y="1783080"/>
            <a:ext cx="6156655" cy="896112"/>
          </a:xfrm>
          <a:prstGeom prst="roundRect">
            <a:avLst>
              <a:gd name="adj" fmla="val 8163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0408" y="1938528"/>
            <a:ext cx="292608" cy="292608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50408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088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持牌机构名单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79687" y="1929384"/>
            <a:ext cx="2243328" cy="256032"/>
          </a:xfrm>
          <a:prstGeom prst="roundRect">
            <a:avLst>
              <a:gd name="adj" fmla="val 21429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9687" y="1929384"/>
            <a:ext cx="2243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金融监管总局等 4 份名单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286000"/>
            <a:ext cx="5333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银行业 4,070 · 保险 238 · 期货 150 · 支付 156 家，都没有它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9240" y="2834640"/>
            <a:ext cx="6156655" cy="896112"/>
          </a:xfrm>
          <a:prstGeom prst="roundRect">
            <a:avLst>
              <a:gd name="adj" fmla="val 8163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0408" y="2990088"/>
            <a:ext cx="292608" cy="292608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50408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088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私募基金管理人登记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928047" y="2980944"/>
            <a:ext cx="1394968" cy="256032"/>
          </a:xfrm>
          <a:prstGeom prst="roundRect">
            <a:avLst>
              <a:gd name="adj" fmla="val 21429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28047" y="2980944"/>
            <a:ext cx="1394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中基协公示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3337560"/>
            <a:ext cx="5333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2026-10-02 登记的 18,396 家里，没有它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49240" y="3886200"/>
            <a:ext cx="6156655" cy="896112"/>
          </a:xfrm>
          <a:prstGeom prst="roundRect">
            <a:avLst>
              <a:gd name="adj" fmla="val 8163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0408" y="4041648"/>
            <a:ext cx="292608" cy="292608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50408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088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经营范围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801047" y="4032504"/>
            <a:ext cx="1521968" cy="256032"/>
          </a:xfrm>
          <a:prstGeom prst="roundRect">
            <a:avLst>
              <a:gd name="adj" fmla="val 21429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01047" y="4032504"/>
            <a:ext cx="1521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企业登记信息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4389120"/>
            <a:ext cx="5333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健康管理咨询、养老服务、日用百货……不含任何金融业务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49240" y="4937760"/>
            <a:ext cx="6156655" cy="896112"/>
          </a:xfrm>
          <a:prstGeom prst="roundRect">
            <a:avLst>
              <a:gd name="adj" fmla="val 8163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0408" y="5093208"/>
            <a:ext cx="292608" cy="292608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50408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088" dirty="0"/>
          </a:p>
        </p:txBody>
      </p:sp>
      <p:sp>
        <p:nvSpPr>
          <p:cNvPr id="34" name="Text 32"/>
          <p:cNvSpPr txBox="1"/>
          <p:nvPr/>
        </p:nvSpPr>
        <p:spPr>
          <a:xfrm>
            <a:off x="598932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理财产品登记编码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055047" y="5084064"/>
            <a:ext cx="1267968" cy="256032"/>
          </a:xfrm>
          <a:prstGeom prst="roundRect">
            <a:avLst>
              <a:gd name="adj" fmla="val 21429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5047" y="5084064"/>
            <a:ext cx="1267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用户材料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989320" y="5440680"/>
            <a:ext cx="5333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宣传单上没有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 · 公司为虚构。“没查”“查了没有”“查询失败”在报告里分开写，不会把没查到当成正常。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逐条对照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它说的，和记录里的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宣传单上说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记录里查到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规则判定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677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保本保息 · 年化 9%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8.2 倍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219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一年期定存利率的倍数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资管新规：不得承诺保本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464040" y="2286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64040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不合规承诺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55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国资背景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13639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2095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国有持股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个股东都是自然人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64040" y="327355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64040" y="32735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与记录不符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005072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242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注册资本 5000 万 · 实力雄厚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12394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¥0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1970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实缴资本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认缴 5000 万，期限 2030 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64040" y="426110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64040" y="42611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说法有误导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992624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230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全国 30 家门店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11149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 家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5184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登记的分支机构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年报里参保 4 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464040" y="524865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64040" y="52486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说法有误导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5980176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判定由固定规则给出，每条附法规或记录出处；口径不同会注明，比如门店不等于登记的分支机构。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追问与出处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看不懂就问，每句回答都能点开原文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110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选中报告里的一条，问小企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回答只依据这份案卷查到的记录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1455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关键事实带出处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来源、采集时间、数据截至日一起保留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37997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程序校验每条引用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找不到依据的表述会被删掉，并注明“已省略”</a:t>
            </a:r>
            <a:endParaRPr lang="en-US" sz="1400" dirty="0"/>
          </a:p>
        </p:txBody>
      </p:sp>
      <p:pic>
        <p:nvPicPr>
          <p:cNvPr id="14" name="Image 0" descr="杭州银行案卷的原文出处弹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2777" y="1691640"/>
            <a:ext cx="3453118" cy="40690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8104327" y="5897880"/>
            <a:ext cx="3401568" cy="274320"/>
          </a:xfrm>
          <a:prstGeom prst="roundRect">
            <a:avLst>
              <a:gd name="adj" fmla="val 20000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04327" y="58978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 · 杭州银行（真实公司）· 联网查询 · 已接模型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持续研究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有了新材料，判断跟着更新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01568" cy="3886200"/>
          </a:xfrm>
          <a:prstGeom prst="roundRect">
            <a:avLst>
              <a:gd name="adj" fmla="val 2151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1226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首次分析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新材料：宣传单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2852928" cy="1143000"/>
          </a:xfrm>
          <a:prstGeom prst="rect">
            <a:avLst/>
          </a:prstGeom>
          <a:solidFill>
            <a:srgbClr val="EDE5D5"/>
          </a:solidFill>
          <a:ln w="12700">
            <a:solidFill>
              <a:srgbClr val="EDE5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10896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保本保息 · 年化 9%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国资背景 · 银行存管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注册资本 5000 万 · 30 家门店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4425696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13" name="Text 11"/>
          <p:cNvSpPr txBox="1"/>
          <p:nvPr/>
        </p:nvSpPr>
        <p:spPr>
          <a:xfrm>
            <a:off x="1307592" y="4389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条不符或不合规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4809744"/>
            <a:ext cx="237744" cy="237744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00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884" dirty="0"/>
          </a:p>
        </p:txBody>
      </p:sp>
      <p:sp>
        <p:nvSpPr>
          <p:cNvPr id="16" name="Text 14"/>
          <p:cNvSpPr txBox="1"/>
          <p:nvPr/>
        </p:nvSpPr>
        <p:spPr>
          <a:xfrm>
            <a:off x="1307592" y="47731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条有误导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5193792"/>
            <a:ext cx="237744" cy="237744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184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884" dirty="0"/>
          </a:p>
        </p:txBody>
      </p:sp>
      <p:sp>
        <p:nvSpPr>
          <p:cNvPr id="19" name="Text 17"/>
          <p:cNvSpPr txBox="1"/>
          <p:nvPr/>
        </p:nvSpPr>
        <p:spPr>
          <a:xfrm>
            <a:off x="1307592" y="515721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条无法核验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2057400"/>
            <a:ext cx="344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95064" y="1783080"/>
            <a:ext cx="3401568" cy="3886200"/>
          </a:xfrm>
          <a:prstGeom prst="roundRect">
            <a:avLst>
              <a:gd name="adj" fmla="val 2151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9384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v2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5492344" y="211226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对方回复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69384" y="2697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新材料：业务员的微信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9384" y="3017520"/>
            <a:ext cx="2852928" cy="1143000"/>
          </a:xfrm>
          <a:prstGeom prst="rect">
            <a:avLst/>
          </a:prstGeom>
          <a:solidFill>
            <a:srgbClr val="EDE5D5"/>
          </a:solidFill>
          <a:ln w="12700">
            <a:solidFill>
              <a:srgbClr val="EDE5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6544" y="310896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“钱转到我们财务的个人账户就行”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“到期前急用也没事，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随时可以取出来。”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9384" y="4425696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9384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29" name="Text 27"/>
          <p:cNvSpPr txBox="1"/>
          <p:nvPr/>
        </p:nvSpPr>
        <p:spPr>
          <a:xfrm>
            <a:off x="5016856" y="4389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新疑点：收款人是个人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9384" y="4809744"/>
            <a:ext cx="237744" cy="237744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9384" y="4800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884" dirty="0"/>
          </a:p>
        </p:txBody>
      </p:sp>
      <p:sp>
        <p:nvSpPr>
          <p:cNvPr id="32" name="Text 30"/>
          <p:cNvSpPr txBox="1"/>
          <p:nvPr/>
        </p:nvSpPr>
        <p:spPr>
          <a:xfrm>
            <a:off x="5016856" y="47731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新增：“随时可取”无法核验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778344" y="2057400"/>
            <a:ext cx="344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104327" y="1783080"/>
            <a:ext cx="3401568" cy="3886200"/>
          </a:xfrm>
          <a:prstGeom prst="roundRect">
            <a:avLst>
              <a:gd name="adj" fmla="val 2151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378647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v3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9201607" y="211226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补充材料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378647" y="2697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新材料：认购协议节选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78647" y="3017520"/>
            <a:ext cx="2852928" cy="1143000"/>
          </a:xfrm>
          <a:prstGeom prst="rect">
            <a:avLst/>
          </a:prstGeom>
          <a:solidFill>
            <a:srgbClr val="EDE5D5"/>
          </a:solidFill>
          <a:ln w="12700">
            <a:solidFill>
              <a:srgbClr val="EDE5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15807" y="310896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“第五条 认购期限为 12 个月，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期间为封闭期，不得提前赎回。”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78647" y="4425696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78647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42" name="Text 40"/>
          <p:cNvSpPr txBox="1"/>
          <p:nvPr/>
        </p:nvSpPr>
        <p:spPr>
          <a:xfrm>
            <a:off x="8726119" y="4389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“随时可取” → 与记录不符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378647" y="4809744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78647" y="4800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45" name="Text 43"/>
          <p:cNvSpPr txBox="1"/>
          <p:nvPr/>
        </p:nvSpPr>
        <p:spPr>
          <a:xfrm>
            <a:off x="8726119" y="47731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提前退出扣本金 20%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误传一张小区停水通知？</a:t>
            </a:r>
            <a:pPr indent="0" marL="0">
              <a:buNone/>
            </a:pPr>
            <a:r>
              <a:rPr lang="en-US" sz="13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v4 判断不变：35 项都和上一版一样。旧版本和旧回答的出处都保留，随时回看。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结论来自记录和规则，AI 只负责读材料、说人话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汇集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公开记录 + 用户材料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持牌名单、私募公示、工商年报、司法舆情；宣传单、合同、聊天截图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36392" y="3314700"/>
            <a:ext cx="290474" cy="0"/>
          </a:xfrm>
          <a:prstGeom prst="line">
            <a:avLst/>
          </a:prstGeom>
          <a:noFill/>
          <a:ln w="15875">
            <a:solidFill>
              <a:srgbClr val="D8B57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00018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19050">
            <a:solidFill>
              <a:srgbClr val="D8B5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8618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规则核验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28618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对照 · 判定 · 比版本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728618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固定规则，每条写明法规出处；同样的输入，同样的结论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0610" y="3314700"/>
            <a:ext cx="290474" cy="0"/>
          </a:xfrm>
          <a:prstGeom prst="line">
            <a:avLst/>
          </a:prstGeom>
          <a:noFill/>
          <a:ln w="15875">
            <a:solidFill>
              <a:srgbClr val="D8B57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14237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42837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AI 解读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42837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识需求 · 读材料 · 答追问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42837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识别场景，读图片和合同，把结果翻译成人话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64829" y="3314700"/>
            <a:ext cx="290474" cy="0"/>
          </a:xfrm>
          <a:prstGeom prst="line">
            <a:avLst/>
          </a:prstGeom>
          <a:noFill/>
          <a:ln w="15875">
            <a:solidFill>
              <a:srgbClr val="D8B57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28455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57055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引用校验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57055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每句回到原文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57055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引用不到原文的表述，删掉并注明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285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5257800"/>
            <a:ext cx="10546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71600" y="5257800"/>
            <a:ext cx="105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不打安全分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90800" y="5257800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90800" y="5257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没查到不等于没问题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19600" y="5257800"/>
            <a:ext cx="31882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19600" y="5257800"/>
            <a:ext cx="318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“查了没有”“没查”“查询失败”分开写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5257800"/>
            <a:ext cx="13594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0" y="5257800"/>
            <a:ext cx="135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不替用户做决定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落到柜台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一页结论，带进下一次沟通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07492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9525">
            <a:solidFill>
              <a:srgbClr val="DCD2C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1993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网点提示单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46550" y="2029968"/>
            <a:ext cx="1339850" cy="237744"/>
          </a:xfrm>
          <a:prstGeom prst="roundRect">
            <a:avLst>
              <a:gd name="adj" fmla="val 23077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46550" y="2029968"/>
            <a:ext cx="13398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产品生成 · 柜员版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688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客户拟交给 杭州满盈禾康养健康咨询有限公司：储蓄 20 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816352"/>
            <a:ext cx="4434840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94436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它的说法里有 4 处和记录对不上、2 处要留意；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记录里有 4 项不良情况；还有 2 项没查到。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建议客户先核实下面三件事，再办理。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急用时多久能取回，提前取有没有违约金，写进合同了吗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请给出金融许可证编号，或者理财产品登记编码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收益从哪里来？钱投到了什么资产？写进合同了吗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715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供柜面参考：依据为公开记录和客户提供的材料，不构成对该公司的法律定性。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网点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1819656"/>
            <a:ext cx="3824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老人大额取现说要“去投资”：柜员查一下，拿着提示单劝阻，有依据，不只靠嘴说。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55080" y="2679192"/>
            <a:ext cx="51508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28620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手机银行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898648"/>
            <a:ext cx="3824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向陌生的对公账户大额转账前，先“透视一下收款方”。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55080" y="3758184"/>
            <a:ext cx="51508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9410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家人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3977640"/>
            <a:ext cx="3824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家人版一页结论：一起看依据，明确还缺什么材料。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355080" y="4837176"/>
            <a:ext cx="51508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4937760"/>
            <a:ext cx="5150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防范非法集资、提示资金风险，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本就是银行的日常工作。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5870448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以上为落地设想，待与杭州银行业务方共同验证。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把钱或信任交出去之前，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先把依据看清楚。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企er · 有出处的企业研究助手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800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qier.asia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532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现场可试：输入任意公司全称，再加一句需求。</a:t>
            </a:r>
            <a:endParaRPr lang="en-US" sz="1400" dirty="0"/>
          </a:p>
        </p:txBody>
      </p:sp>
      <p:pic>
        <p:nvPicPr>
          <p:cNvPr id="7" name="Image 0" descr="小企在办公室阅读报告的插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822960"/>
            <a:ext cx="4416552" cy="52486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答辩备用 · 真实公司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真实公司同样可用：杭州银行 · 求职场景</a:t>
            </a:r>
            <a:endParaRPr lang="en-US" sz="3200" dirty="0"/>
          </a:p>
        </p:txBody>
      </p:sp>
      <p:pic>
        <p:nvPicPr>
          <p:cNvPr id="5" name="Image 0" descr="杭州银行求职场景的真实报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6642135" cy="4434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739415" y="1737360"/>
            <a:ext cx="376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739415" y="2377440"/>
            <a:ext cx="376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条来源记录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39415" y="2926080"/>
            <a:ext cx="376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739415" y="3566160"/>
            <a:ext cx="376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条行政处罚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39415" y="4114800"/>
            <a:ext cx="376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7,458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739415" y="4754880"/>
            <a:ext cx="376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年报参保人数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39415" y="5349240"/>
            <a:ext cx="1989328" cy="274320"/>
          </a:xfrm>
          <a:prstGeom prst="roundRect">
            <a:avLst>
              <a:gd name="adj" fmla="val 20000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39415" y="5349240"/>
            <a:ext cx="198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 · 联网查询 · 已接模型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答辩备用 · 资料覆盖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查询状态分开写，没查到不当成正常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568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56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查到了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这个来源里有匹配记录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254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A8478"/>
          </a:solidFill>
          <a:ln w="12700">
            <a:solidFill>
              <a:srgbClr val="8A84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25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查了没有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本次查询范围内没有匹配记录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9417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69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没查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数据源没覆盖，或本次没执行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38912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6285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查询失败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请求没有成功，会提示重试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178308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边界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33172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不打安全分，不作法律定性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83464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297180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每条资料写明采集时间和数据截至日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55280" y="347472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0" y="361188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公开记录有覆盖与时间边界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55280" y="411480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425196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最终决定由人作出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55280" y="475488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企er · 有出处的企业研究助手</dc:title>
  <dc:subject>PptxGenJS Presentation</dc:subject>
  <dc:creator>企er 团队</dc:creator>
  <cp:lastModifiedBy>企er 团队</cp:lastModifiedBy>
  <cp:revision>1</cp:revision>
  <dcterms:created xsi:type="dcterms:W3CDTF">2026-10-03T03:53:43Z</dcterms:created>
  <dcterms:modified xsi:type="dcterms:W3CDTF">2026-10-03T03:53:43Z</dcterms:modified>
</cp:coreProperties>
</file>