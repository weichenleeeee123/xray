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b0459ccd204e36" /><Relationship Type="http://schemas.openxmlformats.org/officeDocument/2006/relationships/extended-properties" Target="/docProps/app.xml" Id="Rdeb02f1238da4ea8" /><Relationship Type="http://schemas.openxmlformats.org/officeDocument/2006/relationships/officeDocument" Target="/ppt/presentation.xml" Id="R03860102bd854f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490c8cfdc4f1e"/>
  </p:sldMasterIdLst>
  <p:notesMasterIdLst>
    <p:notesMasterId xmlns:r="http://schemas.openxmlformats.org/officeDocument/2006/relationships" r:id="Rd1a5de339e724ef6"/>
  </p:notesMasterIdLst>
  <p:sldIdLst>
    <p:sldId xmlns:r="http://schemas.openxmlformats.org/officeDocument/2006/relationships" id="256" r:id="Rb45521075c5a4e8a"/>
    <p:sldId xmlns:r="http://schemas.openxmlformats.org/officeDocument/2006/relationships" id="257" r:id="R05cc033be2bb45d8"/>
    <p:sldId xmlns:r="http://schemas.openxmlformats.org/officeDocument/2006/relationships" id="258" r:id="R5df200e1a4bb4943"/>
    <p:sldId xmlns:r="http://schemas.openxmlformats.org/officeDocument/2006/relationships" id="259" r:id="Rf939ca4d88da4d93"/>
    <p:sldId xmlns:r="http://schemas.openxmlformats.org/officeDocument/2006/relationships" id="260" r:id="Rd3b1e9bf16994be4"/>
    <p:sldId xmlns:r="http://schemas.openxmlformats.org/officeDocument/2006/relationships" id="261" r:id="Rd38fe67ed3044ec9"/>
    <p:sldId xmlns:r="http://schemas.openxmlformats.org/officeDocument/2006/relationships" id="262" r:id="R8a83135452c94c41"/>
    <p:sldId xmlns:r="http://schemas.openxmlformats.org/officeDocument/2006/relationships" id="263" r:id="Rdb8fa77590184150"/>
    <p:sldId xmlns:r="http://schemas.openxmlformats.org/officeDocument/2006/relationships" id="264" r:id="R4a67898c1c834c61"/>
    <p:sldId xmlns:r="http://schemas.openxmlformats.org/officeDocument/2006/relationships" id="265" r:id="Rcfeb4917924841f7"/>
    <p:sldId xmlns:r="http://schemas.openxmlformats.org/officeDocument/2006/relationships" id="266" r:id="Rd67f20152fd84f9b"/>
    <p:sldId xmlns:r="http://schemas.openxmlformats.org/officeDocument/2006/relationships" id="267" r:id="R942c62f2bf6a46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7adc8672b04c59" /><Relationship Type="http://schemas.openxmlformats.org/officeDocument/2006/relationships/slideMaster" Target="/ppt/slideMasters/slideMaster1.xml" Id="Rf05490c8cfdc4f1e" /><Relationship Type="http://schemas.openxmlformats.org/officeDocument/2006/relationships/notesMaster" Target="/ppt/notesMasters/notesMaster1.xml" Id="Rd1a5de339e724ef6" /><Relationship Type="http://schemas.openxmlformats.org/officeDocument/2006/relationships/presProps" Target="/ppt/presProps.xml" Id="R216cda19287a44e1" /><Relationship Type="http://schemas.openxmlformats.org/officeDocument/2006/relationships/tableStyles" Target="/ppt/tableStyles.xml" Id="Rde2aa6a1269848b9" /><Relationship Type="http://schemas.openxmlformats.org/officeDocument/2006/relationships/slide" Target="/ppt/slides/slide1.xml" Id="Rb45521075c5a4e8a" /><Relationship Type="http://schemas.openxmlformats.org/officeDocument/2006/relationships/slide" Target="/ppt/slides/slide2.xml" Id="R05cc033be2bb45d8" /><Relationship Type="http://schemas.openxmlformats.org/officeDocument/2006/relationships/slide" Target="/ppt/slides/slide3.xml" Id="R5df200e1a4bb4943" /><Relationship Type="http://schemas.openxmlformats.org/officeDocument/2006/relationships/slide" Target="/ppt/slides/slide4.xml" Id="Rf939ca4d88da4d93" /><Relationship Type="http://schemas.openxmlformats.org/officeDocument/2006/relationships/slide" Target="/ppt/slides/slide5.xml" Id="Rd3b1e9bf16994be4" /><Relationship Type="http://schemas.openxmlformats.org/officeDocument/2006/relationships/slide" Target="/ppt/slides/slide6.xml" Id="Rd38fe67ed3044ec9" /><Relationship Type="http://schemas.openxmlformats.org/officeDocument/2006/relationships/slide" Target="/ppt/slides/slide7.xml" Id="R8a83135452c94c41" /><Relationship Type="http://schemas.openxmlformats.org/officeDocument/2006/relationships/slide" Target="/ppt/slides/slide8.xml" Id="Rdb8fa77590184150" /><Relationship Type="http://schemas.openxmlformats.org/officeDocument/2006/relationships/slide" Target="/ppt/slides/slide9.xml" Id="R4a67898c1c834c61" /><Relationship Type="http://schemas.openxmlformats.org/officeDocument/2006/relationships/slide" Target="/ppt/slides/slide10.xml" Id="Rcfeb4917924841f7" /><Relationship Type="http://schemas.openxmlformats.org/officeDocument/2006/relationships/slide" Target="/ppt/slides/slide11.xml" Id="Rd67f20152fd84f9b" /><Relationship Type="http://schemas.openxmlformats.org/officeDocument/2006/relationships/slide" Target="/ppt/slides/slide12.xml" Id="R942c62f2bf6a46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aec0b986de44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企er 编辑式路演">
      <a:dk1>
        <a:srgbClr val="29333A"/>
      </a:dk1>
      <a:lt1>
        <a:srgbClr val="F7F0E0"/>
      </a:lt1>
      <a:dk2>
        <a:srgbClr val="222E39"/>
      </a:dk2>
      <a:lt2>
        <a:srgbClr val="EEE4D1"/>
      </a:lt2>
      <a:accent1>
        <a:srgbClr val="A67F45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编辑式路演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4d746ec8174134" /><Relationship Type="http://schemas.openxmlformats.org/officeDocument/2006/relationships/notesMaster" Target="/ppt/notesMasters/notesMaster1.xml" Id="R4fcc5fd83d0e46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f7586a67a64a8b" /><Relationship Type="http://schemas.openxmlformats.org/officeDocument/2006/relationships/notesMaster" Target="/ppt/notesMasters/notesMaster1.xml" Id="Rce28b712c3b64f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288ad9778e4de0" /><Relationship Type="http://schemas.openxmlformats.org/officeDocument/2006/relationships/notesMaster" Target="/ppt/notesMasters/notesMaster1.xml" Id="R8e5e992e7c1243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9e84bbe548475c" /><Relationship Type="http://schemas.openxmlformats.org/officeDocument/2006/relationships/notesMaster" Target="/ppt/notesMasters/notesMaster1.xml" Id="Ra3ee8a83d02945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6dbab9dc704799" /><Relationship Type="http://schemas.openxmlformats.org/officeDocument/2006/relationships/notesMaster" Target="/ppt/notesMasters/notesMaster1.xml" Id="R302a8910f55d4c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c8c0b633ab41a3" /><Relationship Type="http://schemas.openxmlformats.org/officeDocument/2006/relationships/notesMaster" Target="/ppt/notesMasters/notesMaster1.xml" Id="R5bdf24e3771c4f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ed4da7a77249b7" /><Relationship Type="http://schemas.openxmlformats.org/officeDocument/2006/relationships/notesMaster" Target="/ppt/notesMasters/notesMaster1.xml" Id="R25938dd7aacb49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01af2f1aa54c8e" /><Relationship Type="http://schemas.openxmlformats.org/officeDocument/2006/relationships/notesMaster" Target="/ppt/notesMasters/notesMaster1.xml" Id="R6dc1c639284742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8b8cf71934422f" /><Relationship Type="http://schemas.openxmlformats.org/officeDocument/2006/relationships/notesMaster" Target="/ppt/notesMasters/notesMaster1.xml" Id="Rde7a219095ab4b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79f52fe2e94bc4" /><Relationship Type="http://schemas.openxmlformats.org/officeDocument/2006/relationships/notesMaster" Target="/ppt/notesMasters/notesMaster1.xml" Id="Rd0482e3895f84c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553e5aca684554" /><Relationship Type="http://schemas.openxmlformats.org/officeDocument/2006/relationships/notesMaster" Target="/ppt/notesMasters/notesMaster1.xml" Id="Rd53fe3c53cc04e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2477b074614c43" /><Relationship Type="http://schemas.openxmlformats.org/officeDocument/2006/relationships/notesMaster" Target="/ppt/notesMasters/notesMaster1.xml" Id="R032872501e6a43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15 秒】</a:t>
            </a:r>
          </a:p>
          <a:p xmlns:a="http://schemas.openxmlformats.org/drawingml/2006/main">
            <a:r>
              <a:t>大家好，我们做的是企 er，一个有出处的企业研究助手。把钱或信任交给一家公司之前，它帮助普通人看清：这次判断的依据是什么，还有哪些事情需要确认。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【动作】产品名之后稍停，先建立定位。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产品主线与底线。小企插画沿用项目原有素材。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30 秒】</a:t>
            </a:r>
          </a:p>
          <a:p xmlns:a="http://schemas.openxmlformats.org/drawingml/2006/main">
            <a:r>
              <a:t>准备买理财、接受 offer，或者找一家公司合作时，人们能找到公司介绍、登记信息和新闻。但查到资料之后，还有一段工作：介绍和合同说的是不是同一个主体？宣传的数字和公开记录是不是同一个口径？这些记录，究竟能回答我这次的什么问题？企 er 把这段核对过程做成了产品。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【动作】每行只点出一个待确认的问题，不展开案例。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README.md；docs/2026-10-02-xray-hackathon-prd.md。场景为产品定位，不声称完成用户调研。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25 秒】</a:t>
            </a:r>
          </a:p>
          <a:p xmlns:a="http://schemas.openxmlformats.org/drawingml/2006/main">
            <a:r>
              <a:t>入口很简单：输入公司全称，再说一句这次想做什么。有宣传单或协议，也可以附上。小企把公开记录和用户材料收进同一份案卷，围绕这个需求组织报告。查询过程中，用户能看到不同资料来源的处理状态，完成后直接进入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【动作】先指公司输入，再指需求；让整体产品画面停留数秒。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research-room/app/page.tsx；web/app.js；backend/app/models.py。首页截图来自项目浏览器验收，不是设计效果图。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报告先把企业概况和初步结论放在一起。比如理财，先核实收款主体和相关资格；求职，则先关心签约主体与用工信息。结论旁边就是依据，用户可以点开继续核对，再进入四个信号和详细资料。雷达只帮助快速浏览各维度的记录状态，不是给企业打安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【动作】指向右侧初步结论与依据，雷达只带一句，不解释虚构公司的背景。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docs/2026-10-03-report-overview-restoration.md；web/case-design.js；backend/app/scenarios。截图为虚构案例、未接模型的本地界面。需求影响范围、排序和表述。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这是产品里最关键的一步。系统保留企业原话，把能核对的说法放到相关记录旁边。这里用虚构材料演示：宣传里的门店数量，与登记的分支机构数量，需要先讲清口径，再判断它能证明什么。每条对照保留出处，没有足够依据的说法也会继续标明。用户看到的是可检查的核验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【动作】只讲这一条对照。强调门店与分支机构口径可能不同，不据此直接定性。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backend/app/analysis/verify.py；backend/app/models.py Verdict。图片为虚构演示材料的原界面局部，未接模型。门店与分支机构不是天然等价指标。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30 秒】</a:t>
            </a:r>
          </a:p>
          <a:p xmlns:a="http://schemas.openxmlformats.org/drawingml/2006/main">
            <a:r>
              <a:t>看不懂某一条，还可以直接问小企。回答围绕当前案卷和所选版本展开，关键事实带出处，点开后能看到来源、日期和原始记录。这里展示的是基础答复的出处入口。接入在线模型后，程序仍会检查引用和引文，让用户有地方核对回答，而不是只能相信一段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【动作】指一次出处标题与日期，给观众时间看清来源入口。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backend/app/assistant.py；backend/tests/test_assistant_grounding_rewrite.py。截图为虚构案卷、未接模型时的基础答复出处，不作为在线模型回答质量证明。引用校验不等于零幻觉。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真正的判断往往不会一次结束。对方补了一份协议，用户收到新的回复，或者改变了需求，都能加入原案卷继续分析。新报告会说明哪些判断改变了、为什么改变，哪些没有变。旧版本同时保留，旧回答的引用也仍然回到回答时的版本，方便复盘当时掌握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【动作】指向第二版与第一版切换，说明新版本不会覆盖旧依据。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backend/app/analysis/diff.py；backend/app/analysis/judgments.py；web/report-workspace.js。截图为虚构案卷版本选择器局部，预制示例，本次未重新联网。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这套产品的关键设计，是把核验判定和自然语言解释分开。规则负责对照已有记录、给出判定并比较版本变化；AI 负责理解需求、读取材料、解释结果和回答问题。回答中的出处与引文再由程序校验。这样，一次研究保留下来的不仅有解释，还有可以复核的输入、规则结果和引用关系。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【动作】按左、右、下的顺序讲分工；不逐条念六个条目。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底线；backend/app/analysis/verify.py；backend/app/assistant.py。相同规则输入得到相同规则判定，不声称模型输出完全确定或事实全量。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40 秒】</a:t>
            </a:r>
          </a:p>
          <a:p xmlns:a="http://schemas.openxmlformats.org/drawingml/2006/main">
            <a:r>
              <a:t>研究的结果还需要帮助下一次沟通。产品可以生成给家人看的一页结论，也可以生成网点提示单，把查到的依据、还缺的材料和该问的问题放在一起。比如这条：急用时多久能取回，相关条款写进合同了吗？下一步，我们希望先在网点沟通中验证，用户能否看懂依据与缺口，柜员能否把核实步骤讲具体。这是待验证方向，还没有银行采用或效果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【动作】读右侧核实问题，再讲网点验证；避免把设想说成已有合作。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backend/app/analysis/report.py onepager；docs/2026-10-02-xray-hackathon-prd.md。右侧问题来自虚构案例已有报告阅读画面，仅为核实问题示例；网点应用待验证。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20 秒】</a:t>
            </a:r>
          </a:p>
          <a:p xmlns:a="http://schemas.openxmlformats.org/drawingml/2006/main">
            <a:r>
              <a:t>企 er 把公司资料、企业说法和用户需求，接成一份能追问、能补充、能回看的研究案卷。把钱或信任交出去之前，先把依据看清楚。欢迎体验，谢谢大家。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【动作】停在产品名与网址，不继续播放附录。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产品主线；项目原有小企办公室插画。体验入口 qier.asia。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【答辩备用】</a:t>
            </a:r>
          </a:p>
          <a:p xmlns:a="http://schemas.openxmlformats.org/drawingml/2006/main">
            <a:r>
              <a:t>答辩备用。未匹配只描述本次查询范围，不能等同于企业没有相关问题。未覆盖与查询失败分别展示，避免把没有获取到记录误读成正常。每个来源还需结合查询时间与数据截至日。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backend/app/models.py Coverage；backend/app/analysis/gaps.py；README.md 底线。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【答辩备用】</a:t>
            </a:r>
          </a:p>
          <a:p xmlns:a="http://schemas.openxmlformats.org/drawingml/2006/main">
            <a:r>
              <a:t>答辩备用。现有产品已经包含需求输入、报告、材料对照、引用追问、版本补充与一页结论。后续先验证网点沟通中的可理解性和核实动作，再讨论接入和商业模式。没有银行采用、收费、效果提升的已验证数字。资料来自公开记录和用户材料，不作企业安全担保，不替代最终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README.md；backend/app/analysis/report.py；docs/2026-10-02-xray-hackathon-prd.md 第12节。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6bfd6c80e46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3c02090c2e4048" /><Relationship Type="http://schemas.openxmlformats.org/officeDocument/2006/relationships/slideLayout" Target="/ppt/slideLayouts/slideLayout1.xml" Id="R59571d39ee9546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571d39ee9546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企er 编辑式路演">
      <a:dk1>
        <a:srgbClr val="29333A"/>
      </a:dk1>
      <a:lt1>
        <a:srgbClr val="F7F0E0"/>
      </a:lt1>
      <a:dk2>
        <a:srgbClr val="222E39"/>
      </a:dk2>
      <a:lt2>
        <a:srgbClr val="EEE4D1"/>
      </a:lt2>
      <a:accent1>
        <a:srgbClr val="A67F45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编辑式路演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80d41bc87471a" /><Relationship Type="http://schemas.openxmlformats.org/officeDocument/2006/relationships/image" Target="/ppt/media/image.png" Id="R046563f184bb469c" /><Relationship Type="http://schemas.openxmlformats.org/officeDocument/2006/relationships/notesSlide" Target="/ppt/notesSlides/notesSlide1.xml" Id="R08e3c05908ed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8c473313d417d" /><Relationship Type="http://schemas.openxmlformats.org/officeDocument/2006/relationships/notesSlide" Target="/ppt/notesSlides/notesSlide2.xml" Id="R1819a62fb2f045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1fa215c5d4dd9" /><Relationship Type="http://schemas.openxmlformats.org/officeDocument/2006/relationships/image" Target="/ppt/media/image.jpeg" Id="R562e18cb9ff54969" /><Relationship Type="http://schemas.openxmlformats.org/officeDocument/2006/relationships/notesSlide" Target="/ppt/notesSlides/notesSlide3.xml" Id="Rdf1ff6dea30f41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b3a0de61b4d88" /><Relationship Type="http://schemas.openxmlformats.org/officeDocument/2006/relationships/image" Target="/ppt/media/image2.jpeg" Id="Rb9fbc78ce59140f4" /><Relationship Type="http://schemas.openxmlformats.org/officeDocument/2006/relationships/notesSlide" Target="/ppt/notesSlides/notesSlide4.xml" Id="R6febc4b454cd46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c1e2e88574905" /><Relationship Type="http://schemas.openxmlformats.org/officeDocument/2006/relationships/image" Target="/ppt/media/image3.jpeg" Id="Rb56b8f34560147c9" /><Relationship Type="http://schemas.openxmlformats.org/officeDocument/2006/relationships/notesSlide" Target="/ppt/notesSlides/notesSlide5.xml" Id="R5b483de65f584b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69cc6625544c2" /><Relationship Type="http://schemas.openxmlformats.org/officeDocument/2006/relationships/image" Target="/ppt/media/image4.jpeg" Id="R1c3df4719ca543ff" /><Relationship Type="http://schemas.openxmlformats.org/officeDocument/2006/relationships/notesSlide" Target="/ppt/notesSlides/notesSlide6.xml" Id="Re514ba3a45d547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405c6b9634d7a" /><Relationship Type="http://schemas.openxmlformats.org/officeDocument/2006/relationships/image" Target="/ppt/media/image5.jpeg" Id="Rdad2b695cf944f87" /><Relationship Type="http://schemas.openxmlformats.org/officeDocument/2006/relationships/notesSlide" Target="/ppt/notesSlides/notesSlide7.xml" Id="Rcbd921e063d748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cf550314b49e8" /><Relationship Type="http://schemas.openxmlformats.org/officeDocument/2006/relationships/notesSlide" Target="/ppt/notesSlides/notesSlide8.xml" Id="R4268523be13843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695ad9a134f28" /><Relationship Type="http://schemas.openxmlformats.org/officeDocument/2006/relationships/notesSlide" Target="/ppt/notesSlides/notesSlide9.xml" Id="Rcb85a0cb4a9b4f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a97e02b5849ea" /><Relationship Type="http://schemas.openxmlformats.org/officeDocument/2006/relationships/image" Target="/ppt/media/image2.png" Id="R45ccb27e3fff491c" /><Relationship Type="http://schemas.openxmlformats.org/officeDocument/2006/relationships/notesSlide" Target="/ppt/notesSlides/notesSlide10.xml" Id="R84aee81f2e8243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4a25ac3444bd3" /><Relationship Type="http://schemas.openxmlformats.org/officeDocument/2006/relationships/notesSlide" Target="/ppt/notesSlides/notesSlide11.xml" Id="Reb56fea1f57d44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12a6b30034e66" /><Relationship Type="http://schemas.openxmlformats.org/officeDocument/2006/relationships/notesSlide" Target="/ppt/notesSlides/notesSlide12.xml" Id="R58440c748c6e40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回响48H 黑客松    杭州银行「透视·真相」">
            <a:extLst xmlns:a="http://schemas.openxmlformats.org/drawingml/2006/main">
              <a:ext uri="{FF2B5EF4-FFF2-40B4-BE49-F238E27FC236}">
                <a16:creationId xmlns:a16="http://schemas.microsoft.com/office/drawing/2014/main" id="{7AD716FA-76F5-4854-9292-49DC7E24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回响48H 黑客松    杭州银行「透视·真相」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EBB6EDD4-6932-4C73-8EA6-7D04A063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企er">
            <a:extLst xmlns:a="http://schemas.openxmlformats.org/drawingml/2006/main">
              <a:ext uri="{FF2B5EF4-FFF2-40B4-BE49-F238E27FC236}">
                <a16:creationId xmlns:a16="http://schemas.microsoft.com/office/drawing/2014/main" id="{8BB19AB7-F630-4BE8-94E0-9553CFC3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68580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9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4" name="有出处的 企业研究助手">
            <a:extLst xmlns:a="http://schemas.openxmlformats.org/drawingml/2006/main">
              <a:ext uri="{FF2B5EF4-FFF2-40B4-BE49-F238E27FC236}">
                <a16:creationId xmlns:a16="http://schemas.microsoft.com/office/drawing/2014/main" id="{99671AEA-6E0E-4AC8-A9E5-E9B411F7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69151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有出处的</a:t>
            </a:r>
          </a:p>
          <a:p xmlns:a="http://schemas.openxmlformats.org/drawingml/2006/main">
            <a:pPr>
              <a:defRPr sz="45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企业研究助手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563f184bb469c"/>
          <a:stretch xmlns:a="http://schemas.openxmlformats.org/drawingml/2006/main"/>
        </p:blipFill>
        <p:spPr>
          <a:xfrm xmlns:a="http://schemas.openxmlformats.org/drawingml/2006/main">
            <a:off x="8011978" y="1285875"/>
            <a:ext cx="349277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388B-DAF6-4C3E-A751-39E0784C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B8"/>
            </a:solidFill>
          </a:ln>
        </p:spPr>
      </p:sp>
      <p:sp>
        <p:nvSpPr>
          <p:cNvPr id="7" name="把钱或信任交出去前，先把依据看清楚">
            <a:extLst xmlns:a="http://schemas.openxmlformats.org/drawingml/2006/main">
              <a:ext uri="{FF2B5EF4-FFF2-40B4-BE49-F238E27FC236}">
                <a16:creationId xmlns:a16="http://schemas.microsoft.com/office/drawing/2014/main" id="{83B65DC8-09F5-45AC-9353-EDA10C4E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22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把钱或信任交出去前，先把依据看清楚</a:t>
            </a:r>
          </a:p>
        </p:txBody>
      </p:sp>
    </p:spTree>
    <p:extLst>
      <p:ext uri="{BB962C8B-B14F-4D97-AF65-F5344CB8AC3E}">
        <p14:creationId xmlns:p14="http://schemas.microsoft.com/office/powerpoint/2010/main" val="1811171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为什么需要企er">
            <a:extLst xmlns:a="http://schemas.openxmlformats.org/drawingml/2006/main">
              <a:ext uri="{FF2B5EF4-FFF2-40B4-BE49-F238E27FC236}">
                <a16:creationId xmlns:a16="http://schemas.microsoft.com/office/drawing/2014/main" id="{23D78B03-72FD-462E-B259-B16C7BF6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为什么需要企er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8272F564-9683-4790-99D6-38AFDF53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查询之后，判断之前">
            <a:extLst xmlns:a="http://schemas.openxmlformats.org/drawingml/2006/main">
              <a:ext uri="{FF2B5EF4-FFF2-40B4-BE49-F238E27FC236}">
                <a16:creationId xmlns:a16="http://schemas.microsoft.com/office/drawing/2014/main" id="{90FD869B-86EA-4B78-AC40-81BBE4E3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查询之后，判断之前</a:t>
            </a:r>
          </a:p>
        </p:txBody>
      </p:sp>
      <p:sp>
        <p:nvSpPr>
          <p:cNvPr id="4" name="查到的信息">
            <a:extLst xmlns:a="http://schemas.openxmlformats.org/drawingml/2006/main">
              <a:ext uri="{FF2B5EF4-FFF2-40B4-BE49-F238E27FC236}">
                <a16:creationId xmlns:a16="http://schemas.microsoft.com/office/drawing/2014/main" id="{7595D7F1-D3A7-48B9-BE50-F1CA089B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查到的信息</a:t>
            </a:r>
          </a:p>
        </p:txBody>
      </p:sp>
      <p:sp>
        <p:nvSpPr>
          <p:cNvPr id="5" name="真正要确认的事">
            <a:extLst xmlns:a="http://schemas.openxmlformats.org/drawingml/2006/main">
              <a:ext uri="{FF2B5EF4-FFF2-40B4-BE49-F238E27FC236}">
                <a16:creationId xmlns:a16="http://schemas.microsoft.com/office/drawing/2014/main" id="{7BCBF3D2-D982-4E5A-BC26-A2E731D8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577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真正要确认的事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06922-BDA8-421B-A5AA-A9E1032C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B8"/>
            </a:solidFill>
          </a:ln>
        </p:spPr>
      </p:sp>
      <p:sp>
        <p:nvSpPr>
          <p:cNvPr id="7" name="公司介绍与合同">
            <a:extLst xmlns:a="http://schemas.openxmlformats.org/drawingml/2006/main">
              <a:ext uri="{FF2B5EF4-FFF2-40B4-BE49-F238E27FC236}">
                <a16:creationId xmlns:a16="http://schemas.microsoft.com/office/drawing/2014/main" id="{15AF7465-5C0A-4A12-9D6C-203ED217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59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公司介绍与合同</a:t>
            </a:r>
          </a:p>
        </p:txBody>
      </p:sp>
      <p:sp>
        <p:nvSpPr>
          <p:cNvPr id="8" name="说的是同一个主体吗？">
            <a:extLst xmlns:a="http://schemas.openxmlformats.org/drawingml/2006/main">
              <a:ext uri="{FF2B5EF4-FFF2-40B4-BE49-F238E27FC236}">
                <a16:creationId xmlns:a16="http://schemas.microsoft.com/office/drawing/2014/main" id="{DB1D64B7-FCF8-4E00-911A-32B78532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05100"/>
            <a:ext cx="577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说的是同一个主体吗？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5C2F7-DC7E-44AB-B5D7-E4BCE8F1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B8"/>
            </a:solidFill>
          </a:ln>
        </p:spPr>
      </p:sp>
      <p:sp>
        <p:nvSpPr>
          <p:cNvPr id="10" name="宣传数字与公开记录">
            <a:extLst xmlns:a="http://schemas.openxmlformats.org/drawingml/2006/main">
              <a:ext uri="{FF2B5EF4-FFF2-40B4-BE49-F238E27FC236}">
                <a16:creationId xmlns:a16="http://schemas.microsoft.com/office/drawing/2014/main" id="{3EA19F4B-A5D4-4259-BC56-0171A55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59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宣传数字与公开记录</a:t>
            </a:r>
          </a:p>
        </p:txBody>
      </p:sp>
      <p:sp>
        <p:nvSpPr>
          <p:cNvPr id="11" name="时间和指标口径一致吗？">
            <a:extLst xmlns:a="http://schemas.openxmlformats.org/drawingml/2006/main">
              <a:ext uri="{FF2B5EF4-FFF2-40B4-BE49-F238E27FC236}">
                <a16:creationId xmlns:a16="http://schemas.microsoft.com/office/drawing/2014/main" id="{3304D515-8ED3-4325-B09D-0EED29BF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577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时间和指标口径一致吗？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A0672-9B28-4422-A16F-70904B8E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B8"/>
            </a:solidFill>
          </a:ln>
        </p:spPr>
      </p:sp>
      <p:sp>
        <p:nvSpPr>
          <p:cNvPr id="13" name="一长串查询结果">
            <a:extLst xmlns:a="http://schemas.openxmlformats.org/drawingml/2006/main">
              <a:ext uri="{FF2B5EF4-FFF2-40B4-BE49-F238E27FC236}">
                <a16:creationId xmlns:a16="http://schemas.microsoft.com/office/drawing/2014/main" id="{F659F5D3-2E8D-44B4-93C2-7D7D775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59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一长串查询结果</a:t>
            </a:r>
          </a:p>
        </p:txBody>
      </p:sp>
      <p:sp>
        <p:nvSpPr>
          <p:cNvPr id="14" name="哪些与这次决定有关？">
            <a:extLst xmlns:a="http://schemas.openxmlformats.org/drawingml/2006/main">
              <a:ext uri="{FF2B5EF4-FFF2-40B4-BE49-F238E27FC236}">
                <a16:creationId xmlns:a16="http://schemas.microsoft.com/office/drawing/2014/main" id="{DD07D09D-D2E6-4BC1-8C08-AE349A94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76800"/>
            <a:ext cx="577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哪些与这次决定有关？</a:t>
            </a:r>
          </a:p>
        </p:txBody>
      </p:sp>
      <p:sp>
        <p:nvSpPr>
          <p:cNvPr id="15" name="理财、求职与合作，都需要从资料走到具体问题。">
            <a:extLst xmlns:a="http://schemas.openxmlformats.org/drawingml/2006/main">
              <a:ext uri="{FF2B5EF4-FFF2-40B4-BE49-F238E27FC236}">
                <a16:creationId xmlns:a16="http://schemas.microsoft.com/office/drawing/2014/main" id="{A92CB025-BE1A-4552-B60C-C67EB3E0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理财、求职与合作，都需要从资料走到具体问题。</a:t>
            </a:r>
          </a:p>
        </p:txBody>
      </p:sp>
    </p:spTree>
    <p:extLst>
      <p:ext uri="{BB962C8B-B14F-4D97-AF65-F5344CB8AC3E}">
        <p14:creationId xmlns:p14="http://schemas.microsoft.com/office/powerpoint/2010/main" val="1508974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22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产品入口">
            <a:extLst xmlns:a="http://schemas.openxmlformats.org/drawingml/2006/main">
              <a:ext uri="{FF2B5EF4-FFF2-40B4-BE49-F238E27FC236}">
                <a16:creationId xmlns:a16="http://schemas.microsoft.com/office/drawing/2014/main" id="{8E384913-5367-44D1-AB25-F5FB9C7D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产品入口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8B823171-8AA3-44C7-B466-00F77A95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公司全称，加一句需求">
            <a:extLst xmlns:a="http://schemas.openxmlformats.org/drawingml/2006/main">
              <a:ext uri="{FF2B5EF4-FFF2-40B4-BE49-F238E27FC236}">
                <a16:creationId xmlns:a16="http://schemas.microsoft.com/office/drawing/2014/main" id="{200186A6-05BA-46D0-9676-C2960CB0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公司全称，加一句需求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e18cb9ff54969"/>
          <a:srcRect xmlns:a="http://schemas.openxmlformats.org/drawingml/2006/main" l="800" t="10200" r="800" b="16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9725"/>
            <a:ext cx="10820400" cy="4467225"/>
          </a:xfrm>
          <a:prstGeom xmlns:a="http://schemas.openxmlformats.org/drawingml/2006/main" prst="rect">
            <a:avLst/>
          </a:prstGeom>
        </p:spPr>
      </p:pic>
      <p:sp>
        <p:nvSpPr>
          <p:cNvPr id="5" name="公开记录与用户材料，收进围绕本次需求的研究案卷。">
            <a:extLst xmlns:a="http://schemas.openxmlformats.org/drawingml/2006/main">
              <a:ext uri="{FF2B5EF4-FFF2-40B4-BE49-F238E27FC236}">
                <a16:creationId xmlns:a16="http://schemas.microsoft.com/office/drawing/2014/main" id="{F6AD18D5-3BAD-4438-9AC9-6226D1D9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rPr>
              <a:t>公开记录与用户材料，收进围绕本次需求的研究案卷。</a:t>
            </a:r>
          </a:p>
        </p:txBody>
      </p:sp>
    </p:spTree>
    <p:extLst>
      <p:ext uri="{BB962C8B-B14F-4D97-AF65-F5344CB8AC3E}">
        <p14:creationId xmlns:p14="http://schemas.microsoft.com/office/powerpoint/2010/main" val="8106142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产品体验  /  先看重点">
            <a:extLst xmlns:a="http://schemas.openxmlformats.org/drawingml/2006/main">
              <a:ext uri="{FF2B5EF4-FFF2-40B4-BE49-F238E27FC236}">
                <a16:creationId xmlns:a16="http://schemas.microsoft.com/office/drawing/2014/main" id="{E02B1EF2-DDEB-47A4-8F84-B60AE9CE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产品体验  /  先看重点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FA4494C3-34EB-4D24-BB7C-94D32F18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先读与本次需求有关的结论">
            <a:extLst xmlns:a="http://schemas.openxmlformats.org/drawingml/2006/main">
              <a:ext uri="{FF2B5EF4-FFF2-40B4-BE49-F238E27FC236}">
                <a16:creationId xmlns:a16="http://schemas.microsoft.com/office/drawing/2014/main" id="{C6E37CE8-BB39-4C9D-B7E9-FA872B8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先读与本次需求有关的结论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bc78ce59140f4"/>
          <a:srcRect xmlns:a="http://schemas.openxmlformats.org/drawingml/2006/main" l="12761" t="19909" r="2624" b="25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10820400" cy="3648075"/>
          </a:xfrm>
          <a:prstGeom xmlns:a="http://schemas.openxmlformats.org/drawingml/2006/main" prst="rect">
            <a:avLst/>
          </a:prstGeom>
        </p:spPr>
      </p:pic>
      <p:sp>
        <p:nvSpPr>
          <p:cNvPr id="5" name="理财：收款主体与相关资格">
            <a:extLst xmlns:a="http://schemas.openxmlformats.org/drawingml/2006/main">
              <a:ext uri="{FF2B5EF4-FFF2-40B4-BE49-F238E27FC236}">
                <a16:creationId xmlns:a16="http://schemas.microsoft.com/office/drawing/2014/main" id="{B7D44FAE-0875-4751-BD3F-F304CE84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535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理财：收款主体与相关资格</a:t>
            </a:r>
          </a:p>
        </p:txBody>
      </p:sp>
      <p:sp>
        <p:nvSpPr>
          <p:cNvPr id="6" name="求职：签约主体与用工信息">
            <a:extLst xmlns:a="http://schemas.openxmlformats.org/drawingml/2006/main">
              <a:ext uri="{FF2B5EF4-FFF2-40B4-BE49-F238E27FC236}">
                <a16:creationId xmlns:a16="http://schemas.microsoft.com/office/drawing/2014/main" id="{461423D5-04A8-4C31-AF06-3020424D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57850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求职：签约主体与用工信息</a:t>
            </a:r>
          </a:p>
        </p:txBody>
      </p:sp>
      <p:sp>
        <p:nvSpPr>
          <p:cNvPr id="7" name="虚构公司演示，未接模型。雷达展示记录状态，不是企业安全评分。">
            <a:extLst xmlns:a="http://schemas.openxmlformats.org/drawingml/2006/main">
              <a:ext uri="{FF2B5EF4-FFF2-40B4-BE49-F238E27FC236}">
                <a16:creationId xmlns:a16="http://schemas.microsoft.com/office/drawing/2014/main" id="{E33036F1-B36B-4311-8699-843968F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虚构公司演示，未接模型。雷达展示记录状态，不是企业安全评分。</a:t>
            </a:r>
          </a:p>
        </p:txBody>
      </p:sp>
    </p:spTree>
    <p:extLst>
      <p:ext uri="{BB962C8B-B14F-4D97-AF65-F5344CB8AC3E}">
        <p14:creationId xmlns:p14="http://schemas.microsoft.com/office/powerpoint/2010/main" val="343634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产品体验  /  逐项核验">
            <a:extLst xmlns:a="http://schemas.openxmlformats.org/drawingml/2006/main">
              <a:ext uri="{FF2B5EF4-FFF2-40B4-BE49-F238E27FC236}">
                <a16:creationId xmlns:a16="http://schemas.microsoft.com/office/drawing/2014/main" id="{E30DF4AD-942A-48D8-8735-DAB213A6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产品体验  /  逐项核验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21A0140B-C5E5-49A2-8B4A-7FBFAD83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企业说法的逐项核验">
            <a:extLst xmlns:a="http://schemas.openxmlformats.org/drawingml/2006/main">
              <a:ext uri="{FF2B5EF4-FFF2-40B4-BE49-F238E27FC236}">
                <a16:creationId xmlns:a16="http://schemas.microsoft.com/office/drawing/2014/main" id="{843AF545-E0C6-447A-9AB9-22D4DEA3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企业说法的逐项核验</a:t>
            </a:r>
          </a:p>
        </p:txBody>
      </p:sp>
      <p:sp>
        <p:nvSpPr>
          <p:cNvPr id="4" name="它说的， 和查到的 对得上吗？">
            <a:extLst xmlns:a="http://schemas.openxmlformats.org/drawingml/2006/main">
              <a:ext uri="{FF2B5EF4-FFF2-40B4-BE49-F238E27FC236}">
                <a16:creationId xmlns:a16="http://schemas.microsoft.com/office/drawing/2014/main" id="{A90DF6A9-1663-4204-9CF8-E58DD4C1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4048125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它说的，</a:t>
            </a:r>
          </a:p>
          <a:p xmlns:a="http://schemas.openxmlformats.org/drawingml/2006/main">
            <a:pPr>
              <a:defRPr sz="38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和查到的</a:t>
            </a:r>
          </a:p>
          <a:p xmlns:a="http://schemas.openxmlformats.org/drawingml/2006/main">
            <a:pPr>
              <a:defRPr sz="38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对得上吗？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b8f34560147c9"/>
          <a:srcRect xmlns:a="http://schemas.openxmlformats.org/drawingml/2006/main" l="55600" t="29300" r="2570" b="30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2114550"/>
            <a:ext cx="6362700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先对齐主体、日期和口径，再讨论记录能证明什么。">
            <a:extLst xmlns:a="http://schemas.openxmlformats.org/drawingml/2006/main">
              <a:ext uri="{FF2B5EF4-FFF2-40B4-BE49-F238E27FC236}">
                <a16:creationId xmlns:a16="http://schemas.microsoft.com/office/drawing/2014/main" id="{2CB3E867-3494-4925-9DE3-F9D097B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先对齐主体、日期和口径，再讨论记录能证明什么。</a:t>
            </a:r>
          </a:p>
        </p:txBody>
      </p:sp>
      <p:sp>
        <p:nvSpPr>
          <p:cNvPr id="7" name="虚构公司演示，未接模型。门店与登记分支机构可能采用不同口径。">
            <a:extLst xmlns:a="http://schemas.openxmlformats.org/drawingml/2006/main">
              <a:ext uri="{FF2B5EF4-FFF2-40B4-BE49-F238E27FC236}">
                <a16:creationId xmlns:a16="http://schemas.microsoft.com/office/drawing/2014/main" id="{39C6B9B5-8125-4C44-9C36-5FD90376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虚构公司演示，未接模型。门店与登记分支机构可能采用不同口径。</a:t>
            </a:r>
          </a:p>
        </p:txBody>
      </p:sp>
    </p:spTree>
    <p:extLst>
      <p:ext uri="{BB962C8B-B14F-4D97-AF65-F5344CB8AC3E}">
        <p14:creationId xmlns:p14="http://schemas.microsoft.com/office/powerpoint/2010/main" val="1935515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22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产品体验  /  追问依据">
            <a:extLst xmlns:a="http://schemas.openxmlformats.org/drawingml/2006/main">
              <a:ext uri="{FF2B5EF4-FFF2-40B4-BE49-F238E27FC236}">
                <a16:creationId xmlns:a16="http://schemas.microsoft.com/office/drawing/2014/main" id="{BA678AAD-62E0-484C-885C-F649F08F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产品体验  /  追问依据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D4C44AED-46B3-44DB-9BAF-767C584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解释报告，也能打开出处">
            <a:extLst xmlns:a="http://schemas.openxmlformats.org/drawingml/2006/main">
              <a:ext uri="{FF2B5EF4-FFF2-40B4-BE49-F238E27FC236}">
                <a16:creationId xmlns:a16="http://schemas.microsoft.com/office/drawing/2014/main" id="{31580242-6954-41C1-8E2B-CE41753A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解释报告，也能打开出处</a:t>
            </a:r>
          </a:p>
        </p:txBody>
      </p:sp>
      <p:sp>
        <p:nvSpPr>
          <p:cNvPr id="4" name="这条记录 说明了什么？">
            <a:extLst xmlns:a="http://schemas.openxmlformats.org/drawingml/2006/main">
              <a:ext uri="{FF2B5EF4-FFF2-40B4-BE49-F238E27FC236}">
                <a16:creationId xmlns:a16="http://schemas.microsoft.com/office/drawing/2014/main" id="{374E8409-2ED9-4303-98DE-956F8E37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14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这条记录</a:t>
            </a:r>
          </a:p>
          <a:p xmlns:a="http://schemas.openxmlformats.org/drawingml/2006/main">
            <a:pPr>
              <a:defRPr sz="39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说明了什么？</a:t>
            </a:r>
          </a:p>
        </p:txBody>
      </p:sp>
      <p:sp>
        <p:nvSpPr>
          <p:cNvPr id="5" name="选中一条，问小企。 关键事实带回对应证据。">
            <a:extLst xmlns:a="http://schemas.openxmlformats.org/drawingml/2006/main">
              <a:ext uri="{FF2B5EF4-FFF2-40B4-BE49-F238E27FC236}">
                <a16:creationId xmlns:a16="http://schemas.microsoft.com/office/drawing/2014/main" id="{437AFE11-6C20-411C-BB9F-E170AC31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4714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rPr>
              <a:t>选中一条，问小企。</a:t>
            </a:r>
          </a:p>
          <a:p xmlns:a="http://schemas.openxmlformats.org/drawingml/2006/main">
            <a:pPr>
              <a:defRPr sz="210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rPr>
              <a:t>关键事实带回对应证据。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df4719ca543ff"/>
          <a:srcRect xmlns:a="http://schemas.openxmlformats.org/drawingml/2006/main" l="27148" t="9838" r="28162" b="47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2266950"/>
            <a:ext cx="5581650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来源与日期，随回答一起保留">
            <a:extLst xmlns:a="http://schemas.openxmlformats.org/drawingml/2006/main">
              <a:ext uri="{FF2B5EF4-FFF2-40B4-BE49-F238E27FC236}">
                <a16:creationId xmlns:a16="http://schemas.microsoft.com/office/drawing/2014/main" id="{22ED1D52-83CE-4717-8655-D6D1E953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95925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来源与日期，随回答一起保留</a:t>
            </a:r>
          </a:p>
        </p:txBody>
      </p:sp>
      <p:sp>
        <p:nvSpPr>
          <p:cNvPr id="8" name="虚构案卷的基础答复出处，未接模型。在线模型回答同样经过引用与引文校验。">
            <a:extLst xmlns:a="http://schemas.openxmlformats.org/drawingml/2006/main">
              <a:ext uri="{FF2B5EF4-FFF2-40B4-BE49-F238E27FC236}">
                <a16:creationId xmlns:a16="http://schemas.microsoft.com/office/drawing/2014/main" id="{94D08943-9401-426D-8EB4-705DD194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rPr>
              <a:t>虚构案卷的基础答复出处，未接模型。在线模型回答同样经过引用与引文校验。</a:t>
            </a:r>
          </a:p>
        </p:txBody>
      </p:sp>
    </p:spTree>
    <p:extLst>
      <p:ext uri="{BB962C8B-B14F-4D97-AF65-F5344CB8AC3E}">
        <p14:creationId xmlns:p14="http://schemas.microsoft.com/office/powerpoint/2010/main" val="10168721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产品体验  /  持续研究">
            <a:extLst xmlns:a="http://schemas.openxmlformats.org/drawingml/2006/main">
              <a:ext uri="{FF2B5EF4-FFF2-40B4-BE49-F238E27FC236}">
                <a16:creationId xmlns:a16="http://schemas.microsoft.com/office/drawing/2014/main" id="{019C153C-9BB1-4410-8B11-FE61EF2C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产品体验  /  持续研究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0EFBC0EF-C8E5-4F4D-89E2-27550367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研究可以继续，依据可以回看">
            <a:extLst xmlns:a="http://schemas.openxmlformats.org/drawingml/2006/main">
              <a:ext uri="{FF2B5EF4-FFF2-40B4-BE49-F238E27FC236}">
                <a16:creationId xmlns:a16="http://schemas.microsoft.com/office/drawing/2014/main" id="{909E8976-BFDA-4E5D-B8F6-5E8DC80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研究可以继续，依据可以回看</a:t>
            </a:r>
          </a:p>
        </p:txBody>
      </p:sp>
      <p:sp>
        <p:nvSpPr>
          <p:cNvPr id="4" name="v1">
            <a:extLst xmlns:a="http://schemas.openxmlformats.org/drawingml/2006/main">
              <a:ext uri="{FF2B5EF4-FFF2-40B4-BE49-F238E27FC236}">
                <a16:creationId xmlns:a16="http://schemas.microsoft.com/office/drawing/2014/main" id="{EA8BDA3A-F294-486A-B0BF-47C5CDBF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524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v1</a:t>
            </a:r>
          </a:p>
        </p:txBody>
      </p:sp>
      <p:sp>
        <p:nvSpPr>
          <p:cNvPr id="5" name="当时的材料与结论">
            <a:extLst xmlns:a="http://schemas.openxmlformats.org/drawingml/2006/main">
              <a:ext uri="{FF2B5EF4-FFF2-40B4-BE49-F238E27FC236}">
                <a16:creationId xmlns:a16="http://schemas.microsoft.com/office/drawing/2014/main" id="{CFBF4A51-E378-45CC-8973-5E44B432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4953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当时的材料与结论</a:t>
            </a:r>
          </a:p>
        </p:txBody>
      </p:sp>
      <p:sp>
        <p:nvSpPr>
          <p:cNvPr id="6" name="旧回答的出处保留原版本">
            <a:extLst xmlns:a="http://schemas.openxmlformats.org/drawingml/2006/main">
              <a:ext uri="{FF2B5EF4-FFF2-40B4-BE49-F238E27FC236}">
                <a16:creationId xmlns:a16="http://schemas.microsoft.com/office/drawing/2014/main" id="{5EFC71C5-0F4E-4F6E-99EF-6BAC41C4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旧回答的出处保留原版本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10F65-FE1C-4D45-9850-E5840012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B8"/>
            </a:solidFill>
          </a:ln>
        </p:spPr>
      </p:sp>
      <p:sp>
        <p:nvSpPr>
          <p:cNvPr id="8" name="v2">
            <a:extLst xmlns:a="http://schemas.openxmlformats.org/drawingml/2006/main">
              <a:ext uri="{FF2B5EF4-FFF2-40B4-BE49-F238E27FC236}">
                <a16:creationId xmlns:a16="http://schemas.microsoft.com/office/drawing/2014/main" id="{ADCB6388-CCAA-44A6-8DE5-33E08E7A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524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9" name="补充后的变化与原因">
            <a:extLst xmlns:a="http://schemas.openxmlformats.org/drawingml/2006/main">
              <a:ext uri="{FF2B5EF4-FFF2-40B4-BE49-F238E27FC236}">
                <a16:creationId xmlns:a16="http://schemas.microsoft.com/office/drawing/2014/main" id="{14023207-06BE-4FAD-AA2B-C719246F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62400"/>
            <a:ext cx="514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补充后的变化与原因</a:t>
            </a:r>
          </a:p>
        </p:txBody>
      </p:sp>
      <p:sp>
        <p:nvSpPr>
          <p:cNvPr id="10" name="新回复、新协议，或修改需求">
            <a:extLst xmlns:a="http://schemas.openxmlformats.org/drawingml/2006/main">
              <a:ext uri="{FF2B5EF4-FFF2-40B4-BE49-F238E27FC236}">
                <a16:creationId xmlns:a16="http://schemas.microsoft.com/office/drawing/2014/main" id="{4A2AE8B1-D3E4-482F-BC4B-2175A247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91050"/>
            <a:ext cx="5095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新回复、新协议，或修改需求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2b695cf944f87"/>
          <a:srcRect xmlns:a="http://schemas.openxmlformats.org/drawingml/2006/main" l="20513" t="20261" r="3846" b="42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1895475"/>
            <a:ext cx="3581400" cy="3848100"/>
          </a:xfrm>
          <a:prstGeom xmlns:a="http://schemas.openxmlformats.org/drawingml/2006/main" prst="rect">
            <a:avLst/>
          </a:prstGeom>
        </p:spPr>
      </p:pic>
      <p:sp>
        <p:nvSpPr>
          <p:cNvPr id="12" name="虚构案卷版本选择器局部。示例沿用预制资料，本次未重新联网查询。">
            <a:extLst xmlns:a="http://schemas.openxmlformats.org/drawingml/2006/main">
              <a:ext uri="{FF2B5EF4-FFF2-40B4-BE49-F238E27FC236}">
                <a16:creationId xmlns:a16="http://schemas.microsoft.com/office/drawing/2014/main" id="{E127A999-142C-4952-B5BD-6118FB00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虚构案卷版本选择器局部。示例沿用预制资料，本次未重新联网查询。</a:t>
            </a:r>
          </a:p>
        </p:txBody>
      </p:sp>
    </p:spTree>
    <p:extLst>
      <p:ext uri="{BB962C8B-B14F-4D97-AF65-F5344CB8AC3E}">
        <p14:creationId xmlns:p14="http://schemas.microsoft.com/office/powerpoint/2010/main" val="644177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22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产品方法">
            <a:extLst xmlns:a="http://schemas.openxmlformats.org/drawingml/2006/main">
              <a:ext uri="{FF2B5EF4-FFF2-40B4-BE49-F238E27FC236}">
                <a16:creationId xmlns:a16="http://schemas.microsoft.com/office/drawing/2014/main" id="{D4F8E94C-1449-47AA-AA10-E01D5465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产品方法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B0B5313C-92C2-4A7A-A684-D1604615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规则与 AI 的分工">
            <a:extLst xmlns:a="http://schemas.openxmlformats.org/drawingml/2006/main">
              <a:ext uri="{FF2B5EF4-FFF2-40B4-BE49-F238E27FC236}">
                <a16:creationId xmlns:a16="http://schemas.microsoft.com/office/drawing/2014/main" id="{C7B6F734-F866-4D04-B876-3789ABDB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规则与 AI 的分工</a:t>
            </a:r>
          </a:p>
        </p:txBody>
      </p:sp>
      <p:sp>
        <p:nvSpPr>
          <p:cNvPr id="4" name="规则">
            <a:extLst xmlns:a="http://schemas.openxmlformats.org/drawingml/2006/main">
              <a:ext uri="{FF2B5EF4-FFF2-40B4-BE49-F238E27FC236}">
                <a16:creationId xmlns:a16="http://schemas.microsoft.com/office/drawing/2014/main" id="{E428DA29-F0A4-4C9C-BA8A-C34F3B36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5" name="AI">
            <a:extLst xmlns:a="http://schemas.openxmlformats.org/drawingml/2006/main">
              <a:ext uri="{FF2B5EF4-FFF2-40B4-BE49-F238E27FC236}">
                <a16:creationId xmlns:a16="http://schemas.microsoft.com/office/drawing/2014/main" id="{293A300B-CAEF-4C9F-8543-BA158DDC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743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9FDDE-B8CC-4912-9481-C514DF2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60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6F13E-65F2-4059-85CB-B1C1830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52775"/>
            <a:ext cx="474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606B"/>
            </a:solidFill>
          </a:ln>
        </p:spPr>
      </p:sp>
      <p:sp>
        <p:nvSpPr>
          <p:cNvPr id="8" name="对照已有记录 生成核验判定 逐项比较新旧版本">
            <a:extLst xmlns:a="http://schemas.openxmlformats.org/drawingml/2006/main">
              <a:ext uri="{FF2B5EF4-FFF2-40B4-BE49-F238E27FC236}">
                <a16:creationId xmlns:a16="http://schemas.microsoft.com/office/drawing/2014/main" id="{8A0311AD-A4B5-4749-9459-C91930BD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50101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对照已有记录</a:t>
            </a:r>
          </a:p>
          <a:p xmlns:a="http://schemas.openxmlformats.org/drawingml/2006/main">
            <a:pPr>
              <a:def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生成核验判定</a:t>
            </a:r>
          </a:p>
          <a:p xmlns:a="http://schemas.openxmlformats.org/drawingml/2006/main">
            <a:pPr>
              <a:def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逐项比较新旧版本</a:t>
            </a:r>
          </a:p>
        </p:txBody>
      </p:sp>
      <p:sp>
        <p:nvSpPr>
          <p:cNvPr id="9" name="识别本次需求 读取用户材料 解释结果并回答问题">
            <a:extLst xmlns:a="http://schemas.openxmlformats.org/drawingml/2006/main">
              <a:ext uri="{FF2B5EF4-FFF2-40B4-BE49-F238E27FC236}">
                <a16:creationId xmlns:a16="http://schemas.microsoft.com/office/drawing/2014/main" id="{39235A90-3171-43CA-A24A-B9D706E5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14725"/>
            <a:ext cx="47434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识别本次需求</a:t>
            </a:r>
          </a:p>
          <a:p xmlns:a="http://schemas.openxmlformats.org/drawingml/2006/main">
            <a:pPr>
              <a:def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读取用户材料</a:t>
            </a:r>
          </a:p>
          <a:p xmlns:a="http://schemas.openxmlformats.org/drawingml/2006/main">
            <a:pPr>
              <a:def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解释结果并回答问题</a:t>
            </a:r>
          </a:p>
        </p:txBody>
      </p:sp>
      <p:sp>
        <p:nvSpPr>
          <p:cNvPr id="10" name="回答中的出处与引文，再由程序核验">
            <a:extLst xmlns:a="http://schemas.openxmlformats.org/drawingml/2006/main">
              <a:ext uri="{FF2B5EF4-FFF2-40B4-BE49-F238E27FC236}">
                <a16:creationId xmlns:a16="http://schemas.microsoft.com/office/drawing/2014/main" id="{486DEB3E-D00F-4402-A39E-A0ADA25E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回答中的出处与引文，再由程序核验</a:t>
            </a:r>
          </a:p>
        </p:txBody>
      </p:sp>
      <p:sp>
        <p:nvSpPr>
          <p:cNvPr id="11" name="相同规则输入得到相同判定。引用校验不代表对模型准确性的绝对保证。">
            <a:extLst xmlns:a="http://schemas.openxmlformats.org/drawingml/2006/main">
              <a:ext uri="{FF2B5EF4-FFF2-40B4-BE49-F238E27FC236}">
                <a16:creationId xmlns:a16="http://schemas.microsoft.com/office/drawing/2014/main" id="{E98C020B-C9FE-43C3-9C15-57A34772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2C5AD"/>
                </a:solidFill>
                <a:latin typeface="Microsoft YaHei"/>
                <a:ea typeface="Microsoft YaHei"/>
                <a:cs typeface="Microsoft YaHei"/>
              </a:rPr>
              <a:t>相同规则输入得到相同判定。引用校验不代表对模型准确性的绝对保证。</a:t>
            </a:r>
          </a:p>
        </p:txBody>
      </p:sp>
    </p:spTree>
    <p:extLst>
      <p:ext uri="{BB962C8B-B14F-4D97-AF65-F5344CB8AC3E}">
        <p14:creationId xmlns:p14="http://schemas.microsoft.com/office/powerpoint/2010/main" val="17669554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使用价值">
            <a:extLst xmlns:a="http://schemas.openxmlformats.org/drawingml/2006/main">
              <a:ext uri="{FF2B5EF4-FFF2-40B4-BE49-F238E27FC236}">
                <a16:creationId xmlns:a16="http://schemas.microsoft.com/office/drawing/2014/main" id="{19D773C4-3734-476E-A57A-0B502E29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使用价值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42350EB9-89F8-4CF5-97AC-0579531B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一页结论， 带进下一次沟通">
            <a:extLst xmlns:a="http://schemas.openxmlformats.org/drawingml/2006/main">
              <a:ext uri="{FF2B5EF4-FFF2-40B4-BE49-F238E27FC236}">
                <a16:creationId xmlns:a16="http://schemas.microsoft.com/office/drawing/2014/main" id="{73672B98-A733-4A28-B986-7249B66B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一页结论，</a:t>
            </a:r>
          </a:p>
          <a:p xmlns:a="http://schemas.openxmlformats.org/drawingml/2006/main">
            <a:pPr>
              <a:defRPr sz="39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带进下一次沟通</a:t>
            </a:r>
          </a:p>
        </p:txBody>
      </p:sp>
      <p:sp>
        <p:nvSpPr>
          <p:cNvPr id="4" name="给家人">
            <a:extLst xmlns:a="http://schemas.openxmlformats.org/drawingml/2006/main">
              <a:ext uri="{FF2B5EF4-FFF2-40B4-BE49-F238E27FC236}">
                <a16:creationId xmlns:a16="http://schemas.microsoft.com/office/drawing/2014/main" id="{819890CA-93FE-4B5C-9C54-FF11FE0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给家人</a:t>
            </a:r>
          </a:p>
        </p:txBody>
      </p:sp>
      <p:sp>
        <p:nvSpPr>
          <p:cNvPr id="5" name="一起看依据，明确还缺什么">
            <a:extLst xmlns:a="http://schemas.openxmlformats.org/drawingml/2006/main">
              <a:ext uri="{FF2B5EF4-FFF2-40B4-BE49-F238E27FC236}">
                <a16:creationId xmlns:a16="http://schemas.microsoft.com/office/drawing/2014/main" id="{19509F69-2D9C-42C4-AAAE-32125376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一起看依据，明确还缺什么</a:t>
            </a:r>
          </a:p>
        </p:txBody>
      </p:sp>
      <p:sp>
        <p:nvSpPr>
          <p:cNvPr id="6" name="给网点柜员">
            <a:extLst xmlns:a="http://schemas.openxmlformats.org/drawingml/2006/main">
              <a:ext uri="{FF2B5EF4-FFF2-40B4-BE49-F238E27FC236}">
                <a16:creationId xmlns:a16="http://schemas.microsoft.com/office/drawing/2014/main" id="{62EE6F04-8135-4DBA-85EA-C896A605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给网点柜员</a:t>
            </a:r>
          </a:p>
        </p:txBody>
      </p:sp>
      <p:sp>
        <p:nvSpPr>
          <p:cNvPr id="7" name="把需要核实的事项讲具体">
            <a:extLst xmlns:a="http://schemas.openxmlformats.org/drawingml/2006/main">
              <a:ext uri="{FF2B5EF4-FFF2-40B4-BE49-F238E27FC236}">
                <a16:creationId xmlns:a16="http://schemas.microsoft.com/office/drawing/2014/main" id="{FF9B7F2F-63EF-4FDD-BB14-BBAF84DC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把需要核实的事项讲具体</a:t>
            </a:r>
          </a:p>
        </p:txBody>
      </p:sp>
      <p:sp>
        <p:nvSpPr>
          <p:cNvPr id="8" name="核实问题示例">
            <a:extLst xmlns:a="http://schemas.openxmlformats.org/drawingml/2006/main">
              <a:ext uri="{FF2B5EF4-FFF2-40B4-BE49-F238E27FC236}">
                <a16:creationId xmlns:a16="http://schemas.microsoft.com/office/drawing/2014/main" id="{0D30B222-FD52-4E39-A898-DB7FB4D7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474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核实问题示例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7E38A-78DC-4274-A48C-51AEF6E6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71675"/>
            <a:ext cx="474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B8"/>
            </a:solidFill>
          </a:ln>
        </p:spPr>
      </p:sp>
      <p:sp>
        <p:nvSpPr>
          <p:cNvPr id="10" name="急用时多久能取回， 提前取有没有违约金， 写进合同了吗？">
            <a:extLst xmlns:a="http://schemas.openxmlformats.org/drawingml/2006/main">
              <a:ext uri="{FF2B5EF4-FFF2-40B4-BE49-F238E27FC236}">
                <a16:creationId xmlns:a16="http://schemas.microsoft.com/office/drawing/2014/main" id="{C5FDCFD1-3C47-4C21-8EFD-7E917330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434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急用时多久能取回，</a:t>
            </a:r>
          </a:p>
          <a:p xmlns:a="http://schemas.openxmlformats.org/drawingml/2006/main">
            <a:pPr>
              <a:def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提前取有没有违约金，</a:t>
            </a:r>
          </a:p>
          <a:p xmlns:a="http://schemas.openxmlformats.org/drawingml/2006/main">
            <a:pPr>
              <a:def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写进合同了吗？</a:t>
            </a:r>
          </a:p>
        </p:txBody>
      </p:sp>
      <p:sp>
        <p:nvSpPr>
          <p:cNvPr id="11" name="网点沟通是下一步拟验证方向">
            <a:extLst xmlns:a="http://schemas.openxmlformats.org/drawingml/2006/main">
              <a:ext uri="{FF2B5EF4-FFF2-40B4-BE49-F238E27FC236}">
                <a16:creationId xmlns:a16="http://schemas.microsoft.com/office/drawing/2014/main" id="{AFDF436C-7D29-4126-8156-55256DCC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4743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网点沟通是下一步拟验证方向</a:t>
            </a:r>
          </a:p>
        </p:txBody>
      </p:sp>
      <p:sp>
        <p:nvSpPr>
          <p:cNvPr id="12" name="右侧为虚构材料中的核实问题。尚无银行采用或效果数据，最终决策由人作出。">
            <a:extLst xmlns:a="http://schemas.openxmlformats.org/drawingml/2006/main">
              <a:ext uri="{FF2B5EF4-FFF2-40B4-BE49-F238E27FC236}">
                <a16:creationId xmlns:a16="http://schemas.microsoft.com/office/drawing/2014/main" id="{E7A26EDF-8E01-4F97-8B8B-64087801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右侧为虚构材料中的核实问题。尚无银行采用或效果数据，最终决策由人作出。</a:t>
            </a:r>
          </a:p>
        </p:txBody>
      </p:sp>
    </p:spTree>
    <p:extLst>
      <p:ext uri="{BB962C8B-B14F-4D97-AF65-F5344CB8AC3E}">
        <p14:creationId xmlns:p14="http://schemas.microsoft.com/office/powerpoint/2010/main" val="1702383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企er    有出处的企业研究助手">
            <a:extLst xmlns:a="http://schemas.openxmlformats.org/drawingml/2006/main">
              <a:ext uri="{FF2B5EF4-FFF2-40B4-BE49-F238E27FC236}">
                <a16:creationId xmlns:a16="http://schemas.microsoft.com/office/drawing/2014/main" id="{FB4206F8-6BD1-4A06-A95E-EF5A9EB0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企er    有出处的企业研究助手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BBBAC36A-870B-4CEA-AB00-1C6E2026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每次判断， 都有依据可回看。">
            <a:extLst xmlns:a="http://schemas.openxmlformats.org/drawingml/2006/main">
              <a:ext uri="{FF2B5EF4-FFF2-40B4-BE49-F238E27FC236}">
                <a16:creationId xmlns:a16="http://schemas.microsoft.com/office/drawing/2014/main" id="{2121147D-3BA4-48D5-95E9-11C1B212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770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每次判断，</a:t>
            </a:r>
          </a:p>
          <a:p xmlns:a="http://schemas.openxmlformats.org/drawingml/2006/main">
            <a:pPr>
              <a:defRPr sz="41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都有依据可回看。</a:t>
            </a:r>
          </a:p>
        </p:txBody>
      </p:sp>
      <p:sp>
        <p:nvSpPr>
          <p:cNvPr id="4" name="从一次查询， 到一份可以继续研究的案卷。">
            <a:extLst xmlns:a="http://schemas.openxmlformats.org/drawingml/2006/main">
              <a:ext uri="{FF2B5EF4-FFF2-40B4-BE49-F238E27FC236}">
                <a16:creationId xmlns:a16="http://schemas.microsoft.com/office/drawing/2014/main" id="{A6F85465-81C1-4044-8609-30DDFD6B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6648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从一次查询，</a:t>
            </a:r>
          </a:p>
          <a:p xmlns:a="http://schemas.openxmlformats.org/drawingml/2006/main">
            <a:pPr>
              <a:defRPr sz="23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到一份可以继续研究的案卷。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cb27e3fff491c"/>
          <a:stretch xmlns:a="http://schemas.openxmlformats.org/drawingml/2006/main"/>
        </p:blipFill>
        <p:spPr>
          <a:xfrm xmlns:a="http://schemas.openxmlformats.org/drawingml/2006/main">
            <a:off x="7924800" y="1306176"/>
            <a:ext cx="3581400" cy="425517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7257E-E606-40A9-A84E-F8F8C7A7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B8"/>
            </a:solidFill>
          </a:ln>
        </p:spPr>
      </p:sp>
      <p:sp>
        <p:nvSpPr>
          <p:cNvPr id="7" name="qier.asia">
            <a:extLst xmlns:a="http://schemas.openxmlformats.org/drawingml/2006/main">
              <a:ext uri="{FF2B5EF4-FFF2-40B4-BE49-F238E27FC236}">
                <a16:creationId xmlns:a16="http://schemas.microsoft.com/office/drawing/2014/main" id="{B3BE48D4-91CE-4083-B366-3D53B680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664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qier.asia</a:t>
            </a:r>
          </a:p>
        </p:txBody>
      </p:sp>
      <p:sp>
        <p:nvSpPr>
          <p:cNvPr id="8" name="欢迎体验">
            <a:extLst xmlns:a="http://schemas.openxmlformats.org/drawingml/2006/main">
              <a:ext uri="{FF2B5EF4-FFF2-40B4-BE49-F238E27FC236}">
                <a16:creationId xmlns:a16="http://schemas.microsoft.com/office/drawing/2014/main" id="{C4312832-5A18-4E99-90C6-7CE3F01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6181725"/>
            <a:ext cx="2085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欢迎体验</a:t>
            </a:r>
          </a:p>
        </p:txBody>
      </p:sp>
    </p:spTree>
    <p:extLst>
      <p:ext uri="{BB962C8B-B14F-4D97-AF65-F5344CB8AC3E}">
        <p14:creationId xmlns:p14="http://schemas.microsoft.com/office/powerpoint/2010/main" val="515881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答辩备用  /  资料覆盖">
            <a:extLst xmlns:a="http://schemas.openxmlformats.org/drawingml/2006/main">
              <a:ext uri="{FF2B5EF4-FFF2-40B4-BE49-F238E27FC236}">
                <a16:creationId xmlns:a16="http://schemas.microsoft.com/office/drawing/2014/main" id="{F939E5B3-5115-4CCA-9E03-2762B223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答辩备用  /  资料覆盖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4AC8320B-C913-4E51-A7DC-ABD617E6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查询状态的四种含义">
            <a:extLst xmlns:a="http://schemas.openxmlformats.org/drawingml/2006/main">
              <a:ext uri="{FF2B5EF4-FFF2-40B4-BE49-F238E27FC236}">
                <a16:creationId xmlns:a16="http://schemas.microsoft.com/office/drawing/2014/main" id="{2D57FCCE-9E63-43CE-8EEB-39B2FC4C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查询状态的四种含义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153400"/>
              </a:tblGrid>
              <a:tr h="727710"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它实际说明什么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</a:tr>
              <a:tr h="727710"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查到了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这个来源中有匹配记录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27710"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查了没有</a:t>
                      </a:r>
                    </a:p>
                  </a:txBody>
                  <a:tcPr marL="91440" marR="91440" marT="45720" marB="45720" anchor="ctr">
                    <a:solidFill>
                      <a:srgbClr val="EEE4D1"/>
                    </a:solidFill>
                  </a:tcPr>
                </a:tc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本次查询范围内没有匹配记录</a:t>
                      </a:r>
                    </a:p>
                  </a:txBody>
                  <a:tcPr marL="91440" marR="91440" marT="45720" marB="45720" anchor="ctr">
                    <a:solidFill>
                      <a:srgbClr val="EEE4D1"/>
                    </a:solidFill>
                  </a:tcPr>
                </a:tc>
              </a:tr>
              <a:tr h="727710"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没查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数据源未覆盖，或本次未执行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27710"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查询失败</a:t>
                      </a:r>
                    </a:p>
                  </a:txBody>
                  <a:tcPr marL="91440" marR="91440" marT="45720" marB="45720" anchor="ctr">
                    <a:solidFill>
                      <a:srgbClr val="EEE4D1"/>
                    </a:solidFill>
                  </a:tcPr>
                </a:tc>
                <a:tc>
                  <a:txBody>
                    <a:bodyPr lIns="209550" tIns="133350" rIns="209550" bIns="1333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本次请求没有成功</a:t>
                      </a:r>
                    </a:p>
                  </a:txBody>
                  <a:tcPr marL="91440" marR="91440" marT="45720" marB="45720" anchor="ctr">
                    <a:solidFill>
                      <a:srgbClr val="EEE4D1"/>
                    </a:solidFill>
                  </a:tcPr>
                </a:tc>
              </a:tr>
            </a:tbl>
          </a:graphicData>
        </a:graphic>
      </p:graphicFrame>
      <p:sp>
        <p:nvSpPr>
          <p:cNvPr id="5" name="未覆盖，不能被读成正常">
            <a:extLst xmlns:a="http://schemas.openxmlformats.org/drawingml/2006/main">
              <a:ext uri="{FF2B5EF4-FFF2-40B4-BE49-F238E27FC236}">
                <a16:creationId xmlns:a16="http://schemas.microsoft.com/office/drawing/2014/main" id="{4B0A24A9-F8D3-4F1D-8B5A-8CBCDEAE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未覆盖，不能被读成正常</a:t>
            </a:r>
          </a:p>
        </p:txBody>
      </p:sp>
      <p:sp>
        <p:nvSpPr>
          <p:cNvPr id="6" name="状态需结合来源、查询时间和数据截至日理解。">
            <a:extLst xmlns:a="http://schemas.openxmlformats.org/drawingml/2006/main">
              <a:ext uri="{FF2B5EF4-FFF2-40B4-BE49-F238E27FC236}">
                <a16:creationId xmlns:a16="http://schemas.microsoft.com/office/drawing/2014/main" id="{9BE4CDC5-4CBF-46A7-9DDC-C034757B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状态需结合来源、查询时间和数据截至日理解。</a:t>
            </a:r>
          </a:p>
        </p:txBody>
      </p:sp>
    </p:spTree>
    <p:extLst>
      <p:ext uri="{BB962C8B-B14F-4D97-AF65-F5344CB8AC3E}">
        <p14:creationId xmlns:p14="http://schemas.microsoft.com/office/powerpoint/2010/main" val="1240557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答辩备用  /  落地与边界">
            <a:extLst xmlns:a="http://schemas.openxmlformats.org/drawingml/2006/main">
              <a:ext uri="{FF2B5EF4-FFF2-40B4-BE49-F238E27FC236}">
                <a16:creationId xmlns:a16="http://schemas.microsoft.com/office/drawing/2014/main" id="{A949CB61-0A75-4A5E-B31A-85B7E5CF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答辩备用  /  落地与边界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648A91CA-54F2-465B-9F50-59548DA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1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当前能力与验证计划">
            <a:extLst xmlns:a="http://schemas.openxmlformats.org/drawingml/2006/main">
              <a:ext uri="{FF2B5EF4-FFF2-40B4-BE49-F238E27FC236}">
                <a16:creationId xmlns:a16="http://schemas.microsoft.com/office/drawing/2014/main" id="{6C492DBF-9A96-4178-BE2D-1EEAE8C3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当前能力与验证计划</a:t>
            </a:r>
          </a:p>
        </p:txBody>
      </p:sp>
      <p:sp>
        <p:nvSpPr>
          <p:cNvPr id="4" name="当前已实现">
            <a:extLst xmlns:a="http://schemas.openxmlformats.org/drawingml/2006/main">
              <a:ext uri="{FF2B5EF4-FFF2-40B4-BE49-F238E27FC236}">
                <a16:creationId xmlns:a16="http://schemas.microsoft.com/office/drawing/2014/main" id="{3C71513B-DBB2-4014-8E86-87A4383A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4838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当前已实现</a:t>
            </a:r>
          </a:p>
        </p:txBody>
      </p:sp>
      <p:sp>
        <p:nvSpPr>
          <p:cNvPr id="5" name="需求驱动的研究报告 材料对照与来源追问 版本补充与一页结论">
            <a:extLst xmlns:a="http://schemas.openxmlformats.org/drawingml/2006/main">
              <a:ext uri="{FF2B5EF4-FFF2-40B4-BE49-F238E27FC236}">
                <a16:creationId xmlns:a16="http://schemas.microsoft.com/office/drawing/2014/main" id="{96E62CFE-A78D-40B2-B156-0C1DBBF1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5048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需求驱动的研究报告</a:t>
            </a:r>
          </a:p>
          <a:p xmlns:a="http://schemas.openxmlformats.org/drawingml/2006/main">
            <a:pPr>
              <a:defRPr sz="232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材料对照与来源追问</a:t>
            </a:r>
          </a:p>
          <a:p xmlns:a="http://schemas.openxmlformats.org/drawingml/2006/main">
            <a:pPr>
              <a:defRPr sz="232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版本补充与一页结论</a:t>
            </a:r>
          </a:p>
        </p:txBody>
      </p:sp>
      <p:sp>
        <p:nvSpPr>
          <p:cNvPr id="6" name="下一步拟验证">
            <a:extLst xmlns:a="http://schemas.openxmlformats.org/drawingml/2006/main">
              <a:ext uri="{FF2B5EF4-FFF2-40B4-BE49-F238E27FC236}">
                <a16:creationId xmlns:a16="http://schemas.microsoft.com/office/drawing/2014/main" id="{69734757-972D-481F-BBF5-165DEC58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14525"/>
            <a:ext cx="4743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67F45"/>
                </a:solidFill>
                <a:latin typeface="Microsoft YaHei"/>
                <a:ea typeface="Microsoft YaHei"/>
                <a:cs typeface="Microsoft YaHei"/>
              </a:rPr>
              <a:t>下一步拟验证</a:t>
            </a:r>
          </a:p>
        </p:txBody>
      </p:sp>
      <p:sp>
        <p:nvSpPr>
          <p:cNvPr id="7" name="用户能否读懂依据与缺口 柜员能否说清核实步骤 哪些资料仍需人工补充">
            <a:extLst xmlns:a="http://schemas.openxmlformats.org/drawingml/2006/main">
              <a:ext uri="{FF2B5EF4-FFF2-40B4-BE49-F238E27FC236}">
                <a16:creationId xmlns:a16="http://schemas.microsoft.com/office/drawing/2014/main" id="{2607A63B-FFE1-4D22-AE64-F588F3FB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57475"/>
            <a:ext cx="47434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用户能否读懂依据与缺口</a:t>
            </a:r>
          </a:p>
          <a:p xmlns:a="http://schemas.openxmlformats.org/drawingml/2006/main">
            <a:pPr>
              <a:defRPr sz="2250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柜员能否说清核实步骤</a:t>
            </a:r>
          </a:p>
          <a:p xmlns:a="http://schemas.openxmlformats.org/drawingml/2006/main">
            <a:pPr>
              <a:defRPr sz="2250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哪些资料仍需人工补充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31614-2A97-41D0-8EB3-271A86CD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B8"/>
            </a:solidFill>
          </a:ln>
        </p:spPr>
      </p:sp>
      <p:sp>
        <p:nvSpPr>
          <p:cNvPr id="9" name="公开记录有覆盖与时间边界，产品不作企业安全担保。">
            <a:extLst xmlns:a="http://schemas.openxmlformats.org/drawingml/2006/main">
              <a:ext uri="{FF2B5EF4-FFF2-40B4-BE49-F238E27FC236}">
                <a16:creationId xmlns:a16="http://schemas.microsoft.com/office/drawing/2014/main" id="{FA8D933A-F152-45E8-910B-DF6BF1D8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公开记录有覆盖与时间边界，产品不作企业安全担保。</a:t>
            </a:r>
          </a:p>
        </p:txBody>
      </p:sp>
      <p:sp>
        <p:nvSpPr>
          <p:cNvPr id="10" name="下一步先验证沟通效果，再评估试点接入与收费方式。">
            <a:extLst xmlns:a="http://schemas.openxmlformats.org/drawingml/2006/main">
              <a:ext uri="{FF2B5EF4-FFF2-40B4-BE49-F238E27FC236}">
                <a16:creationId xmlns:a16="http://schemas.microsoft.com/office/drawing/2014/main" id="{81864F25-01D7-4960-8C71-C9E208AF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61"/>
                </a:solidFill>
                <a:latin typeface="Microsoft YaHei"/>
                <a:ea typeface="Microsoft YaHei"/>
                <a:cs typeface="Microsoft YaHei"/>
              </a:rPr>
              <a:t>下一步先验证沟通效果，再评估试点接入与收费方式。</a:t>
            </a:r>
          </a:p>
        </p:txBody>
      </p:sp>
    </p:spTree>
    <p:extLst>
      <p:ext uri="{BB962C8B-B14F-4D97-AF65-F5344CB8AC3E}">
        <p14:creationId xmlns:p14="http://schemas.microsoft.com/office/powerpoint/2010/main" val="1056973291"/>
      </p:ext>
    </p:extLst>
  </p:cSld>
</p:sld>
</file>

<file path=ppt/theme/theme1.xml><?xml version="1.0" encoding="utf-8"?>
<a:theme xmlns:a="http://schemas.openxmlformats.org/drawingml/2006/main" name="ChatGPT">
  <a:themeElements>
    <a:clrScheme name="企er 编辑式路演">
      <a:dk1>
        <a:srgbClr val="29333A"/>
      </a:dk1>
      <a:lt1>
        <a:srgbClr val="F7F0E0"/>
      </a:lt1>
      <a:dk2>
        <a:srgbClr val="222E39"/>
      </a:dk2>
      <a:lt2>
        <a:srgbClr val="EEE4D1"/>
      </a:lt2>
      <a:accent1>
        <a:srgbClr val="A67F45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编辑式路演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2026-10-03T03:18:52.2820000Z</dcterms:created>
  <dcterms:modified xsi:type="dcterms:W3CDTF">2026-10-03T03:18:52.2820000Z</dcterms:modified>
</coreProperties>
</file>